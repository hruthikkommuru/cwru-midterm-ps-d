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5beeadb41ee48e6" /><Relationship Type="http://schemas.openxmlformats.org/officeDocument/2006/relationships/extended-properties" Target="/docProps/app.xml" Id="Rfbf0c58bdfec4235" /><Relationship Type="http://schemas.openxmlformats.org/officeDocument/2006/relationships/officeDocument" Target="/ppt/presentation.xml" Id="Rb30a5b1874594eda" /></Relationships>
</file>

<file path=ppt/presentation.xml><?xml version="1.0" encoding="utf-8"?>
<p:presentation xmlns:p="http://schemas.openxmlformats.org/presentationml/2006/main">
  <p:sldMasterIdLst>
    <p:sldMasterId xmlns:r="http://schemas.openxmlformats.org/officeDocument/2006/relationships" id="2147483648" r:id="Re8db38432fe64780"/>
  </p:sldMasterIdLst>
  <p:notesMasterIdLst>
    <p:notesMasterId xmlns:r="http://schemas.openxmlformats.org/officeDocument/2006/relationships" r:id="Re7b2c325e6a94101"/>
  </p:notesMasterIdLst>
  <p:sldIdLst>
    <p:sldId xmlns:r="http://schemas.openxmlformats.org/officeDocument/2006/relationships" id="256" r:id="Rfeb7b0215f384e7e"/>
    <p:sldId xmlns:r="http://schemas.openxmlformats.org/officeDocument/2006/relationships" id="257" r:id="R7b2e7980a2e74a5a"/>
    <p:sldId xmlns:r="http://schemas.openxmlformats.org/officeDocument/2006/relationships" id="258" r:id="R9d4ccba66609488c"/>
    <p:sldId xmlns:r="http://schemas.openxmlformats.org/officeDocument/2006/relationships" id="259" r:id="R340bd73f16294275"/>
    <p:sldId xmlns:r="http://schemas.openxmlformats.org/officeDocument/2006/relationships" id="260" r:id="R31ac52fd68df459e"/>
    <p:sldId xmlns:r="http://schemas.openxmlformats.org/officeDocument/2006/relationships" id="261" r:id="R65b7d256c1584c38"/>
    <p:sldId xmlns:r="http://schemas.openxmlformats.org/officeDocument/2006/relationships" id="262" r:id="Rb5c8ebe23df743ea"/>
    <p:sldId xmlns:r="http://schemas.openxmlformats.org/officeDocument/2006/relationships" id="263" r:id="R5ebc678df80b4c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6c4ecb4dd04248" /><Relationship Type="http://schemas.openxmlformats.org/officeDocument/2006/relationships/slideMaster" Target="/ppt/slideMasters/slideMaster1.xml" Id="Re8db38432fe64780" /><Relationship Type="http://schemas.openxmlformats.org/officeDocument/2006/relationships/notesMaster" Target="/ppt/notesMasters/notesMaster1.xml" Id="Re7b2c325e6a94101" /><Relationship Type="http://schemas.openxmlformats.org/officeDocument/2006/relationships/presProps" Target="/ppt/presProps.xml" Id="Rd8cddbf27fbc452e" /><Relationship Type="http://schemas.openxmlformats.org/officeDocument/2006/relationships/tableStyles" Target="/ppt/tableStyles.xml" Id="R040c872f972b48f7" /><Relationship Type="http://schemas.openxmlformats.org/officeDocument/2006/relationships/slide" Target="/ppt/slides/slide1.xml" Id="Rfeb7b0215f384e7e" /><Relationship Type="http://schemas.openxmlformats.org/officeDocument/2006/relationships/slide" Target="/ppt/slides/slide2.xml" Id="R7b2e7980a2e74a5a" /><Relationship Type="http://schemas.openxmlformats.org/officeDocument/2006/relationships/slide" Target="/ppt/slides/slide3.xml" Id="R9d4ccba66609488c" /><Relationship Type="http://schemas.openxmlformats.org/officeDocument/2006/relationships/slide" Target="/ppt/slides/slide4.xml" Id="R340bd73f16294275" /><Relationship Type="http://schemas.openxmlformats.org/officeDocument/2006/relationships/slide" Target="/ppt/slides/slide5.xml" Id="R31ac52fd68df459e" /><Relationship Type="http://schemas.openxmlformats.org/officeDocument/2006/relationships/slide" Target="/ppt/slides/slide6.xml" Id="R65b7d256c1584c38" /><Relationship Type="http://schemas.openxmlformats.org/officeDocument/2006/relationships/slide" Target="/ppt/slides/slide7.xml" Id="Rb5c8ebe23df743ea" /><Relationship Type="http://schemas.openxmlformats.org/officeDocument/2006/relationships/slide" Target="/ppt/slides/slide8.xml" Id="R5ebc678df80b4c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13215f7c184e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ac93aaad464671" /><Relationship Type="http://schemas.openxmlformats.org/officeDocument/2006/relationships/notesMaster" Target="/ppt/notesMasters/notesMaster1.xml" Id="Rff450261e73e46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e6275f5c6848b8" /><Relationship Type="http://schemas.openxmlformats.org/officeDocument/2006/relationships/notesMaster" Target="/ppt/notesMasters/notesMaster1.xml" Id="Rf48fefddb0704f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ef6ae5e5224d4a" /><Relationship Type="http://schemas.openxmlformats.org/officeDocument/2006/relationships/notesMaster" Target="/ppt/notesMasters/notesMaster1.xml" Id="Rb7b56cc4e1304c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2a824604e0445d" /><Relationship Type="http://schemas.openxmlformats.org/officeDocument/2006/relationships/notesMaster" Target="/ppt/notesMasters/notesMaster1.xml" Id="Rc779d892918449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3e69278b2d42d5" /><Relationship Type="http://schemas.openxmlformats.org/officeDocument/2006/relationships/notesMaster" Target="/ppt/notesMasters/notesMaster1.xml" Id="R6c406154827745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1d4ed5f61b4096" /><Relationship Type="http://schemas.openxmlformats.org/officeDocument/2006/relationships/notesMaster" Target="/ppt/notesMasters/notesMaster1.xml" Id="Rc8932aa157ff4a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d1ee859c8f4f76" /><Relationship Type="http://schemas.openxmlformats.org/officeDocument/2006/relationships/notesMaster" Target="/ppt/notesMasters/notesMaster1.xml" Id="Rdded7c6dcff343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a8ef67290448e2" /><Relationship Type="http://schemas.openxmlformats.org/officeDocument/2006/relationships/notesMaster" Target="/ppt/notesMasters/notesMaster1.xml" Id="R7bf7ba1197ff4b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Committed team source: upstream/main 4ec519e88d9afe811a9d447f7aef8b3d81d473ce. Roles 01–03. User previously selected phone accessories. The committed Customer Analyst recommends packaged snacks at $3. This presentation preserves that conflict rather than describing the phone proposal as a unanimous team choice. Suggested duration: five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Committed team source: upstream/main 4ec519e88d9afe811a9d447f7aef8b3d81d473ce. roles/01_customer_analyst/customers.md. inputs/shopper_survey.csv: 100 Saturday respondents, 60 snacks, 25 accessories, 10 crafts, 5 books. inputs/competitors.csv lists three snack competitors. Finance checks the $18 maximum-price threshold for accessories. Survey interest is not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Committed team source: upstream/main 4ec519e88d9afe811a9d447f7aef8b3d81d473ce. roles/02_finance_analyst/finance.md and daily_projection.csv. Original inputs: inputs/cost_list.md, inputs/mall_facts.md and inputs/foot_traffic.csv. All figures are required-sales projections, not actual results. Risk source: roles/03_risk_manager/risks.md. The $7,875 opening estimate includes $225 of opening-day terminal, insurance and cleaning, whereas $7,650 pre-opening cash excludes those charges. Deposit is refundable and excluded from expenses.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Committed team source: upstream/main 4ec519e88d9afe811a9d447f7aef8b3d81d473ce. roles/02_finance_analyst/finance.md and daily_projection.csv. Original inputs: inputs/cost_list.md, inputs/mall_facts.md and inputs/foot_traffic.csv. All figures are required-sales projections, not actual results. Cost basis charges all purchased inventory and equipment to the project, with no resale proceeds. At 1,926 sales revenue is $34,668.00 and cost is $34,657.04. Deposit is excluded from this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Committed team source: upstream/main 4ec519e88d9afe811a9d447f7aef8b3d81d473ce. roles/03_risk_manager/risks.md. Inputs: cost_list.md and mall_facts.md. Risk report identifies cost/cash pressure, August traffic decline and inventory cash tied up in unpopular models. One employee at a time requires shifts of no more than eight hours per person and agency relief.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Committed team source: upstream/main 4ec519e88d9afe811a9d447f7aef8b3d81d473ce. roles/01_customer_analyst/customers.md and roles/03_risk_manager/risks.md. inputs/foot_traffic.csv totals: Mon 488, Tue 510, Wed 488, Thu 488, Fri 565, Sat 1529, Sun 1463; total 5531. Weekends 54.1%. Peak weekend hour 14:00, weekday 18:00. Finance daily_projection.csv June 685 sales / 23122 visits = 2.96%, revenue $12330. Proposed promotion tactics and staff schedule are recommendations, not observed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Committed team source: upstream/main 4ec519e88d9afe811a9d447f7aef8b3d81d473ce. New proposed marketing plan based on committed customer and risk recommendations, original input facts, and finance daily_projection.csv. All targets are required sales. $300 campaign is already in setup costs, $150 sign is already in setup, free mall listings/noticeboard are provided by mall_facts.md. College posting requires permission; no free reach or extra spend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Committed team source: upstream/main 4ec519e88d9afe811a9d447f7aef8b3d81d473ce. Roles 01–03. New recommended decision and review process. Finance model supports cash solvency only if required sales occur. Price, customer conversion and product selection still require team validation. Do not treat the customer snack recommendation as agreement on accessories.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08f465755743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2314c4ad2048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032f4e023a49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d415b7fb6e42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d0747095434d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4fc4bb35e34a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26EC38-0820-44B6-AED0-28C8C552E7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BFDEB6-B31D-48CA-BE8E-CFF1640B3D8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F687F5-A917-40B2-BA51-38F1478FEF9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9419B1-6EFE-4CF9-BD38-06B8E43571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0B8E51-7948-4707-8A9B-29A261D18B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47A474-8196-43C1-AB5F-B6EEE8559F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427EA7-F972-43F7-AAC5-79E7DFD6C5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BC1716-A655-401A-88A8-95308805E4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B4B343-7E4F-4D6C-8FBE-37D33BB601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1F4289-EC0F-420F-BC05-CFE433DFE6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1cf54c64d34339" /><Relationship Type="http://schemas.openxmlformats.org/officeDocument/2006/relationships/slideLayout" Target="/ppt/slideLayouts/slideLayout1.xml" Id="R91901dbb6b794192" /><Relationship Type="http://schemas.openxmlformats.org/officeDocument/2006/relationships/slideLayout" Target="/ppt/slideLayouts/slideLayout2.xml" Id="Rc360e258579b4003" /><Relationship Type="http://schemas.openxmlformats.org/officeDocument/2006/relationships/slideLayout" Target="/ppt/slideLayouts/slideLayout3.xml" Id="Rac09d1dc783c4f29" /><Relationship Type="http://schemas.openxmlformats.org/officeDocument/2006/relationships/slideLayout" Target="/ppt/slideLayouts/slideLayout4.xml" Id="R4cee2ccc33ef41d9" /><Relationship Type="http://schemas.openxmlformats.org/officeDocument/2006/relationships/slideLayout" Target="/ppt/slideLayouts/slideLayout5.xml" Id="Rf7a01390ec4840eb" /><Relationship Type="http://schemas.openxmlformats.org/officeDocument/2006/relationships/slideLayout" Target="/ppt/slideLayouts/slideLayout6.xml" Id="R363a661292d84c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901dbb6b794192"/>
    <p:sldLayoutId xmlns:r="http://schemas.openxmlformats.org/officeDocument/2006/relationships" id="2147483650" r:id="Rc360e258579b4003"/>
    <p:sldLayoutId xmlns:r="http://schemas.openxmlformats.org/officeDocument/2006/relationships" id="2147483651" r:id="Rac09d1dc783c4f29"/>
    <p:sldLayoutId xmlns:r="http://schemas.openxmlformats.org/officeDocument/2006/relationships" id="2147483652" r:id="R4cee2ccc33ef41d9"/>
    <p:sldLayoutId xmlns:r="http://schemas.openxmlformats.org/officeDocument/2006/relationships" id="2147483653" r:id="Rf7a01390ec4840eb"/>
    <p:sldLayoutId xmlns:r="http://schemas.openxmlformats.org/officeDocument/2006/relationships" id="2147483654" r:id="R363a661292d84c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70ef9ccc19445ba" /><Relationship Type="http://schemas.openxmlformats.org/officeDocument/2006/relationships/notesSlide" Target="/ppt/notesSlides/notesSlide1.xml" Id="R4fbedc0fd85149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e0a8cf1e914899" /><Relationship Type="http://schemas.openxmlformats.org/officeDocument/2006/relationships/chart" Target="/ppt/slides/charts/chart1.xml" Id="Red9840d440dd49f5" /><Relationship Type="http://schemas.openxmlformats.org/officeDocument/2006/relationships/notesSlide" Target="/ppt/notesSlides/notesSlide2.xml" Id="R1c8d11a7953a48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91000f49954778" /><Relationship Type="http://schemas.openxmlformats.org/officeDocument/2006/relationships/notesSlide" Target="/ppt/notesSlides/notesSlide3.xml" Id="R92e2f199bbab48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b233560c6f4702" /><Relationship Type="http://schemas.openxmlformats.org/officeDocument/2006/relationships/chart" Target="/ppt/slides/charts/chart2.xml" Id="R5f85534e53424b4f" /><Relationship Type="http://schemas.openxmlformats.org/officeDocument/2006/relationships/notesSlide" Target="/ppt/notesSlides/notesSlide4.xml" Id="R35763845751e4f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a30b2f609e41dc" /><Relationship Type="http://schemas.openxmlformats.org/officeDocument/2006/relationships/notesSlide" Target="/ppt/notesSlides/notesSlide5.xml" Id="Rbd98cd376e594c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1bd744a85342e9" /><Relationship Type="http://schemas.openxmlformats.org/officeDocument/2006/relationships/chart" Target="/ppt/slides/charts/chart3.xml" Id="R1396af9c69cc4aa8" /><Relationship Type="http://schemas.openxmlformats.org/officeDocument/2006/relationships/notesSlide" Target="/ppt/notesSlides/notesSlide6.xml" Id="R06739f1ee8fc4e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08222f22b54436" /><Relationship Type="http://schemas.openxmlformats.org/officeDocument/2006/relationships/notesSlide" Target="/ppt/notesSlides/notesSlide7.xml" Id="Rd7adbb3ab6cc47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793128c51a74bca" /><Relationship Type="http://schemas.openxmlformats.org/officeDocument/2006/relationships/notesSlide" Target="/ppt/notesSlides/notesSlide8.xml" Id="Rbeec8137b7f1484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Respondents</c:v>
          </c:tx>
          <c:spPr>
            <a:solidFill xmlns:a="http://schemas.openxmlformats.org/drawingml/2006/main">
              <a:srgbClr val="16324F"/>
            </a:solidFill>
          </c:spPr>
          <c:invertIfNegative val="0"/>
          <c:dPt>
            <c:idx val="1"/>
            <c:invertIfNegative val="0"/>
            <c:spPr>
              <a:solidFill xmlns:a="http://schemas.openxmlformats.org/drawingml/2006/main">
                <a:srgbClr val="15803D"/>
              </a:solidFill>
            </c:spPr>
          </c:dPt>
          <c:cat>
            <c:strRef>
              <c:f>'Chart Data'!$A$2:$A$5</c:f>
              <c:strCache>
                <c:ptCount val="4"/>
                <c:pt idx="0">
                  <c:v>Snacks</c:v>
                </c:pt>
                <c:pt idx="1">
                  <c:v>Accessories</c:v>
                </c:pt>
                <c:pt idx="2">
                  <c:v>Craft bundles</c:v>
                </c:pt>
                <c:pt idx="3">
                  <c:v>Used books</c:v>
                </c:pt>
              </c:strCache>
            </c:strRef>
          </c:cat>
          <c:val>
            <c:numRef>
              <c:f>'Chart Data'!$B$2:$B$5</c:f>
              <c:numCache>
                <c:formatCode>0</c:formatCode>
                <c:ptCount val="4"/>
                <c:pt idx="0">
                  <c:v>60</c:v>
                </c:pt>
                <c:pt idx="1">
                  <c:v>25</c:v>
                </c:pt>
                <c:pt idx="2">
                  <c:v>10</c:v>
                </c:pt>
                <c:pt idx="3">
                  <c:v>5</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Revenue</c:v>
          </c:tx>
          <c:spPr>
            <a:ln xmlns:a="http://schemas.openxmlformats.org/drawingml/2006/main" w="28575">
              <a:solidFill>
                <a:srgbClr val="15803D"/>
              </a:solidFill>
            </a:ln>
          </c:spPr>
          <c:marker>
            <c:symbol val="none"/>
          </c:marker>
          <c:cat>
            <c:strRef>
              <c:f>'Chart Data'!$A$2:$A$16</c:f>
              <c:strCache>
                <c:ptCount val="15"/>
                <c:pt idx="0">
                  <c:v>05-31</c:v>
                </c:pt>
                <c:pt idx="1">
                  <c:v>06-07</c:v>
                </c:pt>
                <c:pt idx="2">
                  <c:v>06-14</c:v>
                </c:pt>
                <c:pt idx="3">
                  <c:v>06-21</c:v>
                </c:pt>
                <c:pt idx="4">
                  <c:v>06-28</c:v>
                </c:pt>
                <c:pt idx="5">
                  <c:v>07-05</c:v>
                </c:pt>
                <c:pt idx="6">
                  <c:v>07-12</c:v>
                </c:pt>
                <c:pt idx="7">
                  <c:v>07-19</c:v>
                </c:pt>
                <c:pt idx="8">
                  <c:v>07-26</c:v>
                </c:pt>
                <c:pt idx="9">
                  <c:v>08-02</c:v>
                </c:pt>
                <c:pt idx="10">
                  <c:v>08-09</c:v>
                </c:pt>
                <c:pt idx="11">
                  <c:v>08-16</c:v>
                </c:pt>
                <c:pt idx="12">
                  <c:v>08-23</c:v>
                </c:pt>
                <c:pt idx="13">
                  <c:v>08-30</c:v>
                </c:pt>
                <c:pt idx="14">
                  <c:v>08-31</c:v>
                </c:pt>
              </c:strCache>
            </c:strRef>
          </c:cat>
          <c:val>
            <c:numRef>
              <c:f>'Chart Data'!$B$2:$B$16</c:f>
              <c:numCache>
                <c:formatCode>$#,##0</c:formatCode>
                <c:ptCount val="15"/>
                <c:pt idx="0">
                  <c:v>0</c:v>
                </c:pt>
                <c:pt idx="1">
                  <c:v>2952</c:v>
                </c:pt>
                <c:pt idx="2">
                  <c:v>5904</c:v>
                </c:pt>
                <c:pt idx="3">
                  <c:v>8838</c:v>
                </c:pt>
                <c:pt idx="4">
                  <c:v>11790</c:v>
                </c:pt>
                <c:pt idx="5">
                  <c:v>14742</c:v>
                </c:pt>
                <c:pt idx="6">
                  <c:v>17694</c:v>
                </c:pt>
                <c:pt idx="7">
                  <c:v>20646</c:v>
                </c:pt>
                <c:pt idx="8">
                  <c:v>23580</c:v>
                </c:pt>
                <c:pt idx="9">
                  <c:v>26226</c:v>
                </c:pt>
                <c:pt idx="10">
                  <c:v>28278</c:v>
                </c:pt>
                <c:pt idx="11">
                  <c:v>30348</c:v>
                </c:pt>
                <c:pt idx="12">
                  <c:v>32418</c:v>
                </c:pt>
                <c:pt idx="13">
                  <c:v>34470</c:v>
                </c:pt>
                <c:pt idx="14">
                  <c:v>34668</c:v>
                </c:pt>
              </c:numCache>
            </c:numRef>
          </c:val>
          <c:smooth val="0"/>
        </c:ser>
        <c:ser>
          <c:idx val="1"/>
          <c:order val="1"/>
          <c:tx>
            <c:v>All project costs</c:v>
          </c:tx>
          <c:spPr>
            <a:ln xmlns:a="http://schemas.openxmlformats.org/drawingml/2006/main" w="28575">
              <a:solidFill>
                <a:srgbClr val="B45309"/>
              </a:solidFill>
            </a:ln>
          </c:spPr>
          <c:marker>
            <c:symbol val="none"/>
          </c:marker>
          <c:cat>
            <c:strRef>
              <c:f>'Chart Data'!$C$2:$C$16</c:f>
              <c:strCache>
                <c:ptCount val="15"/>
                <c:pt idx="0">
                  <c:v>05-31</c:v>
                </c:pt>
                <c:pt idx="1">
                  <c:v>06-07</c:v>
                </c:pt>
                <c:pt idx="2">
                  <c:v>06-14</c:v>
                </c:pt>
                <c:pt idx="3">
                  <c:v>06-21</c:v>
                </c:pt>
                <c:pt idx="4">
                  <c:v>06-28</c:v>
                </c:pt>
                <c:pt idx="5">
                  <c:v>07-05</c:v>
                </c:pt>
                <c:pt idx="6">
                  <c:v>07-12</c:v>
                </c:pt>
                <c:pt idx="7">
                  <c:v>07-19</c:v>
                </c:pt>
                <c:pt idx="8">
                  <c:v>07-26</c:v>
                </c:pt>
                <c:pt idx="9">
                  <c:v>08-02</c:v>
                </c:pt>
                <c:pt idx="10">
                  <c:v>08-09</c:v>
                </c:pt>
                <c:pt idx="11">
                  <c:v>08-16</c:v>
                </c:pt>
                <c:pt idx="12">
                  <c:v>08-23</c:v>
                </c:pt>
                <c:pt idx="13">
                  <c:v>08-30</c:v>
                </c:pt>
                <c:pt idx="14">
                  <c:v>08-31</c:v>
                </c:pt>
              </c:strCache>
            </c:strRef>
          </c:cat>
          <c:val>
            <c:numRef>
              <c:f>'Chart Data'!$D$2:$D$16</c:f>
              <c:numCache>
                <c:formatCode>$#,##0</c:formatCode>
                <c:ptCount val="15"/>
                <c:pt idx="0">
                  <c:v>5150</c:v>
                </c:pt>
                <c:pt idx="1">
                  <c:v>6695.56</c:v>
                </c:pt>
                <c:pt idx="2">
                  <c:v>8216.12</c:v>
                </c:pt>
                <c:pt idx="3">
                  <c:v>10136.14</c:v>
                </c:pt>
                <c:pt idx="4">
                  <c:v>12256.7</c:v>
                </c:pt>
                <c:pt idx="5">
                  <c:v>16902.26</c:v>
                </c:pt>
                <c:pt idx="6">
                  <c:v>18822.82</c:v>
                </c:pt>
                <c:pt idx="7">
                  <c:v>20743.38</c:v>
                </c:pt>
                <c:pt idx="8">
                  <c:v>22863.4</c:v>
                </c:pt>
                <c:pt idx="9">
                  <c:v>27499.78</c:v>
                </c:pt>
                <c:pt idx="10">
                  <c:v>29193.34</c:v>
                </c:pt>
                <c:pt idx="11">
                  <c:v>30887.44</c:v>
                </c:pt>
                <c:pt idx="12">
                  <c:v>32781.54</c:v>
                </c:pt>
                <c:pt idx="13">
                  <c:v>34475.1</c:v>
                </c:pt>
                <c:pt idx="14">
                  <c:v>34657.04</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Skip val="2"/>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varyColors val="0"/>
        <c:ser>
          <c:idx val="0"/>
          <c:order val="0"/>
          <c:tx>
            <c:v>Passing visits</c:v>
          </c:tx>
          <c:spPr>
            <a:solidFill xmlns:a="http://schemas.openxmlformats.org/drawingml/2006/main">
              <a:srgbClr val="16324F"/>
            </a:solidFill>
          </c:spPr>
          <c:invertIfNegative val="0"/>
          <c:dPt>
            <c:idx val="5"/>
            <c:invertIfNegative val="0"/>
            <c:spPr>
              <a:solidFill xmlns:a="http://schemas.openxmlformats.org/drawingml/2006/main">
                <a:srgbClr val="15803D"/>
              </a:solidFill>
            </c:spPr>
          </c:dPt>
          <c:dPt>
            <c:idx val="6"/>
            <c:invertIfNegative val="0"/>
            <c:spPr>
              <a:solidFill xmlns:a="http://schemas.openxmlformats.org/drawingml/2006/main">
                <a:srgbClr val="15803D"/>
              </a:solidFill>
            </c:spPr>
          </c:dPt>
          <c:cat>
            <c:strRef>
              <c:f>'Chart Data'!$A$2:$A$8</c:f>
              <c:strCache>
                <c:ptCount val="7"/>
                <c:pt idx="0">
                  <c:v>Mon</c:v>
                </c:pt>
                <c:pt idx="1">
                  <c:v>Tue</c:v>
                </c:pt>
                <c:pt idx="2">
                  <c:v>Wed</c:v>
                </c:pt>
                <c:pt idx="3">
                  <c:v>Thu</c:v>
                </c:pt>
                <c:pt idx="4">
                  <c:v>Fri</c:v>
                </c:pt>
                <c:pt idx="5">
                  <c:v>Sat</c:v>
                </c:pt>
                <c:pt idx="6">
                  <c:v>Sun</c:v>
                </c:pt>
              </c:strCache>
            </c:strRef>
          </c:cat>
          <c:val>
            <c:numRef>
              <c:f>'Chart Data'!$B$2:$B$8</c:f>
              <c:numCache>
                <c:formatCode>#,##0</c:formatCode>
                <c:ptCount val="7"/>
                <c:pt idx="0">
                  <c:v>488</c:v>
                </c:pt>
                <c:pt idx="1">
                  <c:v>510</c:v>
                </c:pt>
                <c:pt idx="2">
                  <c:v>488</c:v>
                </c:pt>
                <c:pt idx="3">
                  <c:v>488</c:v>
                </c:pt>
                <c:pt idx="4">
                  <c:v>565</c:v>
                </c:pt>
                <c:pt idx="5">
                  <c:v>1529</c:v>
                </c:pt>
                <c:pt idx="6">
                  <c:v>1463</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D5887C-A636-4245-AA9A-542B8D52E670}"/>
              </a:ext>
            </a:extLst>
          </p:cNvPr>
          <p:cNvSpPr>
            <a:spLocks xmlns:a="http://schemas.openxmlformats.org/drawingml/2006/main" noGrp="1"/>
          </p:cNvSpPr>
          <p:nvPr/>
        </p:nvSpPr>
        <p:spPr>
          <a:xfrm xmlns:a="http://schemas.openxmlformats.org/drawingml/2006/main">
            <a:off x="723900" y="7429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BCD0E3"/>
                </a:solidFill>
                <a:latin typeface="Arial"/>
                <a:ea typeface="Arial"/>
                <a:cs typeface="Arial"/>
              </a:defRPr>
            </a:defPPr>
            <a:lvl1pPr>
              <a:buNone/>
              <a:defRPr sz="1875" b="1">
                <a:solidFill>
                  <a:srgbClr val="BCD0E3"/>
                </a:solidFill>
                <a:latin typeface="Arial"/>
                <a:ea typeface="Arial"/>
                <a:cs typeface="Arial"/>
              </a:defRPr>
            </a:lvl1pPr>
            <a:lvl2pPr>
              <a:buNone/>
              <a:defRPr sz="1875" b="1">
                <a:solidFill>
                  <a:srgbClr val="BCD0E3"/>
                </a:solidFill>
                <a:latin typeface="Arial"/>
                <a:ea typeface="Arial"/>
                <a:cs typeface="Arial"/>
              </a:defRPr>
            </a:lvl2pPr>
            <a:lvl3pPr>
              <a:buNone/>
              <a:defRPr sz="1875" b="1">
                <a:solidFill>
                  <a:srgbClr val="BCD0E3"/>
                </a:solidFill>
                <a:latin typeface="Arial"/>
                <a:ea typeface="Arial"/>
                <a:cs typeface="Arial"/>
              </a:defRPr>
            </a:lvl3pPr>
            <a:lvl4pPr>
              <a:buNone/>
              <a:defRPr sz="1875" b="1">
                <a:solidFill>
                  <a:srgbClr val="BCD0E3"/>
                </a:solidFill>
                <a:latin typeface="Arial"/>
                <a:ea typeface="Arial"/>
                <a:cs typeface="Arial"/>
              </a:defRPr>
            </a:lvl4pPr>
            <a:lvl5pPr>
              <a:buNone/>
              <a:defRPr sz="1875" b="1">
                <a:solidFill>
                  <a:srgbClr val="BCD0E3"/>
                </a:solidFill>
                <a:latin typeface="Arial"/>
                <a:ea typeface="Arial"/>
                <a:cs typeface="Arial"/>
              </a:defRPr>
            </a:lvl5pPr>
            <a:lvl6pPr>
              <a:buNone/>
              <a:defRPr sz="1875" b="1">
                <a:solidFill>
                  <a:srgbClr val="BCD0E3"/>
                </a:solidFill>
                <a:latin typeface="Arial"/>
                <a:ea typeface="Arial"/>
                <a:cs typeface="Arial"/>
              </a:defRPr>
            </a:lvl6pPr>
            <a:lvl7pPr>
              <a:buNone/>
              <a:defRPr sz="1875" b="1">
                <a:solidFill>
                  <a:srgbClr val="BCD0E3"/>
                </a:solidFill>
                <a:latin typeface="Arial"/>
                <a:ea typeface="Arial"/>
                <a:cs typeface="Arial"/>
              </a:defRPr>
            </a:lvl7pPr>
            <a:lvl8pPr>
              <a:buNone/>
              <a:defRPr sz="1875" b="1">
                <a:solidFill>
                  <a:srgbClr val="BCD0E3"/>
                </a:solidFill>
                <a:latin typeface="Arial"/>
                <a:ea typeface="Arial"/>
                <a:cs typeface="Arial"/>
              </a:defRPr>
            </a:lvl8pPr>
            <a:lvl9pPr>
              <a:buNone/>
              <a:defRPr sz="1875" b="1">
                <a:solidFill>
                  <a:srgbClr val="BCD0E3"/>
                </a:solidFill>
                <a:latin typeface="Arial"/>
                <a:ea typeface="Arial"/>
                <a:cs typeface="Arial"/>
              </a:defRPr>
            </a:lvl9pPr>
          </a:lstStyle>
          <a:p xmlns:a="http://schemas.openxmlformats.org/drawingml/2006/main">
            <a:pPr>
              <a:buNone/>
              <a:defRPr sz="1875" b="1">
                <a:solidFill>
                  <a:srgbClr val="BCD0E3"/>
                </a:solidFill>
                <a:latin typeface="Arial"/>
                <a:ea typeface="Arial"/>
                <a:cs typeface="Arial"/>
              </a:defRPr>
            </a:pPr>
            <a:r>
              <a:rPr sz="1875" b="1">
                <a:solidFill>
                  <a:srgbClr val="BCD0E3"/>
                </a:solidFill>
                <a:latin typeface="Arial"/>
                <a:ea typeface="Arial"/>
                <a:cs typeface="Arial"/>
              </a:rPr>
              <a:t>MAPLE MALL</a:t>
            </a:r>
          </a:p>
        </p:txBody>
      </p:sp>
      <p:sp>
        <p:nvSpPr>
          <p:cNvPr id="2" name="">
            <a:extLst xmlns:a="http://schemas.openxmlformats.org/drawingml/2006/main">
              <a:ext uri="{FF2B5EF4-FFF2-40B4-BE49-F238E27FC236}">
                <a16:creationId xmlns:a16="http://schemas.microsoft.com/office/drawing/2014/main" id="{6AFD26BE-E5FE-4A3D-9314-43231F3B9A48}"/>
              </a:ext>
            </a:extLst>
          </p:cNvPr>
          <p:cNvSpPr>
            <a:spLocks xmlns:a="http://schemas.openxmlformats.org/drawingml/2006/main" noGrp="1"/>
          </p:cNvSpPr>
          <p:nvPr/>
        </p:nvSpPr>
        <p:spPr>
          <a:xfrm xmlns:a="http://schemas.openxmlformats.org/drawingml/2006/main">
            <a:off x="723900" y="1809750"/>
            <a:ext cx="10572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Arial"/>
                <a:ea typeface="Arial"/>
                <a:cs typeface="Arial"/>
              </a:defRPr>
            </a:defPPr>
            <a:lvl1pPr>
              <a:buNone/>
              <a:defRPr sz="4800" b="1">
                <a:solidFill>
                  <a:srgbClr val="FFFFFF"/>
                </a:solidFill>
                <a:latin typeface="Arial"/>
                <a:ea typeface="Arial"/>
                <a:cs typeface="Arial"/>
              </a:defRPr>
            </a:lvl1pPr>
            <a:lvl2pPr>
              <a:buNone/>
              <a:defRPr sz="4800" b="1">
                <a:solidFill>
                  <a:srgbClr val="FFFFFF"/>
                </a:solidFill>
                <a:latin typeface="Arial"/>
                <a:ea typeface="Arial"/>
                <a:cs typeface="Arial"/>
              </a:defRPr>
            </a:lvl2pPr>
            <a:lvl3pPr>
              <a:buNone/>
              <a:defRPr sz="4800" b="1">
                <a:solidFill>
                  <a:srgbClr val="FFFFFF"/>
                </a:solidFill>
                <a:latin typeface="Arial"/>
                <a:ea typeface="Arial"/>
                <a:cs typeface="Arial"/>
              </a:defRPr>
            </a:lvl3pPr>
            <a:lvl4pPr>
              <a:buNone/>
              <a:defRPr sz="4800" b="1">
                <a:solidFill>
                  <a:srgbClr val="FFFFFF"/>
                </a:solidFill>
                <a:latin typeface="Arial"/>
                <a:ea typeface="Arial"/>
                <a:cs typeface="Arial"/>
              </a:defRPr>
            </a:lvl4pPr>
            <a:lvl5pPr>
              <a:buNone/>
              <a:defRPr sz="4800" b="1">
                <a:solidFill>
                  <a:srgbClr val="FFFFFF"/>
                </a:solidFill>
                <a:latin typeface="Arial"/>
                <a:ea typeface="Arial"/>
                <a:cs typeface="Arial"/>
              </a:defRPr>
            </a:lvl5pPr>
            <a:lvl6pPr>
              <a:buNone/>
              <a:defRPr sz="4800" b="1">
                <a:solidFill>
                  <a:srgbClr val="FFFFFF"/>
                </a:solidFill>
                <a:latin typeface="Arial"/>
                <a:ea typeface="Arial"/>
                <a:cs typeface="Arial"/>
              </a:defRPr>
            </a:lvl6pPr>
            <a:lvl7pPr>
              <a:buNone/>
              <a:defRPr sz="4800" b="1">
                <a:solidFill>
                  <a:srgbClr val="FFFFFF"/>
                </a:solidFill>
                <a:latin typeface="Arial"/>
                <a:ea typeface="Arial"/>
                <a:cs typeface="Arial"/>
              </a:defRPr>
            </a:lvl7pPr>
            <a:lvl8pPr>
              <a:buNone/>
              <a:defRPr sz="4800" b="1">
                <a:solidFill>
                  <a:srgbClr val="FFFFFF"/>
                </a:solidFill>
                <a:latin typeface="Arial"/>
                <a:ea typeface="Arial"/>
                <a:cs typeface="Arial"/>
              </a:defRPr>
            </a:lvl8pPr>
            <a:lvl9pPr>
              <a:buNone/>
              <a:defRPr sz="4800" b="1">
                <a:solidFill>
                  <a:srgbClr val="FFFFFF"/>
                </a:solidFill>
                <a:latin typeface="Arial"/>
                <a:ea typeface="Arial"/>
                <a:cs typeface="Arial"/>
              </a:defRPr>
            </a:lvl9pPr>
          </a:lstStyle>
          <a:p xmlns:a="http://schemas.openxmlformats.org/drawingml/2006/main">
            <a:pPr>
              <a:buNone/>
              <a:defRPr sz="4800" b="1">
                <a:solidFill>
                  <a:srgbClr val="FFFFFF"/>
                </a:solidFill>
                <a:latin typeface="Arial"/>
                <a:ea typeface="Arial"/>
                <a:cs typeface="Arial"/>
              </a:defRPr>
            </a:pPr>
            <a:r>
              <a:rPr sz="4800" b="1">
                <a:solidFill>
                  <a:srgbClr val="FFFFFF"/>
                </a:solidFill>
                <a:latin typeface="Arial"/>
                <a:ea typeface="Arial"/>
                <a:cs typeface="Arial"/>
              </a:rPr>
              <a:t>Phone accessories</a:t>
            </a:r>
          </a:p>
          <a:p xmlns:a="http://schemas.openxmlformats.org/drawingml/2006/main">
            <a:pPr>
              <a:buNone/>
              <a:defRPr sz="4800" b="1">
                <a:solidFill>
                  <a:srgbClr val="FFFFFF"/>
                </a:solidFill>
                <a:latin typeface="Arial"/>
                <a:ea typeface="Arial"/>
                <a:cs typeface="Arial"/>
              </a:defRPr>
            </a:pPr>
            <a:r>
              <a:rPr sz="4800" b="1">
                <a:solidFill>
                  <a:srgbClr val="FFFFFF"/>
                </a:solidFill>
                <a:latin typeface="Arial"/>
                <a:ea typeface="Arial"/>
                <a:cs typeface="Arial"/>
              </a:rPr>
              <a:t>pop-up proposal</a:t>
            </a:r>
          </a:p>
        </p:txBody>
      </p:sp>
      <p:sp>
        <p:nvSpPr>
          <p:cNvPr id="3" name="">
            <a:extLst xmlns:a="http://schemas.openxmlformats.org/drawingml/2006/main">
              <a:ext uri="{FF2B5EF4-FFF2-40B4-BE49-F238E27FC236}">
                <a16:creationId xmlns:a16="http://schemas.microsoft.com/office/drawing/2014/main" id="{747C9682-D6A1-438D-97A7-1008D2D65CC2}"/>
              </a:ext>
            </a:extLst>
          </p:cNvPr>
          <p:cNvSpPr>
            <a:spLocks xmlns:a="http://schemas.openxmlformats.org/drawingml/2006/main" noGrp="1"/>
          </p:cNvSpPr>
          <p:nvPr/>
        </p:nvSpPr>
        <p:spPr>
          <a:xfrm xmlns:a="http://schemas.openxmlformats.org/drawingml/2006/main">
            <a:off x="723900" y="4000500"/>
            <a:ext cx="1019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E2E8F0"/>
                </a:solidFill>
                <a:latin typeface="Arial"/>
                <a:ea typeface="Arial"/>
                <a:cs typeface="Arial"/>
              </a:defRPr>
            </a:defPPr>
            <a:lvl1pPr>
              <a:buNone/>
              <a:defRPr sz="2175" b="0">
                <a:solidFill>
                  <a:srgbClr val="E2E8F0"/>
                </a:solidFill>
                <a:latin typeface="Arial"/>
                <a:ea typeface="Arial"/>
                <a:cs typeface="Arial"/>
              </a:defRPr>
            </a:lvl1pPr>
            <a:lvl2pPr>
              <a:buNone/>
              <a:defRPr sz="2175" b="0">
                <a:solidFill>
                  <a:srgbClr val="E2E8F0"/>
                </a:solidFill>
                <a:latin typeface="Arial"/>
                <a:ea typeface="Arial"/>
                <a:cs typeface="Arial"/>
              </a:defRPr>
            </a:lvl2pPr>
            <a:lvl3pPr>
              <a:buNone/>
              <a:defRPr sz="2175" b="0">
                <a:solidFill>
                  <a:srgbClr val="E2E8F0"/>
                </a:solidFill>
                <a:latin typeface="Arial"/>
                <a:ea typeface="Arial"/>
                <a:cs typeface="Arial"/>
              </a:defRPr>
            </a:lvl3pPr>
            <a:lvl4pPr>
              <a:buNone/>
              <a:defRPr sz="2175" b="0">
                <a:solidFill>
                  <a:srgbClr val="E2E8F0"/>
                </a:solidFill>
                <a:latin typeface="Arial"/>
                <a:ea typeface="Arial"/>
                <a:cs typeface="Arial"/>
              </a:defRPr>
            </a:lvl4pPr>
            <a:lvl5pPr>
              <a:buNone/>
              <a:defRPr sz="2175" b="0">
                <a:solidFill>
                  <a:srgbClr val="E2E8F0"/>
                </a:solidFill>
                <a:latin typeface="Arial"/>
                <a:ea typeface="Arial"/>
                <a:cs typeface="Arial"/>
              </a:defRPr>
            </a:lvl5pPr>
            <a:lvl6pPr>
              <a:buNone/>
              <a:defRPr sz="2175" b="0">
                <a:solidFill>
                  <a:srgbClr val="E2E8F0"/>
                </a:solidFill>
                <a:latin typeface="Arial"/>
                <a:ea typeface="Arial"/>
                <a:cs typeface="Arial"/>
              </a:defRPr>
            </a:lvl6pPr>
            <a:lvl7pPr>
              <a:buNone/>
              <a:defRPr sz="2175" b="0">
                <a:solidFill>
                  <a:srgbClr val="E2E8F0"/>
                </a:solidFill>
                <a:latin typeface="Arial"/>
                <a:ea typeface="Arial"/>
                <a:cs typeface="Arial"/>
              </a:defRPr>
            </a:lvl7pPr>
            <a:lvl8pPr>
              <a:buNone/>
              <a:defRPr sz="2175" b="0">
                <a:solidFill>
                  <a:srgbClr val="E2E8F0"/>
                </a:solidFill>
                <a:latin typeface="Arial"/>
                <a:ea typeface="Arial"/>
                <a:cs typeface="Arial"/>
              </a:defRPr>
            </a:lvl8pPr>
            <a:lvl9pPr>
              <a:buNone/>
              <a:defRPr sz="2175" b="0">
                <a:solidFill>
                  <a:srgbClr val="E2E8F0"/>
                </a:solidFill>
                <a:latin typeface="Arial"/>
                <a:ea typeface="Arial"/>
                <a:cs typeface="Arial"/>
              </a:defRPr>
            </a:lvl9pPr>
          </a:lstStyle>
          <a:p xmlns:a="http://schemas.openxmlformats.org/drawingml/2006/main">
            <a:pPr>
              <a:buNone/>
              <a:defRPr sz="2175" b="0">
                <a:solidFill>
                  <a:srgbClr val="E2E8F0"/>
                </a:solidFill>
                <a:latin typeface="Arial"/>
                <a:ea typeface="Arial"/>
                <a:cs typeface="Arial"/>
              </a:defRPr>
            </a:pPr>
            <a:r>
              <a:rPr sz="2175" b="0">
                <a:solidFill>
                  <a:srgbClr val="E2E8F0"/>
                </a:solidFill>
                <a:latin typeface="Arial"/>
                <a:ea typeface="Arial"/>
                <a:cs typeface="Arial"/>
              </a:rPr>
              <a:t>June 1–August 31, 2027</a:t>
            </a:r>
          </a:p>
          <a:p xmlns:a="http://schemas.openxmlformats.org/drawingml/2006/main">
            <a:pPr>
              <a:buNone/>
              <a:defRPr sz="2175" b="0">
                <a:solidFill>
                  <a:srgbClr val="E2E8F0"/>
                </a:solidFill>
                <a:latin typeface="Arial"/>
                <a:ea typeface="Arial"/>
                <a:cs typeface="Arial"/>
              </a:defRPr>
            </a:pPr>
            <a:r>
              <a:rPr sz="2175" b="0">
                <a:solidFill>
                  <a:srgbClr val="E2E8F0"/>
                </a:solidFill>
                <a:latin typeface="Arial"/>
                <a:ea typeface="Arial"/>
                <a:cs typeface="Arial"/>
              </a:rPr>
              <a:t>Customer evidence, financial target and first-month plan</a:t>
            </a:r>
          </a:p>
        </p:txBody>
      </p:sp>
      <p:sp>
        <p:nvSpPr>
          <p:cNvPr id="4" name="">
            <a:extLst xmlns:a="http://schemas.openxmlformats.org/drawingml/2006/main">
              <a:ext uri="{FF2B5EF4-FFF2-40B4-BE49-F238E27FC236}">
                <a16:creationId xmlns:a16="http://schemas.microsoft.com/office/drawing/2014/main" id="{472E688B-1222-4B2B-8402-698CB6642387}"/>
              </a:ext>
            </a:extLst>
          </p:cNvPr>
          <p:cNvSpPr>
            <a:spLocks xmlns:a="http://schemas.openxmlformats.org/drawingml/2006/main" noGrp="1"/>
          </p:cNvSpPr>
          <p:nvPr/>
        </p:nvSpPr>
        <p:spPr>
          <a:xfrm xmlns:a="http://schemas.openxmlformats.org/drawingml/2006/main">
            <a:off x="723900" y="5753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FDE6C4"/>
                </a:solidFill>
                <a:latin typeface="Arial"/>
                <a:ea typeface="Arial"/>
                <a:cs typeface="Arial"/>
              </a:defRPr>
            </a:defPPr>
            <a:lvl1pPr>
              <a:buNone/>
              <a:defRPr sz="1725" b="0">
                <a:solidFill>
                  <a:srgbClr val="FDE6C4"/>
                </a:solidFill>
                <a:latin typeface="Arial"/>
                <a:ea typeface="Arial"/>
                <a:cs typeface="Arial"/>
              </a:defRPr>
            </a:lvl1pPr>
            <a:lvl2pPr>
              <a:buNone/>
              <a:defRPr sz="1725" b="0">
                <a:solidFill>
                  <a:srgbClr val="FDE6C4"/>
                </a:solidFill>
                <a:latin typeface="Arial"/>
                <a:ea typeface="Arial"/>
                <a:cs typeface="Arial"/>
              </a:defRPr>
            </a:lvl2pPr>
            <a:lvl3pPr>
              <a:buNone/>
              <a:defRPr sz="1725" b="0">
                <a:solidFill>
                  <a:srgbClr val="FDE6C4"/>
                </a:solidFill>
                <a:latin typeface="Arial"/>
                <a:ea typeface="Arial"/>
                <a:cs typeface="Arial"/>
              </a:defRPr>
            </a:lvl3pPr>
            <a:lvl4pPr>
              <a:buNone/>
              <a:defRPr sz="1725" b="0">
                <a:solidFill>
                  <a:srgbClr val="FDE6C4"/>
                </a:solidFill>
                <a:latin typeface="Arial"/>
                <a:ea typeface="Arial"/>
                <a:cs typeface="Arial"/>
              </a:defRPr>
            </a:lvl4pPr>
            <a:lvl5pPr>
              <a:buNone/>
              <a:defRPr sz="1725" b="0">
                <a:solidFill>
                  <a:srgbClr val="FDE6C4"/>
                </a:solidFill>
                <a:latin typeface="Arial"/>
                <a:ea typeface="Arial"/>
                <a:cs typeface="Arial"/>
              </a:defRPr>
            </a:lvl5pPr>
            <a:lvl6pPr>
              <a:buNone/>
              <a:defRPr sz="1725" b="0">
                <a:solidFill>
                  <a:srgbClr val="FDE6C4"/>
                </a:solidFill>
                <a:latin typeface="Arial"/>
                <a:ea typeface="Arial"/>
                <a:cs typeface="Arial"/>
              </a:defRPr>
            </a:lvl6pPr>
            <a:lvl7pPr>
              <a:buNone/>
              <a:defRPr sz="1725" b="0">
                <a:solidFill>
                  <a:srgbClr val="FDE6C4"/>
                </a:solidFill>
                <a:latin typeface="Arial"/>
                <a:ea typeface="Arial"/>
                <a:cs typeface="Arial"/>
              </a:defRPr>
            </a:lvl7pPr>
            <a:lvl8pPr>
              <a:buNone/>
              <a:defRPr sz="1725" b="0">
                <a:solidFill>
                  <a:srgbClr val="FDE6C4"/>
                </a:solidFill>
                <a:latin typeface="Arial"/>
                <a:ea typeface="Arial"/>
                <a:cs typeface="Arial"/>
              </a:defRPr>
            </a:lvl8pPr>
            <a:lvl9pPr>
              <a:buNone/>
              <a:defRPr sz="1725" b="0">
                <a:solidFill>
                  <a:srgbClr val="FDE6C4"/>
                </a:solidFill>
                <a:latin typeface="Arial"/>
                <a:ea typeface="Arial"/>
                <a:cs typeface="Arial"/>
              </a:defRPr>
            </a:lvl9pPr>
          </a:lstStyle>
          <a:p xmlns:a="http://schemas.openxmlformats.org/drawingml/2006/main">
            <a:pPr>
              <a:buNone/>
              <a:defRPr sz="1725" b="0">
                <a:solidFill>
                  <a:srgbClr val="FDE6C4"/>
                </a:solidFill>
                <a:latin typeface="Arial"/>
                <a:ea typeface="Arial"/>
                <a:cs typeface="Arial"/>
              </a:defRPr>
            </a:pPr>
            <a:r>
              <a:rPr sz="1725" b="0">
                <a:solidFill>
                  <a:srgbClr val="FDE6C4"/>
                </a:solidFill>
                <a:latin typeface="Arial"/>
                <a:ea typeface="Arial"/>
                <a:cs typeface="Arial"/>
              </a:rPr>
              <a:t/>
            </a:r>
          </a:p>
        </p:txBody>
      </p:sp>
    </p:spTree>
    <p:extLst>
      <p:ext uri="{BB962C8B-B14F-4D97-AF65-F5344CB8AC3E}">
        <p14:creationId xmlns:p14="http://schemas.microsoft.com/office/powerpoint/2010/main" val="15284977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3BE416-C4C1-4C30-8E28-A2FEF3C4FB3B}"/>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Customer evidence and the product choice</a:t>
            </a:r>
          </a:p>
        </p:txBody>
      </p:sp>
      <p:sp>
        <p:nvSpPr>
          <p:cNvPr id="2" name="">
            <a:extLst xmlns:a="http://schemas.openxmlformats.org/drawingml/2006/main">
              <a:ext uri="{FF2B5EF4-FFF2-40B4-BE49-F238E27FC236}">
                <a16:creationId xmlns:a16="http://schemas.microsoft.com/office/drawing/2014/main" id="{854C0AD2-3707-4E5F-9711-0A1FF0388BE4}"/>
              </a:ext>
            </a:extLst>
          </p:cNvPr>
          <p:cNvSpPr>
            <a:spLocks xmlns:a="http://schemas.openxmlformats.org/drawingml/2006/main" noGrp="1"/>
          </p:cNvSpPr>
          <p:nvPr/>
        </p:nvSpPr>
        <p:spPr>
          <a:xfrm xmlns:a="http://schemas.openxmlformats.org/drawingml/2006/main">
            <a:off x="111442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xmlns:a="http://schemas.openxmlformats.org/drawingml/2006/main">
            <a:pPr>
              <a:defRPr sz="1200" b="0">
                <a:solidFill>
                  <a:srgbClr val="526477"/>
                </a:solidFill>
                <a:latin typeface="Arial"/>
                <a:ea typeface="Arial"/>
                <a:cs typeface="Arial"/>
              </a:defRPr>
            </a:pPr>
            <a:r>
              <a:rPr sz="1200" b="0">
                <a:solidFill>
                  <a:srgbClr val="526477"/>
                </a:solidFill>
                <a:latin typeface="Arial"/>
                <a:ea typeface="Arial"/>
                <a:cs typeface="Arial"/>
              </a:rPr>
              <a:t>2</a:t>
            </a:r>
          </a:p>
        </p:txBody>
      </p:sp>
      <p:graphicFrame>
        <p:nvGraphicFramePr>
          <p:cNvPr id="3" name="Chart">
            <a:extLst xmlns:a="http://schemas.openxmlformats.org/drawingml/2006/main">
              <a:ext uri="{FF2B5EF4-FFF2-40B4-BE49-F238E27FC236}">
                <a16:creationId xmlns:a16="http://schemas.microsoft.com/office/drawing/2014/main" id="{F38291F9-6019-4E3C-ADB9-474FA3D9B4CE}"/>
              </a:ext>
            </a:extLst>
          </p:cNvPr>
          <p:cNvGraphicFramePr/>
          <p:nvPr/>
        </p:nvGraphicFramePr>
        <p:xfrm>
          <a:off xmlns:a="http://schemas.openxmlformats.org/drawingml/2006/main" x="685800" y="1619250"/>
          <a:ext xmlns:a="http://schemas.openxmlformats.org/drawingml/2006/main" cx="6191250" cy="3714750"/>
        </p:xfrm>
        <a:graphic xmlns:a="http://schemas.openxmlformats.org/drawingml/2006/main">
          <a:graphicData uri="http://schemas.openxmlformats.org/drawingml/2006/chart">
            <c:chart xmlns:r="http://schemas.openxmlformats.org/officeDocument/2006/relationships" xmlns:c="http://schemas.openxmlformats.org/drawingml/2006/chart" r:id="Red9840d440dd49f5"/>
          </a:graphicData>
        </a:graphic>
      </p:graphicFrame>
      <p:sp>
        <p:nvSpPr>
          <p:cNvPr id="4" name="">
            <a:extLst xmlns:a="http://schemas.openxmlformats.org/drawingml/2006/main">
              <a:ext uri="{FF2B5EF4-FFF2-40B4-BE49-F238E27FC236}">
                <a16:creationId xmlns:a16="http://schemas.microsoft.com/office/drawing/2014/main" id="{ED0DE362-0A63-4394-BF1E-21B1C077E8EA}"/>
              </a:ext>
            </a:extLst>
          </p:cNvPr>
          <p:cNvSpPr>
            <a:spLocks xmlns:a="http://schemas.openxmlformats.org/drawingml/2006/main" noGrp="1"/>
          </p:cNvSpPr>
          <p:nvPr/>
        </p:nvSpPr>
        <p:spPr>
          <a:xfrm xmlns:a="http://schemas.openxmlformats.org/drawingml/2006/main">
            <a:off x="7381875" y="167640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324F"/>
                </a:solidFill>
                <a:latin typeface="Arial"/>
                <a:ea typeface="Arial"/>
                <a:cs typeface="Arial"/>
              </a:defRPr>
            </a:defPPr>
            <a:lvl1pPr>
              <a:defRPr sz="2175" b="1">
                <a:solidFill>
                  <a:srgbClr val="16324F"/>
                </a:solidFill>
                <a:latin typeface="Arial"/>
                <a:ea typeface="Arial"/>
                <a:cs typeface="Arial"/>
              </a:defRPr>
            </a:lvl1pPr>
            <a:lvl2pPr>
              <a:defRPr sz="2175" b="1">
                <a:solidFill>
                  <a:srgbClr val="16324F"/>
                </a:solidFill>
                <a:latin typeface="Arial"/>
                <a:ea typeface="Arial"/>
                <a:cs typeface="Arial"/>
              </a:defRPr>
            </a:lvl2pPr>
            <a:lvl3pPr>
              <a:defRPr sz="2175" b="1">
                <a:solidFill>
                  <a:srgbClr val="16324F"/>
                </a:solidFill>
                <a:latin typeface="Arial"/>
                <a:ea typeface="Arial"/>
                <a:cs typeface="Arial"/>
              </a:defRPr>
            </a:lvl3pPr>
            <a:lvl4pPr>
              <a:defRPr sz="2175" b="1">
                <a:solidFill>
                  <a:srgbClr val="16324F"/>
                </a:solidFill>
                <a:latin typeface="Arial"/>
                <a:ea typeface="Arial"/>
                <a:cs typeface="Arial"/>
              </a:defRPr>
            </a:lvl4pPr>
            <a:lvl5pPr>
              <a:defRPr sz="2175" b="1">
                <a:solidFill>
                  <a:srgbClr val="16324F"/>
                </a:solidFill>
                <a:latin typeface="Arial"/>
                <a:ea typeface="Arial"/>
                <a:cs typeface="Arial"/>
              </a:defRPr>
            </a:lvl5pPr>
            <a:lvl6pPr>
              <a:defRPr sz="2175" b="1">
                <a:solidFill>
                  <a:srgbClr val="16324F"/>
                </a:solidFill>
                <a:latin typeface="Arial"/>
                <a:ea typeface="Arial"/>
                <a:cs typeface="Arial"/>
              </a:defRPr>
            </a:lvl6pPr>
            <a:lvl7pPr>
              <a:defRPr sz="2175" b="1">
                <a:solidFill>
                  <a:srgbClr val="16324F"/>
                </a:solidFill>
                <a:latin typeface="Arial"/>
                <a:ea typeface="Arial"/>
                <a:cs typeface="Arial"/>
              </a:defRPr>
            </a:lvl7pPr>
            <a:lvl8pPr>
              <a:defRPr sz="2175" b="1">
                <a:solidFill>
                  <a:srgbClr val="16324F"/>
                </a:solidFill>
                <a:latin typeface="Arial"/>
                <a:ea typeface="Arial"/>
                <a:cs typeface="Arial"/>
              </a:defRPr>
            </a:lvl8pPr>
            <a:lvl9pPr>
              <a:defRPr sz="2175" b="1">
                <a:solidFill>
                  <a:srgbClr val="16324F"/>
                </a:solidFill>
                <a:latin typeface="Arial"/>
                <a:ea typeface="Arial"/>
                <a:cs typeface="Arial"/>
              </a:defRPr>
            </a:lvl9pPr>
          </a:lstStyle>
          <a:p xmlns:a="http://schemas.openxmlformats.org/drawingml/2006/main">
            <a:pPr>
              <a:defRPr sz="2175" b="1">
                <a:solidFill>
                  <a:srgbClr val="16324F"/>
                </a:solidFill>
                <a:latin typeface="Arial"/>
                <a:ea typeface="Arial"/>
                <a:cs typeface="Arial"/>
              </a:defRPr>
            </a:pPr>
            <a:r>
              <a:rPr sz="2175" b="1">
                <a:solidFill>
                  <a:srgbClr val="16324F"/>
                </a:solidFill>
                <a:latin typeface="Arial"/>
                <a:ea typeface="Arial"/>
                <a:cs typeface="Arial"/>
              </a:rPr>
              <a:t>Saturday survey only</a:t>
            </a:r>
          </a:p>
        </p:txBody>
      </p:sp>
      <p:sp>
        <p:nvSpPr>
          <p:cNvPr id="5" name="">
            <a:extLst xmlns:a="http://schemas.openxmlformats.org/drawingml/2006/main">
              <a:ext uri="{FF2B5EF4-FFF2-40B4-BE49-F238E27FC236}">
                <a16:creationId xmlns:a16="http://schemas.microsoft.com/office/drawing/2014/main" id="{2A147C8B-1490-4A2E-B940-F0921F67297D}"/>
              </a:ext>
            </a:extLst>
          </p:cNvPr>
          <p:cNvSpPr>
            <a:spLocks xmlns:a="http://schemas.openxmlformats.org/drawingml/2006/main" noGrp="1"/>
          </p:cNvSpPr>
          <p:nvPr/>
        </p:nvSpPr>
        <p:spPr>
          <a:xfrm xmlns:a="http://schemas.openxmlformats.org/drawingml/2006/main">
            <a:off x="7381875" y="2333625"/>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477"/>
                </a:solidFill>
                <a:latin typeface="Arial"/>
                <a:ea typeface="Arial"/>
                <a:cs typeface="Arial"/>
              </a:defRPr>
            </a:defPPr>
            <a:lvl1pPr>
              <a:defRPr sz="1950" b="0">
                <a:solidFill>
                  <a:srgbClr val="526477"/>
                </a:solidFill>
                <a:latin typeface="Arial"/>
                <a:ea typeface="Arial"/>
                <a:cs typeface="Arial"/>
              </a:defRPr>
            </a:lvl1pPr>
            <a:lvl2pPr>
              <a:defRPr sz="1950" b="0">
                <a:solidFill>
                  <a:srgbClr val="526477"/>
                </a:solidFill>
                <a:latin typeface="Arial"/>
                <a:ea typeface="Arial"/>
                <a:cs typeface="Arial"/>
              </a:defRPr>
            </a:lvl2pPr>
            <a:lvl3pPr>
              <a:defRPr sz="1950" b="0">
                <a:solidFill>
                  <a:srgbClr val="526477"/>
                </a:solidFill>
                <a:latin typeface="Arial"/>
                <a:ea typeface="Arial"/>
                <a:cs typeface="Arial"/>
              </a:defRPr>
            </a:lvl3pPr>
            <a:lvl4pPr>
              <a:defRPr sz="1950" b="0">
                <a:solidFill>
                  <a:srgbClr val="526477"/>
                </a:solidFill>
                <a:latin typeface="Arial"/>
                <a:ea typeface="Arial"/>
                <a:cs typeface="Arial"/>
              </a:defRPr>
            </a:lvl4pPr>
            <a:lvl5pPr>
              <a:defRPr sz="1950" b="0">
                <a:solidFill>
                  <a:srgbClr val="526477"/>
                </a:solidFill>
                <a:latin typeface="Arial"/>
                <a:ea typeface="Arial"/>
                <a:cs typeface="Arial"/>
              </a:defRPr>
            </a:lvl5pPr>
            <a:lvl6pPr>
              <a:defRPr sz="1950" b="0">
                <a:solidFill>
                  <a:srgbClr val="526477"/>
                </a:solidFill>
                <a:latin typeface="Arial"/>
                <a:ea typeface="Arial"/>
                <a:cs typeface="Arial"/>
              </a:defRPr>
            </a:lvl6pPr>
            <a:lvl7pPr>
              <a:defRPr sz="1950" b="0">
                <a:solidFill>
                  <a:srgbClr val="526477"/>
                </a:solidFill>
                <a:latin typeface="Arial"/>
                <a:ea typeface="Arial"/>
                <a:cs typeface="Arial"/>
              </a:defRPr>
            </a:lvl7pPr>
            <a:lvl8pPr>
              <a:defRPr sz="1950" b="0">
                <a:solidFill>
                  <a:srgbClr val="526477"/>
                </a:solidFill>
                <a:latin typeface="Arial"/>
                <a:ea typeface="Arial"/>
                <a:cs typeface="Arial"/>
              </a:defRPr>
            </a:lvl8pPr>
            <a:lvl9pPr>
              <a:defRPr sz="1950" b="0">
                <a:solidFill>
                  <a:srgbClr val="526477"/>
                </a:solidFill>
                <a:latin typeface="Arial"/>
                <a:ea typeface="Arial"/>
                <a:cs typeface="Arial"/>
              </a:defRPr>
            </a:lvl9pPr>
          </a:lstStyle>
          <a:p xmlns:a="http://schemas.openxmlformats.org/drawingml/2006/main">
            <a:pPr>
              <a:defRPr sz="1950" b="0">
                <a:solidFill>
                  <a:srgbClr val="526477"/>
                </a:solidFill>
                <a:latin typeface="Arial"/>
                <a:ea typeface="Arial"/>
                <a:cs typeface="Arial"/>
              </a:defRPr>
            </a:pPr>
            <a:r>
              <a:rPr sz="1950" b="0">
                <a:solidFill>
                  <a:srgbClr val="526477"/>
                </a:solidFill>
                <a:latin typeface="Arial"/>
                <a:ea typeface="Arial"/>
                <a:cs typeface="Arial"/>
              </a:rPr>
              <a:t>25 of 100 respondents chose phone accessories. All 25 stated a price limit of at least $18.</a:t>
            </a:r>
          </a:p>
        </p:txBody>
      </p:sp>
      <p:sp>
        <p:nvSpPr>
          <p:cNvPr id="6" name="">
            <a:extLst xmlns:a="http://schemas.openxmlformats.org/drawingml/2006/main">
              <a:ext uri="{FF2B5EF4-FFF2-40B4-BE49-F238E27FC236}">
                <a16:creationId xmlns:a16="http://schemas.microsoft.com/office/drawing/2014/main" id="{475CC69D-96C6-4B66-8EEA-A83EB0446D64}"/>
              </a:ext>
            </a:extLst>
          </p:cNvPr>
          <p:cNvSpPr>
            <a:spLocks xmlns:a="http://schemas.openxmlformats.org/drawingml/2006/main" noGrp="1"/>
          </p:cNvSpPr>
          <p:nvPr/>
        </p:nvSpPr>
        <p:spPr>
          <a:xfrm xmlns:a="http://schemas.openxmlformats.org/drawingml/2006/main">
            <a:off x="7381875" y="3705225"/>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45309"/>
                </a:solidFill>
                <a:latin typeface="Arial"/>
                <a:ea typeface="Arial"/>
                <a:cs typeface="Arial"/>
              </a:defRPr>
            </a:defPPr>
            <a:lvl1pPr>
              <a:defRPr sz="2175" b="1">
                <a:solidFill>
                  <a:srgbClr val="B45309"/>
                </a:solidFill>
                <a:latin typeface="Arial"/>
                <a:ea typeface="Arial"/>
                <a:cs typeface="Arial"/>
              </a:defRPr>
            </a:lvl1pPr>
            <a:lvl2pPr>
              <a:defRPr sz="2175" b="1">
                <a:solidFill>
                  <a:srgbClr val="B45309"/>
                </a:solidFill>
                <a:latin typeface="Arial"/>
                <a:ea typeface="Arial"/>
                <a:cs typeface="Arial"/>
              </a:defRPr>
            </a:lvl2pPr>
            <a:lvl3pPr>
              <a:defRPr sz="2175" b="1">
                <a:solidFill>
                  <a:srgbClr val="B45309"/>
                </a:solidFill>
                <a:latin typeface="Arial"/>
                <a:ea typeface="Arial"/>
                <a:cs typeface="Arial"/>
              </a:defRPr>
            </a:lvl3pPr>
            <a:lvl4pPr>
              <a:defRPr sz="2175" b="1">
                <a:solidFill>
                  <a:srgbClr val="B45309"/>
                </a:solidFill>
                <a:latin typeface="Arial"/>
                <a:ea typeface="Arial"/>
                <a:cs typeface="Arial"/>
              </a:defRPr>
            </a:lvl4pPr>
            <a:lvl5pPr>
              <a:defRPr sz="2175" b="1">
                <a:solidFill>
                  <a:srgbClr val="B45309"/>
                </a:solidFill>
                <a:latin typeface="Arial"/>
                <a:ea typeface="Arial"/>
                <a:cs typeface="Arial"/>
              </a:defRPr>
            </a:lvl5pPr>
            <a:lvl6pPr>
              <a:defRPr sz="2175" b="1">
                <a:solidFill>
                  <a:srgbClr val="B45309"/>
                </a:solidFill>
                <a:latin typeface="Arial"/>
                <a:ea typeface="Arial"/>
                <a:cs typeface="Arial"/>
              </a:defRPr>
            </a:lvl6pPr>
            <a:lvl7pPr>
              <a:defRPr sz="2175" b="1">
                <a:solidFill>
                  <a:srgbClr val="B45309"/>
                </a:solidFill>
                <a:latin typeface="Arial"/>
                <a:ea typeface="Arial"/>
                <a:cs typeface="Arial"/>
              </a:defRPr>
            </a:lvl7pPr>
            <a:lvl8pPr>
              <a:defRPr sz="2175" b="1">
                <a:solidFill>
                  <a:srgbClr val="B45309"/>
                </a:solidFill>
                <a:latin typeface="Arial"/>
                <a:ea typeface="Arial"/>
                <a:cs typeface="Arial"/>
              </a:defRPr>
            </a:lvl8pPr>
            <a:lvl9pPr>
              <a:defRPr sz="2175" b="1">
                <a:solidFill>
                  <a:srgbClr val="B45309"/>
                </a:solidFill>
                <a:latin typeface="Arial"/>
                <a:ea typeface="Arial"/>
                <a:cs typeface="Arial"/>
              </a:defRPr>
            </a:lvl9pPr>
          </a:lstStyle>
          <a:p xmlns:a="http://schemas.openxmlformats.org/drawingml/2006/main">
            <a:pPr>
              <a:defRPr sz="2175" b="1">
                <a:solidFill>
                  <a:srgbClr val="B45309"/>
                </a:solidFill>
                <a:latin typeface="Arial"/>
                <a:ea typeface="Arial"/>
                <a:cs typeface="Arial"/>
              </a:defRPr>
            </a:pPr>
            <a:r>
              <a:rPr sz="2175" b="1">
                <a:solidFill>
                  <a:srgbClr val="B45309"/>
                </a:solidFill>
                <a:latin typeface="Arial"/>
                <a:ea typeface="Arial"/>
                <a:cs typeface="Arial"/>
              </a:rPr>
              <a:t>Recommendation conflict</a:t>
            </a:r>
          </a:p>
        </p:txBody>
      </p:sp>
      <p:sp>
        <p:nvSpPr>
          <p:cNvPr id="7" name="">
            <a:extLst xmlns:a="http://schemas.openxmlformats.org/drawingml/2006/main">
              <a:ext uri="{FF2B5EF4-FFF2-40B4-BE49-F238E27FC236}">
                <a16:creationId xmlns:a16="http://schemas.microsoft.com/office/drawing/2014/main" id="{F61E7300-C586-491F-960E-899017E0E1B4}"/>
              </a:ext>
            </a:extLst>
          </p:cNvPr>
          <p:cNvSpPr>
            <a:spLocks xmlns:a="http://schemas.openxmlformats.org/drawingml/2006/main" noGrp="1"/>
          </p:cNvSpPr>
          <p:nvPr/>
        </p:nvSpPr>
        <p:spPr>
          <a:xfrm xmlns:a="http://schemas.openxmlformats.org/drawingml/2006/main">
            <a:off x="7381875" y="4295775"/>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477"/>
                </a:solidFill>
                <a:latin typeface="Arial"/>
                <a:ea typeface="Arial"/>
                <a:cs typeface="Arial"/>
              </a:defRPr>
            </a:defPPr>
            <a:lvl1pPr>
              <a:defRPr sz="1950" b="0">
                <a:solidFill>
                  <a:srgbClr val="526477"/>
                </a:solidFill>
                <a:latin typeface="Arial"/>
                <a:ea typeface="Arial"/>
                <a:cs typeface="Arial"/>
              </a:defRPr>
            </a:lvl1pPr>
            <a:lvl2pPr>
              <a:defRPr sz="1950" b="0">
                <a:solidFill>
                  <a:srgbClr val="526477"/>
                </a:solidFill>
                <a:latin typeface="Arial"/>
                <a:ea typeface="Arial"/>
                <a:cs typeface="Arial"/>
              </a:defRPr>
            </a:lvl2pPr>
            <a:lvl3pPr>
              <a:defRPr sz="1950" b="0">
                <a:solidFill>
                  <a:srgbClr val="526477"/>
                </a:solidFill>
                <a:latin typeface="Arial"/>
                <a:ea typeface="Arial"/>
                <a:cs typeface="Arial"/>
              </a:defRPr>
            </a:lvl3pPr>
            <a:lvl4pPr>
              <a:defRPr sz="1950" b="0">
                <a:solidFill>
                  <a:srgbClr val="526477"/>
                </a:solidFill>
                <a:latin typeface="Arial"/>
                <a:ea typeface="Arial"/>
                <a:cs typeface="Arial"/>
              </a:defRPr>
            </a:lvl4pPr>
            <a:lvl5pPr>
              <a:defRPr sz="1950" b="0">
                <a:solidFill>
                  <a:srgbClr val="526477"/>
                </a:solidFill>
                <a:latin typeface="Arial"/>
                <a:ea typeface="Arial"/>
                <a:cs typeface="Arial"/>
              </a:defRPr>
            </a:lvl5pPr>
            <a:lvl6pPr>
              <a:defRPr sz="1950" b="0">
                <a:solidFill>
                  <a:srgbClr val="526477"/>
                </a:solidFill>
                <a:latin typeface="Arial"/>
                <a:ea typeface="Arial"/>
                <a:cs typeface="Arial"/>
              </a:defRPr>
            </a:lvl6pPr>
            <a:lvl7pPr>
              <a:defRPr sz="1950" b="0">
                <a:solidFill>
                  <a:srgbClr val="526477"/>
                </a:solidFill>
                <a:latin typeface="Arial"/>
                <a:ea typeface="Arial"/>
                <a:cs typeface="Arial"/>
              </a:defRPr>
            </a:lvl7pPr>
            <a:lvl8pPr>
              <a:defRPr sz="1950" b="0">
                <a:solidFill>
                  <a:srgbClr val="526477"/>
                </a:solidFill>
                <a:latin typeface="Arial"/>
                <a:ea typeface="Arial"/>
                <a:cs typeface="Arial"/>
              </a:defRPr>
            </a:lvl8pPr>
            <a:lvl9pPr>
              <a:defRPr sz="1950" b="0">
                <a:solidFill>
                  <a:srgbClr val="526477"/>
                </a:solidFill>
                <a:latin typeface="Arial"/>
                <a:ea typeface="Arial"/>
                <a:cs typeface="Arial"/>
              </a:defRPr>
            </a:lvl9pPr>
          </a:lstStyle>
          <a:p xmlns:a="http://schemas.openxmlformats.org/drawingml/2006/main">
            <a:pPr>
              <a:defRPr sz="1950" b="0">
                <a:solidFill>
                  <a:srgbClr val="526477"/>
                </a:solidFill>
                <a:latin typeface="Arial"/>
                <a:ea typeface="Arial"/>
                <a:cs typeface="Arial"/>
              </a:defRPr>
            </a:pPr>
            <a:r>
              <a:rPr sz="1950" b="0">
                <a:solidFill>
                  <a:srgbClr val="526477"/>
                </a:solidFill>
                <a:latin typeface="Arial"/>
                <a:ea typeface="Arial"/>
                <a:cs typeface="Arial"/>
              </a:rPr>
              <a:t>Customer Analyst favors $3 snacks. The current finance and risk work models phone accessories.</a:t>
            </a:r>
          </a:p>
        </p:txBody>
      </p:sp>
      <p:sp>
        <p:nvSpPr>
          <p:cNvPr id="8" name="">
            <a:extLst xmlns:a="http://schemas.openxmlformats.org/drawingml/2006/main">
              <a:ext uri="{FF2B5EF4-FFF2-40B4-BE49-F238E27FC236}">
                <a16:creationId xmlns:a16="http://schemas.microsoft.com/office/drawing/2014/main" id="{E6A615BE-18E4-45AB-946D-E88B02873948}"/>
              </a:ext>
            </a:extLst>
          </p:cNvPr>
          <p:cNvSpPr>
            <a:spLocks xmlns:a="http://schemas.openxmlformats.org/drawingml/2006/main" noGrp="1"/>
          </p:cNvSpPr>
          <p:nvPr/>
        </p:nvSpPr>
        <p:spPr>
          <a:xfrm xmlns:a="http://schemas.openxmlformats.org/drawingml/2006/main">
            <a:off x="685800" y="58007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45309"/>
                </a:solidFill>
                <a:latin typeface="Arial"/>
                <a:ea typeface="Arial"/>
                <a:cs typeface="Arial"/>
              </a:defRPr>
            </a:defPPr>
            <a:lvl1pPr>
              <a:defRPr sz="1875" b="0">
                <a:solidFill>
                  <a:srgbClr val="B45309"/>
                </a:solidFill>
                <a:latin typeface="Arial"/>
                <a:ea typeface="Arial"/>
                <a:cs typeface="Arial"/>
              </a:defRPr>
            </a:lvl1pPr>
            <a:lvl2pPr>
              <a:defRPr sz="1875" b="0">
                <a:solidFill>
                  <a:srgbClr val="B45309"/>
                </a:solidFill>
                <a:latin typeface="Arial"/>
                <a:ea typeface="Arial"/>
                <a:cs typeface="Arial"/>
              </a:defRPr>
            </a:lvl2pPr>
            <a:lvl3pPr>
              <a:defRPr sz="1875" b="0">
                <a:solidFill>
                  <a:srgbClr val="B45309"/>
                </a:solidFill>
                <a:latin typeface="Arial"/>
                <a:ea typeface="Arial"/>
                <a:cs typeface="Arial"/>
              </a:defRPr>
            </a:lvl3pPr>
            <a:lvl4pPr>
              <a:defRPr sz="1875" b="0">
                <a:solidFill>
                  <a:srgbClr val="B45309"/>
                </a:solidFill>
                <a:latin typeface="Arial"/>
                <a:ea typeface="Arial"/>
                <a:cs typeface="Arial"/>
              </a:defRPr>
            </a:lvl4pPr>
            <a:lvl5pPr>
              <a:defRPr sz="1875" b="0">
                <a:solidFill>
                  <a:srgbClr val="B45309"/>
                </a:solidFill>
                <a:latin typeface="Arial"/>
                <a:ea typeface="Arial"/>
                <a:cs typeface="Arial"/>
              </a:defRPr>
            </a:lvl5pPr>
            <a:lvl6pPr>
              <a:defRPr sz="1875" b="0">
                <a:solidFill>
                  <a:srgbClr val="B45309"/>
                </a:solidFill>
                <a:latin typeface="Arial"/>
                <a:ea typeface="Arial"/>
                <a:cs typeface="Arial"/>
              </a:defRPr>
            </a:lvl6pPr>
            <a:lvl7pPr>
              <a:defRPr sz="1875" b="0">
                <a:solidFill>
                  <a:srgbClr val="B45309"/>
                </a:solidFill>
                <a:latin typeface="Arial"/>
                <a:ea typeface="Arial"/>
                <a:cs typeface="Arial"/>
              </a:defRPr>
            </a:lvl7pPr>
            <a:lvl8pPr>
              <a:defRPr sz="1875" b="0">
                <a:solidFill>
                  <a:srgbClr val="B45309"/>
                </a:solidFill>
                <a:latin typeface="Arial"/>
                <a:ea typeface="Arial"/>
                <a:cs typeface="Arial"/>
              </a:defRPr>
            </a:lvl8pPr>
            <a:lvl9pPr>
              <a:defRPr sz="1875" b="0">
                <a:solidFill>
                  <a:srgbClr val="B45309"/>
                </a:solidFill>
                <a:latin typeface="Arial"/>
                <a:ea typeface="Arial"/>
                <a:cs typeface="Arial"/>
              </a:defRPr>
            </a:lvl9pPr>
          </a:lstStyle>
          <a:p xmlns:a="http://schemas.openxmlformats.org/drawingml/2006/main">
            <a:pPr>
              <a:defRPr sz="1875" b="0">
                <a:solidFill>
                  <a:srgbClr val="B45309"/>
                </a:solidFill>
                <a:latin typeface="Arial"/>
                <a:ea typeface="Arial"/>
                <a:cs typeface="Arial"/>
              </a:defRPr>
            </a:pPr>
            <a:r>
              <a:rPr sz="1875" b="0">
                <a:solidFill>
                  <a:srgbClr val="B45309"/>
                </a:solidFill>
                <a:latin typeface="Arial"/>
                <a:ea typeface="Arial"/>
                <a:cs typeface="Arial"/>
              </a:rPr>
              <a:t>Interest and passing visits do not establish a purchase rate.</a:t>
            </a:r>
          </a:p>
        </p:txBody>
      </p:sp>
    </p:spTree>
    <p:extLst>
      <p:ext uri="{BB962C8B-B14F-4D97-AF65-F5344CB8AC3E}">
        <p14:creationId xmlns:p14="http://schemas.microsoft.com/office/powerpoint/2010/main" val="16100800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3B926A-5DE8-4FBB-AAFE-93A28AD045DE}"/>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Three-month cost and cash requirements</a:t>
            </a:r>
          </a:p>
        </p:txBody>
      </p:sp>
      <p:sp>
        <p:nvSpPr>
          <p:cNvPr id="2" name="">
            <a:extLst xmlns:a="http://schemas.openxmlformats.org/drawingml/2006/main">
              <a:ext uri="{FF2B5EF4-FFF2-40B4-BE49-F238E27FC236}">
                <a16:creationId xmlns:a16="http://schemas.microsoft.com/office/drawing/2014/main" id="{5AF1B4E9-BEB9-4DE8-A91E-684093028CDF}"/>
              </a:ext>
            </a:extLst>
          </p:cNvPr>
          <p:cNvSpPr>
            <a:spLocks xmlns:a="http://schemas.openxmlformats.org/drawingml/2006/main" noGrp="1"/>
          </p:cNvSpPr>
          <p:nvPr/>
        </p:nvSpPr>
        <p:spPr>
          <a:xfrm xmlns:a="http://schemas.openxmlformats.org/drawingml/2006/main">
            <a:off x="111442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xmlns:a="http://schemas.openxmlformats.org/drawingml/2006/main">
            <a:pPr>
              <a:defRPr sz="1200" b="0">
                <a:solidFill>
                  <a:srgbClr val="526477"/>
                </a:solidFill>
                <a:latin typeface="Arial"/>
                <a:ea typeface="Arial"/>
                <a:cs typeface="Arial"/>
              </a:defRPr>
            </a:pPr>
            <a:r>
              <a:rPr sz="1200" b="0">
                <a:solidFill>
                  <a:srgbClr val="526477"/>
                </a:solidFill>
                <a:latin typeface="Arial"/>
                <a:ea typeface="Arial"/>
                <a:cs typeface="Arial"/>
              </a:rPr>
              <a:t>3</a:t>
            </a:r>
          </a:p>
        </p:txBody>
      </p:sp>
      <p:graphicFrame>
        <p:nvGraphicFramePr>
          <p:cNvPr id="3" name="">
            <a:extLst xmlns:a="http://schemas.openxmlformats.org/drawingml/2006/main">
              <a:ext uri="{FF2B5EF4-FFF2-40B4-BE49-F238E27FC236}">
                <a16:creationId xmlns:a16="http://schemas.microsoft.com/office/drawing/2014/main" id="{3440C260-9026-473C-A570-28411C068E68}"/>
              </a:ext>
            </a:extLst>
          </p:cNvPr>
          <p:cNvGraphicFramePr/>
          <p:nvPr/>
        </p:nvGraphicFramePr>
        <p:xfrm>
          <a:off xmlns:a="http://schemas.openxmlformats.org/drawingml/2006/main" x="685800" y="1543050"/>
          <a:ext xmlns:a="http://schemas.openxmlformats.org/drawingml/2006/main" cx="6524625" cy="4286250"/>
        </p:xfrm>
        <a:graphic xmlns:a="http://schemas.openxmlformats.org/drawingml/2006/main">
          <a:graphicData uri="http://schemas.openxmlformats.org/drawingml/2006/table">
            <a:tbl>
              <a:tblPr/>
              <a:tblGrid>
                <a:gridCol w="4476750"/>
                <a:gridCol w="2047875"/>
              </a:tblGrid>
              <a:tr h="535781">
                <a:tc>
                  <a:txBody>
                    <a:bodyPr/>
                    <a:lstStyle/>
                    <a:p>
                      <a:r>
                        <a:rPr sz="1725" b="1">
                          <a:solidFill>
                            <a:srgbClr val="FFFFFF"/>
                          </a:solidFill>
                          <a:latin typeface="Arial"/>
                          <a:ea typeface="Arial"/>
                          <a:cs typeface="Arial"/>
                        </a:rPr>
                        <a:t>Project expense</a:t>
                      </a:r>
                    </a:p>
                  </a:txBody>
                  <a:tcPr marL="114300" marR="114300" marT="95250" marB="95250">
                    <a:lnL w="5715">
                      <a:solidFill>
                        <a:srgbClr val="D7E0E8"/>
                      </a:solidFill>
                      <a:prstDash val="solid"/>
                    </a:lnL>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c>
                  <a:txBody>
                    <a:bodyPr/>
                    <a:lstStyle/>
                    <a:p>
                      <a:r>
                        <a:rPr sz="1725" b="1">
                          <a:solidFill>
                            <a:srgbClr val="FFFFFF"/>
                          </a:solidFill>
                          <a:latin typeface="Arial"/>
                          <a:ea typeface="Arial"/>
                          <a:cs typeface="Arial"/>
                        </a:rPr>
                        <a:t>June–August</a:t>
                      </a:r>
                    </a:p>
                  </a:txBody>
                  <a:tcPr marL="114300" marR="114300" marT="95250" marB="95250">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r>
              <a:tr h="535781">
                <a:tc>
                  <a:txBody>
                    <a:bodyPr/>
                    <a:lstStyle/>
                    <a:p>
                      <a:r>
                        <a:rPr sz="1725">
                          <a:solidFill>
                            <a:srgbClr val="16324F"/>
                          </a:solidFill>
                          <a:latin typeface="Arial"/>
                          <a:ea typeface="Arial"/>
                          <a:cs typeface="Arial"/>
                        </a:rPr>
                        <a:t>Staffing, all opening hours</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$16,192.00</a:t>
                      </a:r>
                    </a:p>
                  </a:txBody>
                  <a:tcPr marL="114300" marR="114300" marT="95250" marB="95250">
                    <a:lnR w="5715">
                      <a:solidFill>
                        <a:srgbClr val="D7E0E8"/>
                      </a:solidFill>
                      <a:prstDash val="solid"/>
                    </a:lnR>
                    <a:lnB w="5715">
                      <a:solidFill>
                        <a:srgbClr val="D7E0E8"/>
                      </a:solidFill>
                      <a:prstDash val="solid"/>
                    </a:lnB>
                    <a:solidFill>
                      <a:srgbClr val="FFFFFF"/>
                    </a:solidFill>
                  </a:tcPr>
                </a:tc>
              </a:tr>
              <a:tr h="535781">
                <a:tc>
                  <a:txBody>
                    <a:bodyPr/>
                    <a:lstStyle/>
                    <a:p>
                      <a:r>
                        <a:rPr sz="1725">
                          <a:solidFill>
                            <a:srgbClr val="16324F"/>
                          </a:solidFill>
                          <a:latin typeface="Arial"/>
                          <a:ea typeface="Arial"/>
                          <a:cs typeface="Arial"/>
                        </a:rPr>
                        <a:t>Rent</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$7,500.00</a:t>
                      </a:r>
                    </a:p>
                  </a:txBody>
                  <a:tcPr marL="114300" marR="114300" marT="95250" marB="95250">
                    <a:lnR w="5715">
                      <a:solidFill>
                        <a:srgbClr val="D7E0E8"/>
                      </a:solidFill>
                      <a:prstDash val="solid"/>
                    </a:lnR>
                    <a:lnB w="5715">
                      <a:solidFill>
                        <a:srgbClr val="D7E0E8"/>
                      </a:solidFill>
                      <a:prstDash val="solid"/>
                    </a:lnB>
                    <a:solidFill>
                      <a:srgbClr val="FFFFFF"/>
                    </a:solidFill>
                  </a:tcPr>
                </a:tc>
              </a:tr>
              <a:tr h="535781">
                <a:tc>
                  <a:txBody>
                    <a:bodyPr/>
                    <a:lstStyle/>
                    <a:p>
                      <a:r>
                        <a:rPr sz="1725">
                          <a:solidFill>
                            <a:srgbClr val="16324F"/>
                          </a:solidFill>
                          <a:latin typeface="Arial"/>
                          <a:ea typeface="Arial"/>
                          <a:cs typeface="Arial"/>
                        </a:rPr>
                        <a:t>Stock purchased, 1,950 items</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$7,800.00</a:t>
                      </a:r>
                    </a:p>
                  </a:txBody>
                  <a:tcPr marL="114300" marR="114300" marT="95250" marB="95250">
                    <a:lnR w="5715">
                      <a:solidFill>
                        <a:srgbClr val="D7E0E8"/>
                      </a:solidFill>
                      <a:prstDash val="solid"/>
                    </a:lnR>
                    <a:lnB w="5715">
                      <a:solidFill>
                        <a:srgbClr val="D7E0E8"/>
                      </a:solidFill>
                      <a:prstDash val="solid"/>
                    </a:lnB>
                    <a:solidFill>
                      <a:srgbClr val="FFFFFF"/>
                    </a:solidFill>
                  </a:tcPr>
                </a:tc>
              </a:tr>
              <a:tr h="535781">
                <a:tc>
                  <a:txBody>
                    <a:bodyPr/>
                    <a:lstStyle/>
                    <a:p>
                      <a:r>
                        <a:rPr sz="1725">
                          <a:solidFill>
                            <a:srgbClr val="16324F"/>
                          </a:solidFill>
                          <a:latin typeface="Arial"/>
                          <a:ea typeface="Arial"/>
                          <a:cs typeface="Arial"/>
                        </a:rPr>
                        <a:t>Card processing</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$1,040.04</a:t>
                      </a:r>
                    </a:p>
                  </a:txBody>
                  <a:tcPr marL="114300" marR="114300" marT="95250" marB="95250">
                    <a:lnR w="5715">
                      <a:solidFill>
                        <a:srgbClr val="D7E0E8"/>
                      </a:solidFill>
                      <a:prstDash val="solid"/>
                    </a:lnR>
                    <a:lnB w="5715">
                      <a:solidFill>
                        <a:srgbClr val="D7E0E8"/>
                      </a:solidFill>
                      <a:prstDash val="solid"/>
                    </a:lnB>
                    <a:solidFill>
                      <a:srgbClr val="FFFFFF"/>
                    </a:solidFill>
                  </a:tcPr>
                </a:tc>
              </a:tr>
              <a:tr h="535781">
                <a:tc>
                  <a:txBody>
                    <a:bodyPr/>
                    <a:lstStyle/>
                    <a:p>
                      <a:r>
                        <a:rPr sz="1725">
                          <a:solidFill>
                            <a:srgbClr val="16324F"/>
                          </a:solidFill>
                          <a:latin typeface="Arial"/>
                          <a:ea typeface="Arial"/>
                          <a:cs typeface="Arial"/>
                        </a:rPr>
                        <a:t>One-time setup and promotion</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$1,450.00</a:t>
                      </a:r>
                    </a:p>
                  </a:txBody>
                  <a:tcPr marL="114300" marR="114300" marT="95250" marB="95250">
                    <a:lnR w="5715">
                      <a:solidFill>
                        <a:srgbClr val="D7E0E8"/>
                      </a:solidFill>
                      <a:prstDash val="solid"/>
                    </a:lnR>
                    <a:lnB w="5715">
                      <a:solidFill>
                        <a:srgbClr val="D7E0E8"/>
                      </a:solidFill>
                      <a:prstDash val="solid"/>
                    </a:lnB>
                    <a:solidFill>
                      <a:srgbClr val="FFFFFF"/>
                    </a:solidFill>
                  </a:tcPr>
                </a:tc>
              </a:tr>
              <a:tr h="535781">
                <a:tc>
                  <a:txBody>
                    <a:bodyPr/>
                    <a:lstStyle/>
                    <a:p>
                      <a:r>
                        <a:rPr sz="1725">
                          <a:solidFill>
                            <a:srgbClr val="16324F"/>
                          </a:solidFill>
                          <a:latin typeface="Arial"/>
                          <a:ea typeface="Arial"/>
                          <a:cs typeface="Arial"/>
                        </a:rPr>
                        <a:t>Terminal, insurance, cleaning</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$675.00</a:t>
                      </a:r>
                    </a:p>
                  </a:txBody>
                  <a:tcPr marL="114300" marR="114300" marT="95250" marB="95250">
                    <a:lnR w="5715">
                      <a:solidFill>
                        <a:srgbClr val="D7E0E8"/>
                      </a:solidFill>
                      <a:prstDash val="solid"/>
                    </a:lnR>
                    <a:lnB w="5715">
                      <a:solidFill>
                        <a:srgbClr val="D7E0E8"/>
                      </a:solidFill>
                      <a:prstDash val="solid"/>
                    </a:lnB>
                    <a:solidFill>
                      <a:srgbClr val="FFFFFF"/>
                    </a:solidFill>
                  </a:tcPr>
                </a:tc>
              </a:tr>
              <a:tr h="535781">
                <a:tc>
                  <a:txBody>
                    <a:bodyPr/>
                    <a:lstStyle/>
                    <a:p>
                      <a:r>
                        <a:rPr sz="1725">
                          <a:solidFill>
                            <a:srgbClr val="16324F"/>
                          </a:solidFill>
                          <a:latin typeface="Arial"/>
                          <a:ea typeface="Arial"/>
                          <a:cs typeface="Arial"/>
                        </a:rPr>
                        <a:t>Total costs</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$34,657.04</a:t>
                      </a:r>
                    </a:p>
                  </a:txBody>
                  <a:tcPr marL="114300" marR="114300" marT="95250" marB="95250">
                    <a:lnR w="5715">
                      <a:solidFill>
                        <a:srgbClr val="D7E0E8"/>
                      </a:solidFill>
                      <a:prstDash val="solid"/>
                    </a:lnR>
                    <a:lnB w="5715">
                      <a:solidFill>
                        <a:srgbClr val="D7E0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B7BA095-DA31-429B-BE2A-E5354F56C2D9}"/>
              </a:ext>
            </a:extLst>
          </p:cNvPr>
          <p:cNvSpPr>
            <a:spLocks xmlns:a="http://schemas.openxmlformats.org/drawingml/2006/main" noGrp="1"/>
          </p:cNvSpPr>
          <p:nvPr/>
        </p:nvSpPr>
        <p:spPr>
          <a:xfrm xmlns:a="http://schemas.openxmlformats.org/drawingml/2006/main">
            <a:off x="7810500" y="163830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24F"/>
                </a:solidFill>
                <a:latin typeface="Arial"/>
                <a:ea typeface="Arial"/>
                <a:cs typeface="Arial"/>
              </a:defRPr>
            </a:defPPr>
            <a:lvl1pPr>
              <a:defRPr sz="3450" b="1">
                <a:solidFill>
                  <a:srgbClr val="16324F"/>
                </a:solidFill>
                <a:latin typeface="Arial"/>
                <a:ea typeface="Arial"/>
                <a:cs typeface="Arial"/>
              </a:defRPr>
            </a:lvl1pPr>
            <a:lvl2pPr>
              <a:defRPr sz="3450" b="1">
                <a:solidFill>
                  <a:srgbClr val="16324F"/>
                </a:solidFill>
                <a:latin typeface="Arial"/>
                <a:ea typeface="Arial"/>
                <a:cs typeface="Arial"/>
              </a:defRPr>
            </a:lvl2pPr>
            <a:lvl3pPr>
              <a:defRPr sz="3450" b="1">
                <a:solidFill>
                  <a:srgbClr val="16324F"/>
                </a:solidFill>
                <a:latin typeface="Arial"/>
                <a:ea typeface="Arial"/>
                <a:cs typeface="Arial"/>
              </a:defRPr>
            </a:lvl3pPr>
            <a:lvl4pPr>
              <a:defRPr sz="3450" b="1">
                <a:solidFill>
                  <a:srgbClr val="16324F"/>
                </a:solidFill>
                <a:latin typeface="Arial"/>
                <a:ea typeface="Arial"/>
                <a:cs typeface="Arial"/>
              </a:defRPr>
            </a:lvl4pPr>
            <a:lvl5pPr>
              <a:defRPr sz="3450" b="1">
                <a:solidFill>
                  <a:srgbClr val="16324F"/>
                </a:solidFill>
                <a:latin typeface="Arial"/>
                <a:ea typeface="Arial"/>
                <a:cs typeface="Arial"/>
              </a:defRPr>
            </a:lvl5pPr>
            <a:lvl6pPr>
              <a:defRPr sz="3450" b="1">
                <a:solidFill>
                  <a:srgbClr val="16324F"/>
                </a:solidFill>
                <a:latin typeface="Arial"/>
                <a:ea typeface="Arial"/>
                <a:cs typeface="Arial"/>
              </a:defRPr>
            </a:lvl6pPr>
            <a:lvl7pPr>
              <a:defRPr sz="3450" b="1">
                <a:solidFill>
                  <a:srgbClr val="16324F"/>
                </a:solidFill>
                <a:latin typeface="Arial"/>
                <a:ea typeface="Arial"/>
                <a:cs typeface="Arial"/>
              </a:defRPr>
            </a:lvl7pPr>
            <a:lvl8pPr>
              <a:defRPr sz="3450" b="1">
                <a:solidFill>
                  <a:srgbClr val="16324F"/>
                </a:solidFill>
                <a:latin typeface="Arial"/>
                <a:ea typeface="Arial"/>
                <a:cs typeface="Arial"/>
              </a:defRPr>
            </a:lvl8pPr>
            <a:lvl9pPr>
              <a:defRPr sz="3450" b="1">
                <a:solidFill>
                  <a:srgbClr val="16324F"/>
                </a:solidFill>
                <a:latin typeface="Arial"/>
                <a:ea typeface="Arial"/>
                <a:cs typeface="Arial"/>
              </a:defRPr>
            </a:lvl9pPr>
          </a:lstStyle>
          <a:p xmlns:a="http://schemas.openxmlformats.org/drawingml/2006/main">
            <a:pPr>
              <a:defRPr sz="3450" b="1">
                <a:solidFill>
                  <a:srgbClr val="16324F"/>
                </a:solidFill>
                <a:latin typeface="Arial"/>
                <a:ea typeface="Arial"/>
                <a:cs typeface="Arial"/>
              </a:defRPr>
            </a:pPr>
            <a:r>
              <a:rPr sz="3450" b="1">
                <a:solidFill>
                  <a:srgbClr val="16324F"/>
                </a:solidFill>
                <a:latin typeface="Arial"/>
                <a:ea typeface="Arial"/>
                <a:cs typeface="Arial"/>
              </a:rPr>
              <a:t>$7,650</a:t>
            </a:r>
          </a:p>
        </p:txBody>
      </p:sp>
      <p:sp>
        <p:nvSpPr>
          <p:cNvPr id="5" name="">
            <a:extLst xmlns:a="http://schemas.openxmlformats.org/drawingml/2006/main">
              <a:ext uri="{FF2B5EF4-FFF2-40B4-BE49-F238E27FC236}">
                <a16:creationId xmlns:a16="http://schemas.microsoft.com/office/drawing/2014/main" id="{7B742252-CCC8-4044-9014-164F37155DFD}"/>
              </a:ext>
            </a:extLst>
          </p:cNvPr>
          <p:cNvSpPr>
            <a:spLocks xmlns:a="http://schemas.openxmlformats.org/drawingml/2006/main" noGrp="1"/>
          </p:cNvSpPr>
          <p:nvPr/>
        </p:nvSpPr>
        <p:spPr>
          <a:xfrm xmlns:a="http://schemas.openxmlformats.org/drawingml/2006/main">
            <a:off x="7810500" y="2190750"/>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Before opening, including the $2,500 deposit and June rent.</a:t>
            </a:r>
          </a:p>
        </p:txBody>
      </p:sp>
      <p:sp>
        <p:nvSpPr>
          <p:cNvPr id="6" name="">
            <a:extLst xmlns:a="http://schemas.openxmlformats.org/drawingml/2006/main">
              <a:ext uri="{FF2B5EF4-FFF2-40B4-BE49-F238E27FC236}">
                <a16:creationId xmlns:a16="http://schemas.microsoft.com/office/drawing/2014/main" id="{58C9ED49-C34A-4F22-950A-1CEA64BD0BFF}"/>
              </a:ext>
            </a:extLst>
          </p:cNvPr>
          <p:cNvSpPr>
            <a:spLocks xmlns:a="http://schemas.openxmlformats.org/drawingml/2006/main" noGrp="1"/>
          </p:cNvSpPr>
          <p:nvPr/>
        </p:nvSpPr>
        <p:spPr>
          <a:xfrm xmlns:a="http://schemas.openxmlformats.org/drawingml/2006/main">
            <a:off x="7810500" y="33813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24F"/>
                </a:solidFill>
                <a:latin typeface="Arial"/>
                <a:ea typeface="Arial"/>
                <a:cs typeface="Arial"/>
              </a:defRPr>
            </a:defPPr>
            <a:lvl1pPr>
              <a:defRPr sz="3450" b="1">
                <a:solidFill>
                  <a:srgbClr val="16324F"/>
                </a:solidFill>
                <a:latin typeface="Arial"/>
                <a:ea typeface="Arial"/>
                <a:cs typeface="Arial"/>
              </a:defRPr>
            </a:lvl1pPr>
            <a:lvl2pPr>
              <a:defRPr sz="3450" b="1">
                <a:solidFill>
                  <a:srgbClr val="16324F"/>
                </a:solidFill>
                <a:latin typeface="Arial"/>
                <a:ea typeface="Arial"/>
                <a:cs typeface="Arial"/>
              </a:defRPr>
            </a:lvl2pPr>
            <a:lvl3pPr>
              <a:defRPr sz="3450" b="1">
                <a:solidFill>
                  <a:srgbClr val="16324F"/>
                </a:solidFill>
                <a:latin typeface="Arial"/>
                <a:ea typeface="Arial"/>
                <a:cs typeface="Arial"/>
              </a:defRPr>
            </a:lvl3pPr>
            <a:lvl4pPr>
              <a:defRPr sz="3450" b="1">
                <a:solidFill>
                  <a:srgbClr val="16324F"/>
                </a:solidFill>
                <a:latin typeface="Arial"/>
                <a:ea typeface="Arial"/>
                <a:cs typeface="Arial"/>
              </a:defRPr>
            </a:lvl4pPr>
            <a:lvl5pPr>
              <a:defRPr sz="3450" b="1">
                <a:solidFill>
                  <a:srgbClr val="16324F"/>
                </a:solidFill>
                <a:latin typeface="Arial"/>
                <a:ea typeface="Arial"/>
                <a:cs typeface="Arial"/>
              </a:defRPr>
            </a:lvl5pPr>
            <a:lvl6pPr>
              <a:defRPr sz="3450" b="1">
                <a:solidFill>
                  <a:srgbClr val="16324F"/>
                </a:solidFill>
                <a:latin typeface="Arial"/>
                <a:ea typeface="Arial"/>
                <a:cs typeface="Arial"/>
              </a:defRPr>
            </a:lvl6pPr>
            <a:lvl7pPr>
              <a:defRPr sz="3450" b="1">
                <a:solidFill>
                  <a:srgbClr val="16324F"/>
                </a:solidFill>
                <a:latin typeface="Arial"/>
                <a:ea typeface="Arial"/>
                <a:cs typeface="Arial"/>
              </a:defRPr>
            </a:lvl7pPr>
            <a:lvl8pPr>
              <a:defRPr sz="3450" b="1">
                <a:solidFill>
                  <a:srgbClr val="16324F"/>
                </a:solidFill>
                <a:latin typeface="Arial"/>
                <a:ea typeface="Arial"/>
                <a:cs typeface="Arial"/>
              </a:defRPr>
            </a:lvl8pPr>
            <a:lvl9pPr>
              <a:defRPr sz="3450" b="1">
                <a:solidFill>
                  <a:srgbClr val="16324F"/>
                </a:solidFill>
                <a:latin typeface="Arial"/>
                <a:ea typeface="Arial"/>
                <a:cs typeface="Arial"/>
              </a:defRPr>
            </a:lvl9pPr>
          </a:lstStyle>
          <a:p xmlns:a="http://schemas.openxmlformats.org/drawingml/2006/main">
            <a:pPr>
              <a:defRPr sz="3450" b="1">
                <a:solidFill>
                  <a:srgbClr val="16324F"/>
                </a:solidFill>
                <a:latin typeface="Arial"/>
                <a:ea typeface="Arial"/>
                <a:cs typeface="Arial"/>
              </a:defRPr>
            </a:pPr>
            <a:r>
              <a:rPr sz="3450" b="1">
                <a:solidFill>
                  <a:srgbClr val="16324F"/>
                </a:solidFill>
                <a:latin typeface="Arial"/>
                <a:ea typeface="Arial"/>
                <a:cs typeface="Arial"/>
              </a:rPr>
              <a:t>$7,875</a:t>
            </a:r>
          </a:p>
        </p:txBody>
      </p:sp>
      <p:sp>
        <p:nvSpPr>
          <p:cNvPr id="7" name="">
            <a:extLst xmlns:a="http://schemas.openxmlformats.org/drawingml/2006/main">
              <a:ext uri="{FF2B5EF4-FFF2-40B4-BE49-F238E27FC236}">
                <a16:creationId xmlns:a16="http://schemas.microsoft.com/office/drawing/2014/main" id="{61E601DB-A14D-4A4F-B3FB-863D2EC393BB}"/>
              </a:ext>
            </a:extLst>
          </p:cNvPr>
          <p:cNvSpPr>
            <a:spLocks xmlns:a="http://schemas.openxmlformats.org/drawingml/2006/main" noGrp="1"/>
          </p:cNvSpPr>
          <p:nvPr/>
        </p:nvSpPr>
        <p:spPr>
          <a:xfrm xmlns:a="http://schemas.openxmlformats.org/drawingml/2006/main">
            <a:off x="7810500" y="39338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Through opening-day monthly charges. This reconciles the risk estimate.</a:t>
            </a:r>
          </a:p>
        </p:txBody>
      </p:sp>
      <p:sp>
        <p:nvSpPr>
          <p:cNvPr id="8" name="">
            <a:extLst xmlns:a="http://schemas.openxmlformats.org/drawingml/2006/main">
              <a:ext uri="{FF2B5EF4-FFF2-40B4-BE49-F238E27FC236}">
                <a16:creationId xmlns:a16="http://schemas.microsoft.com/office/drawing/2014/main" id="{00269301-48FD-45D3-A4C3-8D39F940242F}"/>
              </a:ext>
            </a:extLst>
          </p:cNvPr>
          <p:cNvSpPr>
            <a:spLocks xmlns:a="http://schemas.openxmlformats.org/drawingml/2006/main" noGrp="1"/>
          </p:cNvSpPr>
          <p:nvPr/>
        </p:nvSpPr>
        <p:spPr>
          <a:xfrm xmlns:a="http://schemas.openxmlformats.org/drawingml/2006/main">
            <a:off x="685800" y="6048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7"/>
                </a:solidFill>
                <a:latin typeface="Arial"/>
                <a:ea typeface="Arial"/>
                <a:cs typeface="Arial"/>
              </a:defRPr>
            </a:defPPr>
            <a:lvl1pPr>
              <a:defRPr sz="1650" b="0">
                <a:solidFill>
                  <a:srgbClr val="526477"/>
                </a:solidFill>
                <a:latin typeface="Arial"/>
                <a:ea typeface="Arial"/>
                <a:cs typeface="Arial"/>
              </a:defRPr>
            </a:lvl1pPr>
            <a:lvl2pPr>
              <a:defRPr sz="1650" b="0">
                <a:solidFill>
                  <a:srgbClr val="526477"/>
                </a:solidFill>
                <a:latin typeface="Arial"/>
                <a:ea typeface="Arial"/>
                <a:cs typeface="Arial"/>
              </a:defRPr>
            </a:lvl2pPr>
            <a:lvl3pPr>
              <a:defRPr sz="1650" b="0">
                <a:solidFill>
                  <a:srgbClr val="526477"/>
                </a:solidFill>
                <a:latin typeface="Arial"/>
                <a:ea typeface="Arial"/>
                <a:cs typeface="Arial"/>
              </a:defRPr>
            </a:lvl3pPr>
            <a:lvl4pPr>
              <a:defRPr sz="1650" b="0">
                <a:solidFill>
                  <a:srgbClr val="526477"/>
                </a:solidFill>
                <a:latin typeface="Arial"/>
                <a:ea typeface="Arial"/>
                <a:cs typeface="Arial"/>
              </a:defRPr>
            </a:lvl4pPr>
            <a:lvl5pPr>
              <a:defRPr sz="1650" b="0">
                <a:solidFill>
                  <a:srgbClr val="526477"/>
                </a:solidFill>
                <a:latin typeface="Arial"/>
                <a:ea typeface="Arial"/>
                <a:cs typeface="Arial"/>
              </a:defRPr>
            </a:lvl5pPr>
            <a:lvl6pPr>
              <a:defRPr sz="1650" b="0">
                <a:solidFill>
                  <a:srgbClr val="526477"/>
                </a:solidFill>
                <a:latin typeface="Arial"/>
                <a:ea typeface="Arial"/>
                <a:cs typeface="Arial"/>
              </a:defRPr>
            </a:lvl6pPr>
            <a:lvl7pPr>
              <a:defRPr sz="1650" b="0">
                <a:solidFill>
                  <a:srgbClr val="526477"/>
                </a:solidFill>
                <a:latin typeface="Arial"/>
                <a:ea typeface="Arial"/>
                <a:cs typeface="Arial"/>
              </a:defRPr>
            </a:lvl7pPr>
            <a:lvl8pPr>
              <a:defRPr sz="1650" b="0">
                <a:solidFill>
                  <a:srgbClr val="526477"/>
                </a:solidFill>
                <a:latin typeface="Arial"/>
                <a:ea typeface="Arial"/>
                <a:cs typeface="Arial"/>
              </a:defRPr>
            </a:lvl8pPr>
            <a:lvl9pPr>
              <a:defRPr sz="1650" b="0">
                <a:solidFill>
                  <a:srgbClr val="526477"/>
                </a:solidFill>
                <a:latin typeface="Arial"/>
                <a:ea typeface="Arial"/>
                <a:cs typeface="Arial"/>
              </a:defRPr>
            </a:lvl9pPr>
          </a:lstStyle>
          <a:p xmlns:a="http://schemas.openxmlformats.org/drawingml/2006/main">
            <a:pPr>
              <a:defRPr sz="1650" b="0">
                <a:solidFill>
                  <a:srgbClr val="526477"/>
                </a:solidFill>
                <a:latin typeface="Arial"/>
                <a:ea typeface="Arial"/>
                <a:cs typeface="Arial"/>
              </a:defRPr>
            </a:pPr>
            <a:r>
              <a:rPr sz="1650" b="0">
                <a:solidFill>
                  <a:srgbClr val="526477"/>
                </a:solidFill>
                <a:latin typeface="Arial"/>
                <a:ea typeface="Arial"/>
                <a:cs typeface="Arial"/>
              </a:rPr>
              <a:t>Deposit refund: September 7, subject to no damage or unpaid rent.</a:t>
            </a:r>
          </a:p>
        </p:txBody>
      </p:sp>
    </p:spTree>
    <p:extLst>
      <p:ext uri="{BB962C8B-B14F-4D97-AF65-F5344CB8AC3E}">
        <p14:creationId xmlns:p14="http://schemas.microsoft.com/office/powerpoint/2010/main" val="6747444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FAAA4E-FAE3-4016-AE42-87BA3971608D}"/>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Break-even requires 1,926 sales by August 31</a:t>
            </a:r>
          </a:p>
        </p:txBody>
      </p:sp>
      <p:sp>
        <p:nvSpPr>
          <p:cNvPr id="2" name="">
            <a:extLst xmlns:a="http://schemas.openxmlformats.org/drawingml/2006/main">
              <a:ext uri="{FF2B5EF4-FFF2-40B4-BE49-F238E27FC236}">
                <a16:creationId xmlns:a16="http://schemas.microsoft.com/office/drawing/2014/main" id="{5480244B-6C94-47CC-848B-8DFA47F0C280}"/>
              </a:ext>
            </a:extLst>
          </p:cNvPr>
          <p:cNvSpPr>
            <a:spLocks xmlns:a="http://schemas.openxmlformats.org/drawingml/2006/main" noGrp="1"/>
          </p:cNvSpPr>
          <p:nvPr/>
        </p:nvSpPr>
        <p:spPr>
          <a:xfrm xmlns:a="http://schemas.openxmlformats.org/drawingml/2006/main">
            <a:off x="111442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xmlns:a="http://schemas.openxmlformats.org/drawingml/2006/main">
            <a:pPr>
              <a:defRPr sz="1200" b="0">
                <a:solidFill>
                  <a:srgbClr val="526477"/>
                </a:solidFill>
                <a:latin typeface="Arial"/>
                <a:ea typeface="Arial"/>
                <a:cs typeface="Arial"/>
              </a:defRPr>
            </a:pPr>
            <a:r>
              <a:rPr sz="1200" b="0">
                <a:solidFill>
                  <a:srgbClr val="526477"/>
                </a:solidFill>
                <a:latin typeface="Arial"/>
                <a:ea typeface="Arial"/>
                <a:cs typeface="Arial"/>
              </a:rPr>
              <a:t>4</a:t>
            </a:r>
          </a:p>
        </p:txBody>
      </p:sp>
      <p:graphicFrame>
        <p:nvGraphicFramePr>
          <p:cNvPr id="3" name="Chart">
            <a:extLst xmlns:a="http://schemas.openxmlformats.org/drawingml/2006/main">
              <a:ext uri="{FF2B5EF4-FFF2-40B4-BE49-F238E27FC236}">
                <a16:creationId xmlns:a16="http://schemas.microsoft.com/office/drawing/2014/main" id="{DDBE7A8F-8A6C-46AC-9B7B-5E4BBB0A265D}"/>
              </a:ext>
            </a:extLst>
          </p:cNvPr>
          <p:cNvGraphicFramePr/>
          <p:nvPr/>
        </p:nvGraphicFramePr>
        <p:xfrm>
          <a:off xmlns:a="http://schemas.openxmlformats.org/drawingml/2006/main" x="685800" y="1543050"/>
          <a:ext xmlns:a="http://schemas.openxmlformats.org/drawingml/2006/main" cx="7620000" cy="3857625"/>
        </p:xfrm>
        <a:graphic xmlns:a="http://schemas.openxmlformats.org/drawingml/2006/main">
          <a:graphicData uri="http://schemas.openxmlformats.org/drawingml/2006/chart">
            <c:chart xmlns:r="http://schemas.openxmlformats.org/officeDocument/2006/relationships" xmlns:c="http://schemas.openxmlformats.org/drawingml/2006/chart" r:id="R5f85534e53424b4f"/>
          </a:graphicData>
        </a:graphic>
      </p:graphicFrame>
      <p:sp>
        <p:nvSpPr>
          <p:cNvPr id="4" name="">
            <a:extLst xmlns:a="http://schemas.openxmlformats.org/drawingml/2006/main">
              <a:ext uri="{FF2B5EF4-FFF2-40B4-BE49-F238E27FC236}">
                <a16:creationId xmlns:a16="http://schemas.microsoft.com/office/drawing/2014/main" id="{D984AA92-523C-4312-9C42-6C9941EB21BB}"/>
              </a:ext>
            </a:extLst>
          </p:cNvPr>
          <p:cNvSpPr>
            <a:spLocks xmlns:a="http://schemas.openxmlformats.org/drawingml/2006/main" noGrp="1"/>
          </p:cNvSpPr>
          <p:nvPr/>
        </p:nvSpPr>
        <p:spPr>
          <a:xfrm xmlns:a="http://schemas.openxmlformats.org/drawingml/2006/main">
            <a:off x="8858250" y="165735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5803D"/>
                </a:solidFill>
                <a:latin typeface="Arial"/>
                <a:ea typeface="Arial"/>
                <a:cs typeface="Arial"/>
              </a:defRPr>
            </a:defPPr>
            <a:lvl1pPr>
              <a:defRPr sz="3900" b="1">
                <a:solidFill>
                  <a:srgbClr val="15803D"/>
                </a:solidFill>
                <a:latin typeface="Arial"/>
                <a:ea typeface="Arial"/>
                <a:cs typeface="Arial"/>
              </a:defRPr>
            </a:lvl1pPr>
            <a:lvl2pPr>
              <a:defRPr sz="3900" b="1">
                <a:solidFill>
                  <a:srgbClr val="15803D"/>
                </a:solidFill>
                <a:latin typeface="Arial"/>
                <a:ea typeface="Arial"/>
                <a:cs typeface="Arial"/>
              </a:defRPr>
            </a:lvl2pPr>
            <a:lvl3pPr>
              <a:defRPr sz="3900" b="1">
                <a:solidFill>
                  <a:srgbClr val="15803D"/>
                </a:solidFill>
                <a:latin typeface="Arial"/>
                <a:ea typeface="Arial"/>
                <a:cs typeface="Arial"/>
              </a:defRPr>
            </a:lvl3pPr>
            <a:lvl4pPr>
              <a:defRPr sz="3900" b="1">
                <a:solidFill>
                  <a:srgbClr val="15803D"/>
                </a:solidFill>
                <a:latin typeface="Arial"/>
                <a:ea typeface="Arial"/>
                <a:cs typeface="Arial"/>
              </a:defRPr>
            </a:lvl4pPr>
            <a:lvl5pPr>
              <a:defRPr sz="3900" b="1">
                <a:solidFill>
                  <a:srgbClr val="15803D"/>
                </a:solidFill>
                <a:latin typeface="Arial"/>
                <a:ea typeface="Arial"/>
                <a:cs typeface="Arial"/>
              </a:defRPr>
            </a:lvl5pPr>
            <a:lvl6pPr>
              <a:defRPr sz="3900" b="1">
                <a:solidFill>
                  <a:srgbClr val="15803D"/>
                </a:solidFill>
                <a:latin typeface="Arial"/>
                <a:ea typeface="Arial"/>
                <a:cs typeface="Arial"/>
              </a:defRPr>
            </a:lvl6pPr>
            <a:lvl7pPr>
              <a:defRPr sz="3900" b="1">
                <a:solidFill>
                  <a:srgbClr val="15803D"/>
                </a:solidFill>
                <a:latin typeface="Arial"/>
                <a:ea typeface="Arial"/>
                <a:cs typeface="Arial"/>
              </a:defRPr>
            </a:lvl7pPr>
            <a:lvl8pPr>
              <a:defRPr sz="3900" b="1">
                <a:solidFill>
                  <a:srgbClr val="15803D"/>
                </a:solidFill>
                <a:latin typeface="Arial"/>
                <a:ea typeface="Arial"/>
                <a:cs typeface="Arial"/>
              </a:defRPr>
            </a:lvl8pPr>
            <a:lvl9pPr>
              <a:defRPr sz="3900" b="1">
                <a:solidFill>
                  <a:srgbClr val="15803D"/>
                </a:solidFill>
                <a:latin typeface="Arial"/>
                <a:ea typeface="Arial"/>
                <a:cs typeface="Arial"/>
              </a:defRPr>
            </a:lvl9pPr>
          </a:lstStyle>
          <a:p xmlns:a="http://schemas.openxmlformats.org/drawingml/2006/main">
            <a:pPr>
              <a:defRPr sz="3900" b="1">
                <a:solidFill>
                  <a:srgbClr val="15803D"/>
                </a:solidFill>
                <a:latin typeface="Arial"/>
                <a:ea typeface="Arial"/>
                <a:cs typeface="Arial"/>
              </a:defRPr>
            </a:pPr>
            <a:r>
              <a:rPr sz="3900" b="1">
                <a:solidFill>
                  <a:srgbClr val="15803D"/>
                </a:solidFill>
                <a:latin typeface="Arial"/>
                <a:ea typeface="Arial"/>
                <a:cs typeface="Arial"/>
              </a:rPr>
              <a:t>2.96%</a:t>
            </a:r>
          </a:p>
        </p:txBody>
      </p:sp>
      <p:sp>
        <p:nvSpPr>
          <p:cNvPr id="5" name="">
            <a:extLst xmlns:a="http://schemas.openxmlformats.org/drawingml/2006/main">
              <a:ext uri="{FF2B5EF4-FFF2-40B4-BE49-F238E27FC236}">
                <a16:creationId xmlns:a16="http://schemas.microsoft.com/office/drawing/2014/main" id="{6AB566C8-CBEE-4E51-B34D-EB453A01DF51}"/>
              </a:ext>
            </a:extLst>
          </p:cNvPr>
          <p:cNvSpPr>
            <a:spLocks xmlns:a="http://schemas.openxmlformats.org/drawingml/2006/main" noGrp="1"/>
          </p:cNvSpPr>
          <p:nvPr/>
        </p:nvSpPr>
        <p:spPr>
          <a:xfrm xmlns:a="http://schemas.openxmlformats.org/drawingml/2006/main">
            <a:off x="8858250" y="2314575"/>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of passing visits must buy one item</a:t>
            </a:r>
          </a:p>
        </p:txBody>
      </p:sp>
      <p:sp>
        <p:nvSpPr>
          <p:cNvPr id="6" name="">
            <a:extLst xmlns:a="http://schemas.openxmlformats.org/drawingml/2006/main">
              <a:ext uri="{FF2B5EF4-FFF2-40B4-BE49-F238E27FC236}">
                <a16:creationId xmlns:a16="http://schemas.microsoft.com/office/drawing/2014/main" id="{B246895A-4CA8-4CCF-B658-DB7B252F7C44}"/>
              </a:ext>
            </a:extLst>
          </p:cNvPr>
          <p:cNvSpPr>
            <a:spLocks xmlns:a="http://schemas.openxmlformats.org/drawingml/2006/main" noGrp="1"/>
          </p:cNvSpPr>
          <p:nvPr/>
        </p:nvSpPr>
        <p:spPr>
          <a:xfrm xmlns:a="http://schemas.openxmlformats.org/drawingml/2006/main">
            <a:off x="8858250" y="34766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B45309"/>
                </a:solidFill>
                <a:latin typeface="Arial"/>
                <a:ea typeface="Arial"/>
                <a:cs typeface="Arial"/>
              </a:defRPr>
            </a:defPPr>
            <a:lvl1pPr>
              <a:defRPr sz="3450" b="1">
                <a:solidFill>
                  <a:srgbClr val="B45309"/>
                </a:solidFill>
                <a:latin typeface="Arial"/>
                <a:ea typeface="Arial"/>
                <a:cs typeface="Arial"/>
              </a:defRPr>
            </a:lvl1pPr>
            <a:lvl2pPr>
              <a:defRPr sz="3450" b="1">
                <a:solidFill>
                  <a:srgbClr val="B45309"/>
                </a:solidFill>
                <a:latin typeface="Arial"/>
                <a:ea typeface="Arial"/>
                <a:cs typeface="Arial"/>
              </a:defRPr>
            </a:lvl2pPr>
            <a:lvl3pPr>
              <a:defRPr sz="3450" b="1">
                <a:solidFill>
                  <a:srgbClr val="B45309"/>
                </a:solidFill>
                <a:latin typeface="Arial"/>
                <a:ea typeface="Arial"/>
                <a:cs typeface="Arial"/>
              </a:defRPr>
            </a:lvl3pPr>
            <a:lvl4pPr>
              <a:defRPr sz="3450" b="1">
                <a:solidFill>
                  <a:srgbClr val="B45309"/>
                </a:solidFill>
                <a:latin typeface="Arial"/>
                <a:ea typeface="Arial"/>
                <a:cs typeface="Arial"/>
              </a:defRPr>
            </a:lvl4pPr>
            <a:lvl5pPr>
              <a:defRPr sz="3450" b="1">
                <a:solidFill>
                  <a:srgbClr val="B45309"/>
                </a:solidFill>
                <a:latin typeface="Arial"/>
                <a:ea typeface="Arial"/>
                <a:cs typeface="Arial"/>
              </a:defRPr>
            </a:lvl5pPr>
            <a:lvl6pPr>
              <a:defRPr sz="3450" b="1">
                <a:solidFill>
                  <a:srgbClr val="B45309"/>
                </a:solidFill>
                <a:latin typeface="Arial"/>
                <a:ea typeface="Arial"/>
                <a:cs typeface="Arial"/>
              </a:defRPr>
            </a:lvl6pPr>
            <a:lvl7pPr>
              <a:defRPr sz="3450" b="1">
                <a:solidFill>
                  <a:srgbClr val="B45309"/>
                </a:solidFill>
                <a:latin typeface="Arial"/>
                <a:ea typeface="Arial"/>
                <a:cs typeface="Arial"/>
              </a:defRPr>
            </a:lvl7pPr>
            <a:lvl8pPr>
              <a:defRPr sz="3450" b="1">
                <a:solidFill>
                  <a:srgbClr val="B45309"/>
                </a:solidFill>
                <a:latin typeface="Arial"/>
                <a:ea typeface="Arial"/>
                <a:cs typeface="Arial"/>
              </a:defRPr>
            </a:lvl8pPr>
            <a:lvl9pPr>
              <a:defRPr sz="3450" b="1">
                <a:solidFill>
                  <a:srgbClr val="B45309"/>
                </a:solidFill>
                <a:latin typeface="Arial"/>
                <a:ea typeface="Arial"/>
                <a:cs typeface="Arial"/>
              </a:defRPr>
            </a:lvl9pPr>
          </a:lstStyle>
          <a:p xmlns:a="http://schemas.openxmlformats.org/drawingml/2006/main">
            <a:pPr>
              <a:defRPr sz="3450" b="1">
                <a:solidFill>
                  <a:srgbClr val="B45309"/>
                </a:solidFill>
                <a:latin typeface="Arial"/>
                <a:ea typeface="Arial"/>
                <a:cs typeface="Arial"/>
              </a:defRPr>
            </a:pPr>
            <a:r>
              <a:rPr sz="3450" b="1">
                <a:solidFill>
                  <a:srgbClr val="B45309"/>
                </a:solidFill>
                <a:latin typeface="Arial"/>
                <a:ea typeface="Arial"/>
                <a:cs typeface="Arial"/>
              </a:rPr>
              <a:t>$10.96</a:t>
            </a:r>
          </a:p>
        </p:txBody>
      </p:sp>
      <p:sp>
        <p:nvSpPr>
          <p:cNvPr id="7" name="">
            <a:extLst xmlns:a="http://schemas.openxmlformats.org/drawingml/2006/main">
              <a:ext uri="{FF2B5EF4-FFF2-40B4-BE49-F238E27FC236}">
                <a16:creationId xmlns:a16="http://schemas.microsoft.com/office/drawing/2014/main" id="{74274E3C-B3B1-4EBC-AF8A-75200A49D2A8}"/>
              </a:ext>
            </a:extLst>
          </p:cNvPr>
          <p:cNvSpPr>
            <a:spLocks xmlns:a="http://schemas.openxmlformats.org/drawingml/2006/main" noGrp="1"/>
          </p:cNvSpPr>
          <p:nvPr/>
        </p:nvSpPr>
        <p:spPr>
          <a:xfrm xmlns:a="http://schemas.openxmlformats.org/drawingml/2006/main">
            <a:off x="8858250" y="4105275"/>
            <a:ext cx="2571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project surplus at the minimum sales target</a:t>
            </a:r>
          </a:p>
        </p:txBody>
      </p:sp>
      <p:sp>
        <p:nvSpPr>
          <p:cNvPr id="8" name="">
            <a:extLst xmlns:a="http://schemas.openxmlformats.org/drawingml/2006/main">
              <a:ext uri="{FF2B5EF4-FFF2-40B4-BE49-F238E27FC236}">
                <a16:creationId xmlns:a16="http://schemas.microsoft.com/office/drawing/2014/main" id="{C590DA3C-2AF4-4255-93FE-7F8FC6F6ED34}"/>
              </a:ext>
            </a:extLst>
          </p:cNvPr>
          <p:cNvSpPr>
            <a:spLocks xmlns:a="http://schemas.openxmlformats.org/drawingml/2006/main" noGrp="1"/>
          </p:cNvSpPr>
          <p:nvPr/>
        </p:nvSpPr>
        <p:spPr>
          <a:xfrm xmlns:a="http://schemas.openxmlformats.org/drawingml/2006/main">
            <a:off x="685800" y="56769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6324F"/>
                </a:solidFill>
                <a:latin typeface="Arial"/>
                <a:ea typeface="Arial"/>
                <a:cs typeface="Arial"/>
              </a:defRPr>
            </a:defPPr>
            <a:lvl1pPr>
              <a:defRPr sz="1875" b="0">
                <a:solidFill>
                  <a:srgbClr val="16324F"/>
                </a:solidFill>
                <a:latin typeface="Arial"/>
                <a:ea typeface="Arial"/>
                <a:cs typeface="Arial"/>
              </a:defRPr>
            </a:lvl1pPr>
            <a:lvl2pPr>
              <a:defRPr sz="1875" b="0">
                <a:solidFill>
                  <a:srgbClr val="16324F"/>
                </a:solidFill>
                <a:latin typeface="Arial"/>
                <a:ea typeface="Arial"/>
                <a:cs typeface="Arial"/>
              </a:defRPr>
            </a:lvl2pPr>
            <a:lvl3pPr>
              <a:defRPr sz="1875" b="0">
                <a:solidFill>
                  <a:srgbClr val="16324F"/>
                </a:solidFill>
                <a:latin typeface="Arial"/>
                <a:ea typeface="Arial"/>
                <a:cs typeface="Arial"/>
              </a:defRPr>
            </a:lvl3pPr>
            <a:lvl4pPr>
              <a:defRPr sz="1875" b="0">
                <a:solidFill>
                  <a:srgbClr val="16324F"/>
                </a:solidFill>
                <a:latin typeface="Arial"/>
                <a:ea typeface="Arial"/>
                <a:cs typeface="Arial"/>
              </a:defRPr>
            </a:lvl4pPr>
            <a:lvl5pPr>
              <a:defRPr sz="1875" b="0">
                <a:solidFill>
                  <a:srgbClr val="16324F"/>
                </a:solidFill>
                <a:latin typeface="Arial"/>
                <a:ea typeface="Arial"/>
                <a:cs typeface="Arial"/>
              </a:defRPr>
            </a:lvl5pPr>
            <a:lvl6pPr>
              <a:defRPr sz="1875" b="0">
                <a:solidFill>
                  <a:srgbClr val="16324F"/>
                </a:solidFill>
                <a:latin typeface="Arial"/>
                <a:ea typeface="Arial"/>
                <a:cs typeface="Arial"/>
              </a:defRPr>
            </a:lvl6pPr>
            <a:lvl7pPr>
              <a:defRPr sz="1875" b="0">
                <a:solidFill>
                  <a:srgbClr val="16324F"/>
                </a:solidFill>
                <a:latin typeface="Arial"/>
                <a:ea typeface="Arial"/>
                <a:cs typeface="Arial"/>
              </a:defRPr>
            </a:lvl7pPr>
            <a:lvl8pPr>
              <a:defRPr sz="1875" b="0">
                <a:solidFill>
                  <a:srgbClr val="16324F"/>
                </a:solidFill>
                <a:latin typeface="Arial"/>
                <a:ea typeface="Arial"/>
                <a:cs typeface="Arial"/>
              </a:defRPr>
            </a:lvl8pPr>
            <a:lvl9pPr>
              <a:defRPr sz="1875" b="0">
                <a:solidFill>
                  <a:srgbClr val="16324F"/>
                </a:solidFill>
                <a:latin typeface="Arial"/>
                <a:ea typeface="Arial"/>
                <a:cs typeface="Arial"/>
              </a:defRPr>
            </a:lvl9pPr>
          </a:lstStyle>
          <a:p xmlns:a="http://schemas.openxmlformats.org/drawingml/2006/main">
            <a:pPr>
              <a:defRPr sz="1875" b="0">
                <a:solidFill>
                  <a:srgbClr val="16324F"/>
                </a:solidFill>
                <a:latin typeface="Arial"/>
                <a:ea typeface="Arial"/>
                <a:cs typeface="Arial"/>
              </a:defRPr>
            </a:pPr>
            <a:r>
              <a:rPr sz="1875" b="0">
                <a:solidFill>
                  <a:srgbClr val="16324F"/>
                </a:solidFill>
                <a:latin typeface="Arial"/>
                <a:ea typeface="Arial"/>
                <a:cs typeface="Arial"/>
              </a:rPr>
              <a:t>About 21 items/day on average. The target includes August’s 30% traffic decline.</a:t>
            </a:r>
          </a:p>
        </p:txBody>
      </p:sp>
    </p:spTree>
    <p:extLst>
      <p:ext uri="{BB962C8B-B14F-4D97-AF65-F5344CB8AC3E}">
        <p14:creationId xmlns:p14="http://schemas.microsoft.com/office/powerpoint/2010/main" val="18884398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5C7A55-7DDE-4905-AFC9-298ECFB2E357}"/>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Operating risks and responses</a:t>
            </a:r>
          </a:p>
        </p:txBody>
      </p:sp>
      <p:sp>
        <p:nvSpPr>
          <p:cNvPr id="2" name="">
            <a:extLst xmlns:a="http://schemas.openxmlformats.org/drawingml/2006/main">
              <a:ext uri="{FF2B5EF4-FFF2-40B4-BE49-F238E27FC236}">
                <a16:creationId xmlns:a16="http://schemas.microsoft.com/office/drawing/2014/main" id="{DCD63B3C-778E-465C-A430-A990DEB48872}"/>
              </a:ext>
            </a:extLst>
          </p:cNvPr>
          <p:cNvSpPr>
            <a:spLocks xmlns:a="http://schemas.openxmlformats.org/drawingml/2006/main" noGrp="1"/>
          </p:cNvSpPr>
          <p:nvPr/>
        </p:nvSpPr>
        <p:spPr>
          <a:xfrm xmlns:a="http://schemas.openxmlformats.org/drawingml/2006/main">
            <a:off x="111442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xmlns:a="http://schemas.openxmlformats.org/drawingml/2006/main">
            <a:pPr>
              <a:defRPr sz="1200" b="0">
                <a:solidFill>
                  <a:srgbClr val="526477"/>
                </a:solidFill>
                <a:latin typeface="Arial"/>
                <a:ea typeface="Arial"/>
                <a:cs typeface="Arial"/>
              </a:defRPr>
            </a:pPr>
            <a:r>
              <a:rPr sz="1200" b="0">
                <a:solidFill>
                  <a:srgbClr val="526477"/>
                </a:solidFill>
                <a:latin typeface="Arial"/>
                <a:ea typeface="Arial"/>
                <a:cs typeface="Arial"/>
              </a:rPr>
              <a:t>5</a:t>
            </a:r>
          </a:p>
        </p:txBody>
      </p:sp>
      <p:graphicFrame>
        <p:nvGraphicFramePr>
          <p:cNvPr id="3" name="">
            <a:extLst xmlns:a="http://schemas.openxmlformats.org/drawingml/2006/main">
              <a:ext uri="{FF2B5EF4-FFF2-40B4-BE49-F238E27FC236}">
                <a16:creationId xmlns:a16="http://schemas.microsoft.com/office/drawing/2014/main" id="{6407FDBB-9865-462D-9A05-33F23ABEB1E2}"/>
              </a:ext>
            </a:extLst>
          </p:cNvPr>
          <p:cNvGraphicFramePr/>
          <p:nvPr/>
        </p:nvGraphicFramePr>
        <p:xfrm>
          <a:off xmlns:a="http://schemas.openxmlformats.org/drawingml/2006/main" x="685800" y="1638300"/>
          <a:ext xmlns:a="http://schemas.openxmlformats.org/drawingml/2006/main" cx="10820400" cy="3600450"/>
        </p:xfrm>
        <a:graphic xmlns:a="http://schemas.openxmlformats.org/drawingml/2006/main">
          <a:graphicData uri="http://schemas.openxmlformats.org/drawingml/2006/table">
            <a:tbl>
              <a:tblPr/>
              <a:tblGrid>
                <a:gridCol w="2571750"/>
                <a:gridCol w="5905500"/>
                <a:gridCol w="2343150"/>
              </a:tblGrid>
              <a:tr h="900113">
                <a:tc>
                  <a:txBody>
                    <a:bodyPr/>
                    <a:lstStyle/>
                    <a:p>
                      <a:r>
                        <a:rPr sz="1725" b="1">
                          <a:solidFill>
                            <a:srgbClr val="FFFFFF"/>
                          </a:solidFill>
                          <a:latin typeface="Arial"/>
                          <a:ea typeface="Arial"/>
                          <a:cs typeface="Arial"/>
                        </a:rPr>
                        <a:t>Risk</a:t>
                      </a:r>
                    </a:p>
                  </a:txBody>
                  <a:tcPr marL="114300" marR="114300" marT="95250" marB="95250">
                    <a:lnL w="5715">
                      <a:solidFill>
                        <a:srgbClr val="D7E0E8"/>
                      </a:solidFill>
                      <a:prstDash val="solid"/>
                    </a:lnL>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c>
                  <a:txBody>
                    <a:bodyPr/>
                    <a:lstStyle/>
                    <a:p>
                      <a:r>
                        <a:rPr sz="1725" b="1">
                          <a:solidFill>
                            <a:srgbClr val="FFFFFF"/>
                          </a:solidFill>
                          <a:latin typeface="Arial"/>
                          <a:ea typeface="Arial"/>
                          <a:cs typeface="Arial"/>
                        </a:rPr>
                        <a:t>Response</a:t>
                      </a:r>
                    </a:p>
                  </a:txBody>
                  <a:tcPr marL="114300" marR="114300" marT="95250" marB="95250">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c>
                  <a:txBody>
                    <a:bodyPr/>
                    <a:lstStyle/>
                    <a:p>
                      <a:r>
                        <a:rPr sz="1725" b="1">
                          <a:solidFill>
                            <a:srgbClr val="FFFFFF"/>
                          </a:solidFill>
                          <a:latin typeface="Arial"/>
                          <a:ea typeface="Arial"/>
                          <a:cs typeface="Arial"/>
                        </a:rPr>
                        <a:t>Owner</a:t>
                      </a:r>
                    </a:p>
                  </a:txBody>
                  <a:tcPr marL="114300" marR="114300" marT="95250" marB="95250">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r>
              <a:tr h="900113">
                <a:tc>
                  <a:txBody>
                    <a:bodyPr/>
                    <a:lstStyle/>
                    <a:p>
                      <a:r>
                        <a:rPr sz="1725">
                          <a:solidFill>
                            <a:srgbClr val="16324F"/>
                          </a:solidFill>
                          <a:latin typeface="Arial"/>
                          <a:ea typeface="Arial"/>
                          <a:cs typeface="Arial"/>
                        </a:rPr>
                        <a:t>Cash runs short</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Review sales and upcoming rent weekly. Keep one staffed position with agency relief.</a:t>
                      </a:r>
                    </a:p>
                  </a:txBody>
                  <a:tcPr marL="114300" marR="114300" marT="95250" marB="95250">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Finance + Risk</a:t>
                      </a:r>
                    </a:p>
                  </a:txBody>
                  <a:tcPr marL="114300" marR="114300" marT="95250" marB="95250">
                    <a:lnR w="5715">
                      <a:solidFill>
                        <a:srgbClr val="D7E0E8"/>
                      </a:solidFill>
                      <a:prstDash val="solid"/>
                    </a:lnR>
                    <a:lnB w="5715">
                      <a:solidFill>
                        <a:srgbClr val="D7E0E8"/>
                      </a:solidFill>
                      <a:prstDash val="solid"/>
                    </a:lnB>
                    <a:solidFill>
                      <a:srgbClr val="FFFFFF"/>
                    </a:solidFill>
                  </a:tcPr>
                </a:tc>
              </a:tr>
              <a:tr h="900113">
                <a:tc>
                  <a:txBody>
                    <a:bodyPr/>
                    <a:lstStyle/>
                    <a:p>
                      <a:r>
                        <a:rPr sz="1725">
                          <a:solidFill>
                            <a:srgbClr val="16324F"/>
                          </a:solidFill>
                          <a:latin typeface="Arial"/>
                          <a:ea typeface="Arial"/>
                          <a:cs typeface="Arial"/>
                        </a:rPr>
                        <a:t>August visits fall 30%</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Prioritize June/July acquisition. Recheck forecast before the anchor closes July 31.</a:t>
                      </a:r>
                    </a:p>
                  </a:txBody>
                  <a:tcPr marL="114300" marR="114300" marT="95250" marB="95250">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Marketing</a:t>
                      </a:r>
                    </a:p>
                  </a:txBody>
                  <a:tcPr marL="114300" marR="114300" marT="95250" marB="95250">
                    <a:lnR w="5715">
                      <a:solidFill>
                        <a:srgbClr val="D7E0E8"/>
                      </a:solidFill>
                      <a:prstDash val="solid"/>
                    </a:lnR>
                    <a:lnB w="5715">
                      <a:solidFill>
                        <a:srgbClr val="D7E0E8"/>
                      </a:solidFill>
                      <a:prstDash val="solid"/>
                    </a:lnB>
                    <a:solidFill>
                      <a:srgbClr val="FFFFFF"/>
                    </a:solidFill>
                  </a:tcPr>
                </a:tc>
              </a:tr>
              <a:tr h="900113">
                <a:tc>
                  <a:txBody>
                    <a:bodyPr/>
                    <a:lstStyle/>
                    <a:p>
                      <a:r>
                        <a:rPr sz="1725">
                          <a:solidFill>
                            <a:srgbClr val="16324F"/>
                          </a:solidFill>
                          <a:latin typeface="Arial"/>
                          <a:ea typeface="Arial"/>
                          <a:cs typeface="Arial"/>
                        </a:rPr>
                        <a:t>Unpopular phone models tie up stock</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Start with 300 items. Record requests and reorder proven sellers weekly.</a:t>
                      </a:r>
                    </a:p>
                  </a:txBody>
                  <a:tcPr marL="114300" marR="114300" marT="95250" marB="95250">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Risk + Customer</a:t>
                      </a:r>
                    </a:p>
                  </a:txBody>
                  <a:tcPr marL="114300" marR="114300" marT="95250" marB="95250">
                    <a:lnR w="5715">
                      <a:solidFill>
                        <a:srgbClr val="D7E0E8"/>
                      </a:solidFill>
                      <a:prstDash val="solid"/>
                    </a:lnR>
                    <a:lnB w="5715">
                      <a:solidFill>
                        <a:srgbClr val="D7E0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2962F77-26A7-4FBF-9991-4E910C8A49BF}"/>
              </a:ext>
            </a:extLst>
          </p:cNvPr>
          <p:cNvSpPr>
            <a:spLocks xmlns:a="http://schemas.openxmlformats.org/drawingml/2006/main" noGrp="1"/>
          </p:cNvSpPr>
          <p:nvPr/>
        </p:nvSpPr>
        <p:spPr>
          <a:xfrm xmlns:a="http://schemas.openxmlformats.org/drawingml/2006/main">
            <a:off x="685800" y="56388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Trading hours stay 10 AM–9 PM daily. Signs stay inside Unit 42 and need two business days for approval.</a:t>
            </a:r>
          </a:p>
        </p:txBody>
      </p:sp>
    </p:spTree>
    <p:extLst>
      <p:ext uri="{BB962C8B-B14F-4D97-AF65-F5344CB8AC3E}">
        <p14:creationId xmlns:p14="http://schemas.microsoft.com/office/powerpoint/2010/main" val="9627463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C1AB3B-BFAB-498B-AF38-36A1A2161EFB}"/>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June customer plan: 685 sales</a:t>
            </a:r>
          </a:p>
        </p:txBody>
      </p:sp>
      <p:sp>
        <p:nvSpPr>
          <p:cNvPr id="2" name="">
            <a:extLst xmlns:a="http://schemas.openxmlformats.org/drawingml/2006/main">
              <a:ext uri="{FF2B5EF4-FFF2-40B4-BE49-F238E27FC236}">
                <a16:creationId xmlns:a16="http://schemas.microsoft.com/office/drawing/2014/main" id="{BCCE06FE-034A-4916-B1FF-9795AE000DEE}"/>
              </a:ext>
            </a:extLst>
          </p:cNvPr>
          <p:cNvSpPr>
            <a:spLocks xmlns:a="http://schemas.openxmlformats.org/drawingml/2006/main" noGrp="1"/>
          </p:cNvSpPr>
          <p:nvPr/>
        </p:nvSpPr>
        <p:spPr>
          <a:xfrm xmlns:a="http://schemas.openxmlformats.org/drawingml/2006/main">
            <a:off x="111442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xmlns:a="http://schemas.openxmlformats.org/drawingml/2006/main">
            <a:pPr>
              <a:defRPr sz="1200" b="0">
                <a:solidFill>
                  <a:srgbClr val="526477"/>
                </a:solidFill>
                <a:latin typeface="Arial"/>
                <a:ea typeface="Arial"/>
                <a:cs typeface="Arial"/>
              </a:defRPr>
            </a:pPr>
            <a:r>
              <a:rPr sz="1200" b="0">
                <a:solidFill>
                  <a:srgbClr val="526477"/>
                </a:solidFill>
                <a:latin typeface="Arial"/>
                <a:ea typeface="Arial"/>
                <a:cs typeface="Arial"/>
              </a:rPr>
              <a:t>6</a:t>
            </a:r>
          </a:p>
        </p:txBody>
      </p:sp>
      <p:graphicFrame>
        <p:nvGraphicFramePr>
          <p:cNvPr id="3" name="Chart">
            <a:extLst xmlns:a="http://schemas.openxmlformats.org/drawingml/2006/main">
              <a:ext uri="{FF2B5EF4-FFF2-40B4-BE49-F238E27FC236}">
                <a16:creationId xmlns:a16="http://schemas.microsoft.com/office/drawing/2014/main" id="{597C16D6-033D-4501-9841-FAD627447366}"/>
              </a:ext>
            </a:extLst>
          </p:cNvPr>
          <p:cNvGraphicFramePr/>
          <p:nvPr/>
        </p:nvGraphicFramePr>
        <p:xfrm>
          <a:off xmlns:a="http://schemas.openxmlformats.org/drawingml/2006/main" x="685800" y="1581150"/>
          <a:ext xmlns:a="http://schemas.openxmlformats.org/drawingml/2006/main" cx="6191250" cy="3476625"/>
        </p:xfrm>
        <a:graphic xmlns:a="http://schemas.openxmlformats.org/drawingml/2006/main">
          <a:graphicData uri="http://schemas.openxmlformats.org/drawingml/2006/chart">
            <c:chart xmlns:r="http://schemas.openxmlformats.org/officeDocument/2006/relationships" xmlns:c="http://schemas.openxmlformats.org/drawingml/2006/chart" r:id="R1396af9c69cc4aa8"/>
          </a:graphicData>
        </a:graphic>
      </p:graphicFrame>
      <p:sp>
        <p:nvSpPr>
          <p:cNvPr id="4" name="">
            <a:extLst xmlns:a="http://schemas.openxmlformats.org/drawingml/2006/main">
              <a:ext uri="{FF2B5EF4-FFF2-40B4-BE49-F238E27FC236}">
                <a16:creationId xmlns:a16="http://schemas.microsoft.com/office/drawing/2014/main" id="{8A6DFDF1-6523-4472-BE29-560739FF5ACA}"/>
              </a:ext>
            </a:extLst>
          </p:cNvPr>
          <p:cNvSpPr>
            <a:spLocks xmlns:a="http://schemas.openxmlformats.org/drawingml/2006/main" noGrp="1"/>
          </p:cNvSpPr>
          <p:nvPr/>
        </p:nvSpPr>
        <p:spPr>
          <a:xfrm xmlns:a="http://schemas.openxmlformats.org/drawingml/2006/main">
            <a:off x="7334250" y="163830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6324F"/>
                </a:solidFill>
                <a:latin typeface="Arial"/>
                <a:ea typeface="Arial"/>
                <a:cs typeface="Arial"/>
              </a:defRPr>
            </a:defPPr>
            <a:lvl1pPr>
              <a:defRPr sz="2100" b="1">
                <a:solidFill>
                  <a:srgbClr val="16324F"/>
                </a:solidFill>
                <a:latin typeface="Arial"/>
                <a:ea typeface="Arial"/>
                <a:cs typeface="Arial"/>
              </a:defRPr>
            </a:lvl1pPr>
            <a:lvl2pPr>
              <a:defRPr sz="2100" b="1">
                <a:solidFill>
                  <a:srgbClr val="16324F"/>
                </a:solidFill>
                <a:latin typeface="Arial"/>
                <a:ea typeface="Arial"/>
                <a:cs typeface="Arial"/>
              </a:defRPr>
            </a:lvl2pPr>
            <a:lvl3pPr>
              <a:defRPr sz="2100" b="1">
                <a:solidFill>
                  <a:srgbClr val="16324F"/>
                </a:solidFill>
                <a:latin typeface="Arial"/>
                <a:ea typeface="Arial"/>
                <a:cs typeface="Arial"/>
              </a:defRPr>
            </a:lvl3pPr>
            <a:lvl4pPr>
              <a:defRPr sz="2100" b="1">
                <a:solidFill>
                  <a:srgbClr val="16324F"/>
                </a:solidFill>
                <a:latin typeface="Arial"/>
                <a:ea typeface="Arial"/>
                <a:cs typeface="Arial"/>
              </a:defRPr>
            </a:lvl4pPr>
            <a:lvl5pPr>
              <a:defRPr sz="2100" b="1">
                <a:solidFill>
                  <a:srgbClr val="16324F"/>
                </a:solidFill>
                <a:latin typeface="Arial"/>
                <a:ea typeface="Arial"/>
                <a:cs typeface="Arial"/>
              </a:defRPr>
            </a:lvl5pPr>
            <a:lvl6pPr>
              <a:defRPr sz="2100" b="1">
                <a:solidFill>
                  <a:srgbClr val="16324F"/>
                </a:solidFill>
                <a:latin typeface="Arial"/>
                <a:ea typeface="Arial"/>
                <a:cs typeface="Arial"/>
              </a:defRPr>
            </a:lvl6pPr>
            <a:lvl7pPr>
              <a:defRPr sz="2100" b="1">
                <a:solidFill>
                  <a:srgbClr val="16324F"/>
                </a:solidFill>
                <a:latin typeface="Arial"/>
                <a:ea typeface="Arial"/>
                <a:cs typeface="Arial"/>
              </a:defRPr>
            </a:lvl7pPr>
            <a:lvl8pPr>
              <a:defRPr sz="2100" b="1">
                <a:solidFill>
                  <a:srgbClr val="16324F"/>
                </a:solidFill>
                <a:latin typeface="Arial"/>
                <a:ea typeface="Arial"/>
                <a:cs typeface="Arial"/>
              </a:defRPr>
            </a:lvl8pPr>
            <a:lvl9pPr>
              <a:defRPr sz="2100" b="1">
                <a:solidFill>
                  <a:srgbClr val="16324F"/>
                </a:solidFill>
                <a:latin typeface="Arial"/>
                <a:ea typeface="Arial"/>
                <a:cs typeface="Arial"/>
              </a:defRPr>
            </a:lvl9pPr>
          </a:lstStyle>
          <a:p xmlns:a="http://schemas.openxmlformats.org/drawingml/2006/main">
            <a:pPr>
              <a:defRPr sz="2100" b="1">
                <a:solidFill>
                  <a:srgbClr val="16324F"/>
                </a:solidFill>
                <a:latin typeface="Arial"/>
                <a:ea typeface="Arial"/>
                <a:cs typeface="Arial"/>
              </a:defRPr>
            </a:pPr>
            <a:r>
              <a:rPr sz="2100" b="1">
                <a:solidFill>
                  <a:srgbClr val="16324F"/>
                </a:solidFill>
                <a:latin typeface="Arial"/>
                <a:ea typeface="Arial"/>
                <a:cs typeface="Arial"/>
              </a:rPr>
              <a:t>Audience and offer</a:t>
            </a:r>
          </a:p>
        </p:txBody>
      </p:sp>
      <p:sp>
        <p:nvSpPr>
          <p:cNvPr id="5" name="">
            <a:extLst xmlns:a="http://schemas.openxmlformats.org/drawingml/2006/main">
              <a:ext uri="{FF2B5EF4-FFF2-40B4-BE49-F238E27FC236}">
                <a16:creationId xmlns:a16="http://schemas.microsoft.com/office/drawing/2014/main" id="{1CD0FE5F-AD76-4AF1-BE58-DE93B904E7C2}"/>
              </a:ext>
            </a:extLst>
          </p:cNvPr>
          <p:cNvSpPr>
            <a:spLocks xmlns:a="http://schemas.openxmlformats.org/drawingml/2006/main" noGrp="1"/>
          </p:cNvSpPr>
          <p:nvPr/>
        </p:nvSpPr>
        <p:spPr>
          <a:xfrm xmlns:a="http://schemas.openxmlformats.org/drawingml/2006/main">
            <a:off x="7334250" y="2190750"/>
            <a:ext cx="4048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Phone owners needing cases, cables or grips. Test students as an audience. Display the $18 price and phone compatibility clearly.</a:t>
            </a:r>
          </a:p>
        </p:txBody>
      </p:sp>
      <p:sp>
        <p:nvSpPr>
          <p:cNvPr id="6" name="">
            <a:extLst xmlns:a="http://schemas.openxmlformats.org/drawingml/2006/main">
              <a:ext uri="{FF2B5EF4-FFF2-40B4-BE49-F238E27FC236}">
                <a16:creationId xmlns:a16="http://schemas.microsoft.com/office/drawing/2014/main" id="{9ECD7E4A-E03C-4339-A7CF-5BC6CF79FA1C}"/>
              </a:ext>
            </a:extLst>
          </p:cNvPr>
          <p:cNvSpPr>
            <a:spLocks xmlns:a="http://schemas.openxmlformats.org/drawingml/2006/main" noGrp="1"/>
          </p:cNvSpPr>
          <p:nvPr/>
        </p:nvSpPr>
        <p:spPr>
          <a:xfrm xmlns:a="http://schemas.openxmlformats.org/drawingml/2006/main">
            <a:off x="7334250" y="3971925"/>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6324F"/>
                </a:solidFill>
                <a:latin typeface="Arial"/>
                <a:ea typeface="Arial"/>
                <a:cs typeface="Arial"/>
              </a:defRPr>
            </a:defPPr>
            <a:lvl1pPr>
              <a:defRPr sz="2100" b="1">
                <a:solidFill>
                  <a:srgbClr val="16324F"/>
                </a:solidFill>
                <a:latin typeface="Arial"/>
                <a:ea typeface="Arial"/>
                <a:cs typeface="Arial"/>
              </a:defRPr>
            </a:lvl1pPr>
            <a:lvl2pPr>
              <a:defRPr sz="2100" b="1">
                <a:solidFill>
                  <a:srgbClr val="16324F"/>
                </a:solidFill>
                <a:latin typeface="Arial"/>
                <a:ea typeface="Arial"/>
                <a:cs typeface="Arial"/>
              </a:defRPr>
            </a:lvl2pPr>
            <a:lvl3pPr>
              <a:defRPr sz="2100" b="1">
                <a:solidFill>
                  <a:srgbClr val="16324F"/>
                </a:solidFill>
                <a:latin typeface="Arial"/>
                <a:ea typeface="Arial"/>
                <a:cs typeface="Arial"/>
              </a:defRPr>
            </a:lvl3pPr>
            <a:lvl4pPr>
              <a:defRPr sz="2100" b="1">
                <a:solidFill>
                  <a:srgbClr val="16324F"/>
                </a:solidFill>
                <a:latin typeface="Arial"/>
                <a:ea typeface="Arial"/>
                <a:cs typeface="Arial"/>
              </a:defRPr>
            </a:lvl4pPr>
            <a:lvl5pPr>
              <a:defRPr sz="2100" b="1">
                <a:solidFill>
                  <a:srgbClr val="16324F"/>
                </a:solidFill>
                <a:latin typeface="Arial"/>
                <a:ea typeface="Arial"/>
                <a:cs typeface="Arial"/>
              </a:defRPr>
            </a:lvl5pPr>
            <a:lvl6pPr>
              <a:defRPr sz="2100" b="1">
                <a:solidFill>
                  <a:srgbClr val="16324F"/>
                </a:solidFill>
                <a:latin typeface="Arial"/>
                <a:ea typeface="Arial"/>
                <a:cs typeface="Arial"/>
              </a:defRPr>
            </a:lvl6pPr>
            <a:lvl7pPr>
              <a:defRPr sz="2100" b="1">
                <a:solidFill>
                  <a:srgbClr val="16324F"/>
                </a:solidFill>
                <a:latin typeface="Arial"/>
                <a:ea typeface="Arial"/>
                <a:cs typeface="Arial"/>
              </a:defRPr>
            </a:lvl7pPr>
            <a:lvl8pPr>
              <a:defRPr sz="2100" b="1">
                <a:solidFill>
                  <a:srgbClr val="16324F"/>
                </a:solidFill>
                <a:latin typeface="Arial"/>
                <a:ea typeface="Arial"/>
                <a:cs typeface="Arial"/>
              </a:defRPr>
            </a:lvl8pPr>
            <a:lvl9pPr>
              <a:defRPr sz="2100" b="1">
                <a:solidFill>
                  <a:srgbClr val="16324F"/>
                </a:solidFill>
                <a:latin typeface="Arial"/>
                <a:ea typeface="Arial"/>
                <a:cs typeface="Arial"/>
              </a:defRPr>
            </a:lvl9pPr>
          </a:lstStyle>
          <a:p xmlns:a="http://schemas.openxmlformats.org/drawingml/2006/main">
            <a:pPr>
              <a:defRPr sz="2100" b="1">
                <a:solidFill>
                  <a:srgbClr val="16324F"/>
                </a:solidFill>
                <a:latin typeface="Arial"/>
                <a:ea typeface="Arial"/>
                <a:cs typeface="Arial"/>
              </a:defRPr>
            </a:pPr>
            <a:r>
              <a:rPr sz="2100" b="1">
                <a:solidFill>
                  <a:srgbClr val="16324F"/>
                </a:solidFill>
                <a:latin typeface="Arial"/>
                <a:ea typeface="Arial"/>
                <a:cs typeface="Arial"/>
              </a:rPr>
              <a:t>Timing and coverage</a:t>
            </a:r>
          </a:p>
        </p:txBody>
      </p:sp>
      <p:sp>
        <p:nvSpPr>
          <p:cNvPr id="7" name="">
            <a:extLst xmlns:a="http://schemas.openxmlformats.org/drawingml/2006/main">
              <a:ext uri="{FF2B5EF4-FFF2-40B4-BE49-F238E27FC236}">
                <a16:creationId xmlns:a16="http://schemas.microsoft.com/office/drawing/2014/main" id="{F6E9C6DF-9D5C-47EF-B6FE-8DB9FF6FD0F8}"/>
              </a:ext>
            </a:extLst>
          </p:cNvPr>
          <p:cNvSpPr>
            <a:spLocks xmlns:a="http://schemas.openxmlformats.org/drawingml/2006/main" noGrp="1"/>
          </p:cNvSpPr>
          <p:nvPr/>
        </p:nvSpPr>
        <p:spPr>
          <a:xfrm xmlns:a="http://schemas.openxmlformats.org/drawingml/2006/main">
            <a:off x="7334250" y="4524375"/>
            <a:ext cx="4048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Focus promotion on weekend afternoons and weekday evenings. Staff every opening hour.</a:t>
            </a:r>
          </a:p>
        </p:txBody>
      </p:sp>
      <p:sp>
        <p:nvSpPr>
          <p:cNvPr id="8" name="">
            <a:extLst xmlns:a="http://schemas.openxmlformats.org/drawingml/2006/main">
              <a:ext uri="{FF2B5EF4-FFF2-40B4-BE49-F238E27FC236}">
                <a16:creationId xmlns:a16="http://schemas.microsoft.com/office/drawing/2014/main" id="{099BB0CB-BDD9-48B9-BCB4-18D104C8F9F5}"/>
              </a:ext>
            </a:extLst>
          </p:cNvPr>
          <p:cNvSpPr>
            <a:spLocks xmlns:a="http://schemas.openxmlformats.org/drawingml/2006/main" noGrp="1"/>
          </p:cNvSpPr>
          <p:nvPr/>
        </p:nvSpPr>
        <p:spPr>
          <a:xfrm xmlns:a="http://schemas.openxmlformats.org/drawingml/2006/main">
            <a:off x="685800" y="5553075"/>
            <a:ext cx="619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324F"/>
                </a:solidFill>
                <a:latin typeface="Arial"/>
                <a:ea typeface="Arial"/>
                <a:cs typeface="Arial"/>
              </a:defRPr>
            </a:defPPr>
            <a:lvl1pPr>
              <a:defRPr sz="2025" b="1">
                <a:solidFill>
                  <a:srgbClr val="16324F"/>
                </a:solidFill>
                <a:latin typeface="Arial"/>
                <a:ea typeface="Arial"/>
                <a:cs typeface="Arial"/>
              </a:defRPr>
            </a:lvl1pPr>
            <a:lvl2pPr>
              <a:defRPr sz="2025" b="1">
                <a:solidFill>
                  <a:srgbClr val="16324F"/>
                </a:solidFill>
                <a:latin typeface="Arial"/>
                <a:ea typeface="Arial"/>
                <a:cs typeface="Arial"/>
              </a:defRPr>
            </a:lvl2pPr>
            <a:lvl3pPr>
              <a:defRPr sz="2025" b="1">
                <a:solidFill>
                  <a:srgbClr val="16324F"/>
                </a:solidFill>
                <a:latin typeface="Arial"/>
                <a:ea typeface="Arial"/>
                <a:cs typeface="Arial"/>
              </a:defRPr>
            </a:lvl3pPr>
            <a:lvl4pPr>
              <a:defRPr sz="2025" b="1">
                <a:solidFill>
                  <a:srgbClr val="16324F"/>
                </a:solidFill>
                <a:latin typeface="Arial"/>
                <a:ea typeface="Arial"/>
                <a:cs typeface="Arial"/>
              </a:defRPr>
            </a:lvl4pPr>
            <a:lvl5pPr>
              <a:defRPr sz="2025" b="1">
                <a:solidFill>
                  <a:srgbClr val="16324F"/>
                </a:solidFill>
                <a:latin typeface="Arial"/>
                <a:ea typeface="Arial"/>
                <a:cs typeface="Arial"/>
              </a:defRPr>
            </a:lvl5pPr>
            <a:lvl6pPr>
              <a:defRPr sz="2025" b="1">
                <a:solidFill>
                  <a:srgbClr val="16324F"/>
                </a:solidFill>
                <a:latin typeface="Arial"/>
                <a:ea typeface="Arial"/>
                <a:cs typeface="Arial"/>
              </a:defRPr>
            </a:lvl6pPr>
            <a:lvl7pPr>
              <a:defRPr sz="2025" b="1">
                <a:solidFill>
                  <a:srgbClr val="16324F"/>
                </a:solidFill>
                <a:latin typeface="Arial"/>
                <a:ea typeface="Arial"/>
                <a:cs typeface="Arial"/>
              </a:defRPr>
            </a:lvl7pPr>
            <a:lvl8pPr>
              <a:defRPr sz="2025" b="1">
                <a:solidFill>
                  <a:srgbClr val="16324F"/>
                </a:solidFill>
                <a:latin typeface="Arial"/>
                <a:ea typeface="Arial"/>
                <a:cs typeface="Arial"/>
              </a:defRPr>
            </a:lvl8pPr>
            <a:lvl9pPr>
              <a:defRPr sz="2025" b="1">
                <a:solidFill>
                  <a:srgbClr val="16324F"/>
                </a:solidFill>
                <a:latin typeface="Arial"/>
                <a:ea typeface="Arial"/>
                <a:cs typeface="Arial"/>
              </a:defRPr>
            </a:lvl9pPr>
          </a:lstStyle>
          <a:p xmlns:a="http://schemas.openxmlformats.org/drawingml/2006/main">
            <a:pPr>
              <a:defRPr sz="2025" b="1">
                <a:solidFill>
                  <a:srgbClr val="16324F"/>
                </a:solidFill>
                <a:latin typeface="Arial"/>
                <a:ea typeface="Arial"/>
                <a:cs typeface="Arial"/>
              </a:defRPr>
            </a:pPr>
            <a:r>
              <a:rPr sz="2025" b="1">
                <a:solidFill>
                  <a:srgbClr val="16324F"/>
                </a:solidFill>
                <a:latin typeface="Arial"/>
                <a:ea typeface="Arial"/>
                <a:cs typeface="Arial"/>
              </a:rPr>
              <a:t>June target: $12,330 revenue from 23,122 passing visits.</a:t>
            </a:r>
          </a:p>
        </p:txBody>
      </p:sp>
    </p:spTree>
    <p:extLst>
      <p:ext uri="{BB962C8B-B14F-4D97-AF65-F5344CB8AC3E}">
        <p14:creationId xmlns:p14="http://schemas.microsoft.com/office/powerpoint/2010/main" val="5825591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D5AB89-A577-45E5-8DBD-A373885817A3}"/>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First-month launch schedule</a:t>
            </a:r>
          </a:p>
        </p:txBody>
      </p:sp>
      <p:sp>
        <p:nvSpPr>
          <p:cNvPr id="2" name="">
            <a:extLst xmlns:a="http://schemas.openxmlformats.org/drawingml/2006/main">
              <a:ext uri="{FF2B5EF4-FFF2-40B4-BE49-F238E27FC236}">
                <a16:creationId xmlns:a16="http://schemas.microsoft.com/office/drawing/2014/main" id="{9909DD4A-F03C-4077-A973-A648F2B4B511}"/>
              </a:ext>
            </a:extLst>
          </p:cNvPr>
          <p:cNvSpPr>
            <a:spLocks xmlns:a="http://schemas.openxmlformats.org/drawingml/2006/main" noGrp="1"/>
          </p:cNvSpPr>
          <p:nvPr/>
        </p:nvSpPr>
        <p:spPr>
          <a:xfrm xmlns:a="http://schemas.openxmlformats.org/drawingml/2006/main">
            <a:off x="111442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xmlns:a="http://schemas.openxmlformats.org/drawingml/2006/main">
            <a:pPr>
              <a:defRPr sz="1200" b="0">
                <a:solidFill>
                  <a:srgbClr val="526477"/>
                </a:solidFill>
                <a:latin typeface="Arial"/>
                <a:ea typeface="Arial"/>
                <a:cs typeface="Arial"/>
              </a:defRPr>
            </a:pPr>
            <a:r>
              <a:rPr sz="1200" b="0">
                <a:solidFill>
                  <a:srgbClr val="526477"/>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424170F2-828E-47CD-9175-2CAF1AE4A402}"/>
              </a:ext>
            </a:extLst>
          </p:cNvPr>
          <p:cNvGraphicFramePr/>
          <p:nvPr/>
        </p:nvGraphicFramePr>
        <p:xfrm>
          <a:off xmlns:a="http://schemas.openxmlformats.org/drawingml/2006/main" x="685800" y="1571625"/>
          <a:ext xmlns:a="http://schemas.openxmlformats.org/drawingml/2006/main" cx="10820400" cy="3667125"/>
        </p:xfrm>
        <a:graphic xmlns:a="http://schemas.openxmlformats.org/drawingml/2006/main">
          <a:graphicData uri="http://schemas.openxmlformats.org/drawingml/2006/table">
            <a:tbl>
              <a:tblPr/>
              <a:tblGrid>
                <a:gridCol w="1790700"/>
                <a:gridCol w="6381750"/>
                <a:gridCol w="2647950"/>
              </a:tblGrid>
              <a:tr h="733425">
                <a:tc>
                  <a:txBody>
                    <a:bodyPr/>
                    <a:lstStyle/>
                    <a:p>
                      <a:r>
                        <a:rPr sz="1725" b="1">
                          <a:solidFill>
                            <a:srgbClr val="FFFFFF"/>
                          </a:solidFill>
                          <a:latin typeface="Arial"/>
                          <a:ea typeface="Arial"/>
                          <a:cs typeface="Arial"/>
                        </a:rPr>
                        <a:t>Period</a:t>
                      </a:r>
                    </a:p>
                  </a:txBody>
                  <a:tcPr marL="114300" marR="114300" marT="95250" marB="95250">
                    <a:lnL w="5715">
                      <a:solidFill>
                        <a:srgbClr val="D7E0E8"/>
                      </a:solidFill>
                      <a:prstDash val="solid"/>
                    </a:lnL>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c>
                  <a:txBody>
                    <a:bodyPr/>
                    <a:lstStyle/>
                    <a:p>
                      <a:r>
                        <a:rPr sz="1725" b="1">
                          <a:solidFill>
                            <a:srgbClr val="FFFFFF"/>
                          </a:solidFill>
                          <a:latin typeface="Arial"/>
                          <a:ea typeface="Arial"/>
                          <a:cs typeface="Arial"/>
                        </a:rPr>
                        <a:t>Activity</a:t>
                      </a:r>
                    </a:p>
                  </a:txBody>
                  <a:tcPr marL="114300" marR="114300" marT="95250" marB="95250">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c>
                  <a:txBody>
                    <a:bodyPr/>
                    <a:lstStyle/>
                    <a:p>
                      <a:r>
                        <a:rPr sz="1725" b="1">
                          <a:solidFill>
                            <a:srgbClr val="FFFFFF"/>
                          </a:solidFill>
                          <a:latin typeface="Arial"/>
                          <a:ea typeface="Arial"/>
                          <a:cs typeface="Arial"/>
                        </a:rPr>
                        <a:t>Cumulative sales target</a:t>
                      </a:r>
                    </a:p>
                  </a:txBody>
                  <a:tcPr marL="114300" marR="114300" marT="95250" marB="95250">
                    <a:lnR w="5715">
                      <a:solidFill>
                        <a:srgbClr val="D7E0E8"/>
                      </a:solidFill>
                      <a:prstDash val="solid"/>
                    </a:lnR>
                    <a:lnT w="5715">
                      <a:solidFill>
                        <a:srgbClr val="D7E0E8"/>
                      </a:solidFill>
                      <a:prstDash val="solid"/>
                    </a:lnT>
                    <a:lnB w="5715">
                      <a:solidFill>
                        <a:srgbClr val="D7E0E8"/>
                      </a:solidFill>
                      <a:prstDash val="solid"/>
                    </a:lnB>
                    <a:solidFill>
                      <a:srgbClr val="16324F"/>
                    </a:solidFill>
                  </a:tcPr>
                </a:tc>
              </a:tr>
              <a:tr h="733425">
                <a:tc>
                  <a:txBody>
                    <a:bodyPr/>
                    <a:lstStyle/>
                    <a:p>
                      <a:r>
                        <a:rPr sz="1725">
                          <a:solidFill>
                            <a:srgbClr val="16324F"/>
                          </a:solidFill>
                          <a:latin typeface="Arial"/>
                          <a:ea typeface="Arial"/>
                          <a:cs typeface="Arial"/>
                        </a:rPr>
                        <a:t>June 1–7</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Launch the $300 campaign. Use mall email, noticeboard and approved sign.</a:t>
                      </a:r>
                    </a:p>
                  </a:txBody>
                  <a:tcPr marL="114300" marR="114300" marT="95250" marB="95250">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164</a:t>
                      </a:r>
                    </a:p>
                  </a:txBody>
                  <a:tcPr marL="114300" marR="114300" marT="95250" marB="95250">
                    <a:lnR w="5715">
                      <a:solidFill>
                        <a:srgbClr val="D7E0E8"/>
                      </a:solidFill>
                      <a:prstDash val="solid"/>
                    </a:lnR>
                    <a:lnB w="5715">
                      <a:solidFill>
                        <a:srgbClr val="D7E0E8"/>
                      </a:solidFill>
                      <a:prstDash val="solid"/>
                    </a:lnB>
                    <a:solidFill>
                      <a:srgbClr val="FFFFFF"/>
                    </a:solidFill>
                  </a:tcPr>
                </a:tc>
              </a:tr>
              <a:tr h="733425">
                <a:tc>
                  <a:txBody>
                    <a:bodyPr/>
                    <a:lstStyle/>
                    <a:p>
                      <a:r>
                        <a:rPr sz="1725">
                          <a:solidFill>
                            <a:srgbClr val="16324F"/>
                          </a:solidFill>
                          <a:latin typeface="Arial"/>
                          <a:ea typeface="Arial"/>
                          <a:cs typeface="Arial"/>
                        </a:rPr>
                        <a:t>June 8–14</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Compare weekdays with weekends. Track requests by phone model.</a:t>
                      </a:r>
                    </a:p>
                  </a:txBody>
                  <a:tcPr marL="114300" marR="114300" marT="95250" marB="95250">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328</a:t>
                      </a:r>
                    </a:p>
                  </a:txBody>
                  <a:tcPr marL="114300" marR="114300" marT="95250" marB="95250">
                    <a:lnR w="5715">
                      <a:solidFill>
                        <a:srgbClr val="D7E0E8"/>
                      </a:solidFill>
                      <a:prstDash val="solid"/>
                    </a:lnR>
                    <a:lnB w="5715">
                      <a:solidFill>
                        <a:srgbClr val="D7E0E8"/>
                      </a:solidFill>
                      <a:prstDash val="solid"/>
                    </a:lnB>
                    <a:solidFill>
                      <a:srgbClr val="FFFFFF"/>
                    </a:solidFill>
                  </a:tcPr>
                </a:tc>
              </a:tr>
              <a:tr h="733425">
                <a:tc>
                  <a:txBody>
                    <a:bodyPr/>
                    <a:lstStyle/>
                    <a:p>
                      <a:r>
                        <a:rPr sz="1725">
                          <a:solidFill>
                            <a:srgbClr val="16324F"/>
                          </a:solidFill>
                          <a:latin typeface="Arial"/>
                          <a:ea typeface="Arial"/>
                          <a:cs typeface="Arial"/>
                        </a:rPr>
                        <a:t>June 15–21</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Refresh free messaging. Reorder proven sellers. Record referral source.</a:t>
                      </a:r>
                    </a:p>
                  </a:txBody>
                  <a:tcPr marL="114300" marR="114300" marT="95250" marB="95250">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492</a:t>
                      </a:r>
                    </a:p>
                  </a:txBody>
                  <a:tcPr marL="114300" marR="114300" marT="95250" marB="95250">
                    <a:lnR w="5715">
                      <a:solidFill>
                        <a:srgbClr val="D7E0E8"/>
                      </a:solidFill>
                      <a:prstDash val="solid"/>
                    </a:lnR>
                    <a:lnB w="5715">
                      <a:solidFill>
                        <a:srgbClr val="D7E0E8"/>
                      </a:solidFill>
                      <a:prstDash val="solid"/>
                    </a:lnB>
                    <a:solidFill>
                      <a:srgbClr val="FFFFFF"/>
                    </a:solidFill>
                  </a:tcPr>
                </a:tc>
              </a:tr>
              <a:tr h="733425">
                <a:tc>
                  <a:txBody>
                    <a:bodyPr/>
                    <a:lstStyle/>
                    <a:p>
                      <a:r>
                        <a:rPr sz="1725">
                          <a:solidFill>
                            <a:srgbClr val="16324F"/>
                          </a:solidFill>
                          <a:latin typeface="Arial"/>
                          <a:ea typeface="Arial"/>
                          <a:cs typeface="Arial"/>
                        </a:rPr>
                        <a:t>June 22–30</a:t>
                      </a:r>
                    </a:p>
                  </a:txBody>
                  <a:tcPr marL="114300" marR="114300" marT="95250" marB="95250">
                    <a:lnL w="5715">
                      <a:solidFill>
                        <a:srgbClr val="D7E0E8"/>
                      </a:solidFill>
                      <a:prstDash val="solid"/>
                    </a:lnL>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Repeat effective messages. Audit cash and stock before July rent.</a:t>
                      </a:r>
                    </a:p>
                  </a:txBody>
                  <a:tcPr marL="114300" marR="114300" marT="95250" marB="95250">
                    <a:lnR w="5715">
                      <a:solidFill>
                        <a:srgbClr val="D7E0E8"/>
                      </a:solidFill>
                      <a:prstDash val="solid"/>
                    </a:lnR>
                    <a:lnB w="5715">
                      <a:solidFill>
                        <a:srgbClr val="D7E0E8"/>
                      </a:solidFill>
                      <a:prstDash val="solid"/>
                    </a:lnB>
                    <a:solidFill>
                      <a:srgbClr val="FFFFFF"/>
                    </a:solidFill>
                  </a:tcPr>
                </a:tc>
                <a:tc>
                  <a:txBody>
                    <a:bodyPr/>
                    <a:lstStyle/>
                    <a:p>
                      <a:r>
                        <a:rPr sz="1725">
                          <a:solidFill>
                            <a:srgbClr val="16324F"/>
                          </a:solidFill>
                          <a:latin typeface="Arial"/>
                          <a:ea typeface="Arial"/>
                          <a:cs typeface="Arial"/>
                        </a:rPr>
                        <a:t>685</a:t>
                      </a:r>
                    </a:p>
                  </a:txBody>
                  <a:tcPr marL="114300" marR="114300" marT="95250" marB="95250">
                    <a:lnR w="5715">
                      <a:solidFill>
                        <a:srgbClr val="D7E0E8"/>
                      </a:solidFill>
                      <a:prstDash val="solid"/>
                    </a:lnR>
                    <a:lnB w="5715">
                      <a:solidFill>
                        <a:srgbClr val="D7E0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1237781-4F1D-4182-8A69-F4C5FA68076F}"/>
              </a:ext>
            </a:extLst>
          </p:cNvPr>
          <p:cNvSpPr>
            <a:spLocks xmlns:a="http://schemas.openxmlformats.org/drawingml/2006/main" noGrp="1"/>
          </p:cNvSpPr>
          <p:nvPr/>
        </p:nvSpPr>
        <p:spPr>
          <a:xfrm xmlns:a="http://schemas.openxmlformats.org/drawingml/2006/main">
            <a:off x="685800" y="5581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Marketing owns reach. Store staff log sales and source. Finance checks conversion and cash weekly.</a:t>
            </a:r>
          </a:p>
        </p:txBody>
      </p:sp>
    </p:spTree>
    <p:extLst>
      <p:ext uri="{BB962C8B-B14F-4D97-AF65-F5344CB8AC3E}">
        <p14:creationId xmlns:p14="http://schemas.microsoft.com/office/powerpoint/2010/main" val="6196926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746808-9102-4EBD-98FE-D745710BCC97}"/>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defRPr sz="3150" b="1">
                <a:solidFill>
                  <a:srgbClr val="16324F"/>
                </a:solidFill>
                <a:latin typeface="Arial"/>
                <a:ea typeface="Arial"/>
                <a:cs typeface="Arial"/>
              </a:defRPr>
            </a:lvl1pPr>
            <a:lvl2pPr>
              <a:defRPr sz="3150" b="1">
                <a:solidFill>
                  <a:srgbClr val="16324F"/>
                </a:solidFill>
                <a:latin typeface="Arial"/>
                <a:ea typeface="Arial"/>
                <a:cs typeface="Arial"/>
              </a:defRPr>
            </a:lvl2pPr>
            <a:lvl3pPr>
              <a:defRPr sz="3150" b="1">
                <a:solidFill>
                  <a:srgbClr val="16324F"/>
                </a:solidFill>
                <a:latin typeface="Arial"/>
                <a:ea typeface="Arial"/>
                <a:cs typeface="Arial"/>
              </a:defRPr>
            </a:lvl3pPr>
            <a:lvl4pPr>
              <a:defRPr sz="3150" b="1">
                <a:solidFill>
                  <a:srgbClr val="16324F"/>
                </a:solidFill>
                <a:latin typeface="Arial"/>
                <a:ea typeface="Arial"/>
                <a:cs typeface="Arial"/>
              </a:defRPr>
            </a:lvl4pPr>
            <a:lvl5pPr>
              <a:defRPr sz="3150" b="1">
                <a:solidFill>
                  <a:srgbClr val="16324F"/>
                </a:solidFill>
                <a:latin typeface="Arial"/>
                <a:ea typeface="Arial"/>
                <a:cs typeface="Arial"/>
              </a:defRPr>
            </a:lvl5pPr>
            <a:lvl6pPr>
              <a:defRPr sz="3150" b="1">
                <a:solidFill>
                  <a:srgbClr val="16324F"/>
                </a:solidFill>
                <a:latin typeface="Arial"/>
                <a:ea typeface="Arial"/>
                <a:cs typeface="Arial"/>
              </a:defRPr>
            </a:lvl6pPr>
            <a:lvl7pPr>
              <a:defRPr sz="3150" b="1">
                <a:solidFill>
                  <a:srgbClr val="16324F"/>
                </a:solidFill>
                <a:latin typeface="Arial"/>
                <a:ea typeface="Arial"/>
                <a:cs typeface="Arial"/>
              </a:defRPr>
            </a:lvl7pPr>
            <a:lvl8pPr>
              <a:defRPr sz="3150" b="1">
                <a:solidFill>
                  <a:srgbClr val="16324F"/>
                </a:solidFill>
                <a:latin typeface="Arial"/>
                <a:ea typeface="Arial"/>
                <a:cs typeface="Arial"/>
              </a:defRPr>
            </a:lvl8pPr>
            <a:lvl9pPr>
              <a:defRPr sz="3150" b="1">
                <a:solidFill>
                  <a:srgbClr val="16324F"/>
                </a:solidFill>
                <a:latin typeface="Arial"/>
                <a:ea typeface="Arial"/>
                <a:cs typeface="Arial"/>
              </a:defRPr>
            </a:lvl9pPr>
          </a:lstStyle>
          <a:p xmlns:a="http://schemas.openxmlformats.org/drawingml/2006/main">
            <a:pPr>
              <a:defRPr sz="3150" b="1">
                <a:solidFill>
                  <a:srgbClr val="16324F"/>
                </a:solidFill>
                <a:latin typeface="Arial"/>
                <a:ea typeface="Arial"/>
                <a:cs typeface="Arial"/>
              </a:defRPr>
            </a:pPr>
            <a:r>
              <a:rPr sz="3150" b="1">
                <a:solidFill>
                  <a:srgbClr val="16324F"/>
                </a:solidFill>
                <a:latin typeface="Arial"/>
                <a:ea typeface="Arial"/>
                <a:cs typeface="Arial"/>
              </a:rPr>
              <a:t>Decision and weekly checks</a:t>
            </a:r>
          </a:p>
        </p:txBody>
      </p:sp>
      <p:sp>
        <p:nvSpPr>
          <p:cNvPr id="2" name="">
            <a:extLst xmlns:a="http://schemas.openxmlformats.org/drawingml/2006/main">
              <a:ext uri="{FF2B5EF4-FFF2-40B4-BE49-F238E27FC236}">
                <a16:creationId xmlns:a16="http://schemas.microsoft.com/office/drawing/2014/main" id="{68DF2917-FBEC-4035-BCB4-371E30006D98}"/>
              </a:ext>
            </a:extLst>
          </p:cNvPr>
          <p:cNvSpPr>
            <a:spLocks xmlns:a="http://schemas.openxmlformats.org/drawingml/2006/main" noGrp="1"/>
          </p:cNvSpPr>
          <p:nvPr/>
        </p:nvSpPr>
        <p:spPr>
          <a:xfrm xmlns:a="http://schemas.openxmlformats.org/drawingml/2006/main">
            <a:off x="111442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7"/>
                </a:solidFill>
                <a:latin typeface="Arial"/>
                <a:ea typeface="Arial"/>
                <a:cs typeface="Arial"/>
              </a:defRPr>
            </a:defPPr>
            <a:lvl1pPr>
              <a:defRPr sz="1200" b="0">
                <a:solidFill>
                  <a:srgbClr val="526477"/>
                </a:solidFill>
                <a:latin typeface="Arial"/>
                <a:ea typeface="Arial"/>
                <a:cs typeface="Arial"/>
              </a:defRPr>
            </a:lvl1pPr>
            <a:lvl2pPr>
              <a:defRPr sz="1200" b="0">
                <a:solidFill>
                  <a:srgbClr val="526477"/>
                </a:solidFill>
                <a:latin typeface="Arial"/>
                <a:ea typeface="Arial"/>
                <a:cs typeface="Arial"/>
              </a:defRPr>
            </a:lvl2pPr>
            <a:lvl3pPr>
              <a:defRPr sz="1200" b="0">
                <a:solidFill>
                  <a:srgbClr val="526477"/>
                </a:solidFill>
                <a:latin typeface="Arial"/>
                <a:ea typeface="Arial"/>
                <a:cs typeface="Arial"/>
              </a:defRPr>
            </a:lvl3pPr>
            <a:lvl4pPr>
              <a:defRPr sz="1200" b="0">
                <a:solidFill>
                  <a:srgbClr val="526477"/>
                </a:solidFill>
                <a:latin typeface="Arial"/>
                <a:ea typeface="Arial"/>
                <a:cs typeface="Arial"/>
              </a:defRPr>
            </a:lvl4pPr>
            <a:lvl5pPr>
              <a:defRPr sz="1200" b="0">
                <a:solidFill>
                  <a:srgbClr val="526477"/>
                </a:solidFill>
                <a:latin typeface="Arial"/>
                <a:ea typeface="Arial"/>
                <a:cs typeface="Arial"/>
              </a:defRPr>
            </a:lvl5pPr>
            <a:lvl6pPr>
              <a:defRPr sz="1200" b="0">
                <a:solidFill>
                  <a:srgbClr val="526477"/>
                </a:solidFill>
                <a:latin typeface="Arial"/>
                <a:ea typeface="Arial"/>
                <a:cs typeface="Arial"/>
              </a:defRPr>
            </a:lvl6pPr>
            <a:lvl7pPr>
              <a:defRPr sz="1200" b="0">
                <a:solidFill>
                  <a:srgbClr val="526477"/>
                </a:solidFill>
                <a:latin typeface="Arial"/>
                <a:ea typeface="Arial"/>
                <a:cs typeface="Arial"/>
              </a:defRPr>
            </a:lvl7pPr>
            <a:lvl8pPr>
              <a:defRPr sz="1200" b="0">
                <a:solidFill>
                  <a:srgbClr val="526477"/>
                </a:solidFill>
                <a:latin typeface="Arial"/>
                <a:ea typeface="Arial"/>
                <a:cs typeface="Arial"/>
              </a:defRPr>
            </a:lvl8pPr>
            <a:lvl9pPr>
              <a:defRPr sz="1200" b="0">
                <a:solidFill>
                  <a:srgbClr val="526477"/>
                </a:solidFill>
                <a:latin typeface="Arial"/>
                <a:ea typeface="Arial"/>
                <a:cs typeface="Arial"/>
              </a:defRPr>
            </a:lvl9pPr>
          </a:lstStyle>
          <a:p xmlns:a="http://schemas.openxmlformats.org/drawingml/2006/main">
            <a:pPr>
              <a:defRPr sz="1200" b="0">
                <a:solidFill>
                  <a:srgbClr val="526477"/>
                </a:solidFill>
                <a:latin typeface="Arial"/>
                <a:ea typeface="Arial"/>
                <a:cs typeface="Arial"/>
              </a:defRPr>
            </a:pPr>
            <a:r>
              <a:rPr sz="1200" b="0">
                <a:solidFill>
                  <a:srgbClr val="526477"/>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59CD0209-F268-45CE-849B-BFB87088F11A}"/>
              </a:ext>
            </a:extLst>
          </p:cNvPr>
          <p:cNvSpPr>
            <a:spLocks xmlns:a="http://schemas.openxmlformats.org/drawingml/2006/main" noGrp="1"/>
          </p:cNvSpPr>
          <p:nvPr/>
        </p:nvSpPr>
        <p:spPr>
          <a:xfrm xmlns:a="http://schemas.openxmlformats.org/drawingml/2006/main">
            <a:off x="685800" y="15621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324F"/>
                </a:solidFill>
                <a:latin typeface="Arial"/>
                <a:ea typeface="Arial"/>
                <a:cs typeface="Arial"/>
              </a:defRPr>
            </a:defPPr>
            <a:lvl1pPr>
              <a:defRPr sz="2025" b="1">
                <a:solidFill>
                  <a:srgbClr val="16324F"/>
                </a:solidFill>
                <a:latin typeface="Arial"/>
                <a:ea typeface="Arial"/>
                <a:cs typeface="Arial"/>
              </a:defRPr>
            </a:lvl1pPr>
            <a:lvl2pPr>
              <a:defRPr sz="2025" b="1">
                <a:solidFill>
                  <a:srgbClr val="16324F"/>
                </a:solidFill>
                <a:latin typeface="Arial"/>
                <a:ea typeface="Arial"/>
                <a:cs typeface="Arial"/>
              </a:defRPr>
            </a:lvl2pPr>
            <a:lvl3pPr>
              <a:defRPr sz="2025" b="1">
                <a:solidFill>
                  <a:srgbClr val="16324F"/>
                </a:solidFill>
                <a:latin typeface="Arial"/>
                <a:ea typeface="Arial"/>
                <a:cs typeface="Arial"/>
              </a:defRPr>
            </a:lvl3pPr>
            <a:lvl4pPr>
              <a:defRPr sz="2025" b="1">
                <a:solidFill>
                  <a:srgbClr val="16324F"/>
                </a:solidFill>
                <a:latin typeface="Arial"/>
                <a:ea typeface="Arial"/>
                <a:cs typeface="Arial"/>
              </a:defRPr>
            </a:lvl4pPr>
            <a:lvl5pPr>
              <a:defRPr sz="2025" b="1">
                <a:solidFill>
                  <a:srgbClr val="16324F"/>
                </a:solidFill>
                <a:latin typeface="Arial"/>
                <a:ea typeface="Arial"/>
                <a:cs typeface="Arial"/>
              </a:defRPr>
            </a:lvl5pPr>
            <a:lvl6pPr>
              <a:defRPr sz="2025" b="1">
                <a:solidFill>
                  <a:srgbClr val="16324F"/>
                </a:solidFill>
                <a:latin typeface="Arial"/>
                <a:ea typeface="Arial"/>
                <a:cs typeface="Arial"/>
              </a:defRPr>
            </a:lvl6pPr>
            <a:lvl7pPr>
              <a:defRPr sz="2025" b="1">
                <a:solidFill>
                  <a:srgbClr val="16324F"/>
                </a:solidFill>
                <a:latin typeface="Arial"/>
                <a:ea typeface="Arial"/>
                <a:cs typeface="Arial"/>
              </a:defRPr>
            </a:lvl7pPr>
            <a:lvl8pPr>
              <a:defRPr sz="2025" b="1">
                <a:solidFill>
                  <a:srgbClr val="16324F"/>
                </a:solidFill>
                <a:latin typeface="Arial"/>
                <a:ea typeface="Arial"/>
                <a:cs typeface="Arial"/>
              </a:defRPr>
            </a:lvl8pPr>
            <a:lvl9pPr>
              <a:defRPr sz="2025" b="1">
                <a:solidFill>
                  <a:srgbClr val="16324F"/>
                </a:solidFill>
                <a:latin typeface="Arial"/>
                <a:ea typeface="Arial"/>
                <a:cs typeface="Arial"/>
              </a:defRPr>
            </a:lvl9pPr>
          </a:lstStyle>
          <a:p xmlns:a="http://schemas.openxmlformats.org/drawingml/2006/main">
            <a:pPr>
              <a:defRPr sz="2025" b="1">
                <a:solidFill>
                  <a:srgbClr val="16324F"/>
                </a:solidFill>
                <a:latin typeface="Arial"/>
                <a:ea typeface="Arial"/>
                <a:cs typeface="Arial"/>
              </a:defRPr>
            </a:pPr>
            <a:r>
              <a:rPr sz="2025" b="1">
                <a:solidFill>
                  <a:srgbClr val="16324F"/>
                </a:solidFill>
                <a:latin typeface="Arial"/>
                <a:ea typeface="Arial"/>
                <a:cs typeface="Arial"/>
              </a:rPr>
              <a:t>Product decision</a:t>
            </a:r>
          </a:p>
        </p:txBody>
      </p:sp>
      <p:sp>
        <p:nvSpPr>
          <p:cNvPr id="4" name="">
            <a:extLst xmlns:a="http://schemas.openxmlformats.org/drawingml/2006/main">
              <a:ext uri="{FF2B5EF4-FFF2-40B4-BE49-F238E27FC236}">
                <a16:creationId xmlns:a16="http://schemas.microsoft.com/office/drawing/2014/main" id="{173092D4-CFCD-4D61-A2EB-6971A382799F}"/>
              </a:ext>
            </a:extLst>
          </p:cNvPr>
          <p:cNvSpPr>
            <a:spLocks xmlns:a="http://schemas.openxmlformats.org/drawingml/2006/main" noGrp="1"/>
          </p:cNvSpPr>
          <p:nvPr/>
        </p:nvSpPr>
        <p:spPr>
          <a:xfrm xmlns:a="http://schemas.openxmlformats.org/drawingml/2006/main">
            <a:off x="685800" y="19716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Resolve snacks versus accessories before adopting this plan. A product change requires a new budget.</a:t>
            </a:r>
          </a:p>
        </p:txBody>
      </p:sp>
      <p:sp>
        <p:nvSpPr>
          <p:cNvPr id="5" name="">
            <a:extLst xmlns:a="http://schemas.openxmlformats.org/drawingml/2006/main">
              <a:ext uri="{FF2B5EF4-FFF2-40B4-BE49-F238E27FC236}">
                <a16:creationId xmlns:a16="http://schemas.microsoft.com/office/drawing/2014/main" id="{4403EF36-CBDB-401F-9A18-2DEA0886A091}"/>
              </a:ext>
            </a:extLst>
          </p:cNvPr>
          <p:cNvSpPr>
            <a:spLocks xmlns:a="http://schemas.openxmlformats.org/drawingml/2006/main" noGrp="1"/>
          </p:cNvSpPr>
          <p:nvPr/>
        </p:nvSpPr>
        <p:spPr>
          <a:xfrm xmlns:a="http://schemas.openxmlformats.org/drawingml/2006/main">
            <a:off x="685800" y="29146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324F"/>
                </a:solidFill>
                <a:latin typeface="Arial"/>
                <a:ea typeface="Arial"/>
                <a:cs typeface="Arial"/>
              </a:defRPr>
            </a:defPPr>
            <a:lvl1pPr>
              <a:defRPr sz="2025" b="1">
                <a:solidFill>
                  <a:srgbClr val="16324F"/>
                </a:solidFill>
                <a:latin typeface="Arial"/>
                <a:ea typeface="Arial"/>
                <a:cs typeface="Arial"/>
              </a:defRPr>
            </a:lvl1pPr>
            <a:lvl2pPr>
              <a:defRPr sz="2025" b="1">
                <a:solidFill>
                  <a:srgbClr val="16324F"/>
                </a:solidFill>
                <a:latin typeface="Arial"/>
                <a:ea typeface="Arial"/>
                <a:cs typeface="Arial"/>
              </a:defRPr>
            </a:lvl2pPr>
            <a:lvl3pPr>
              <a:defRPr sz="2025" b="1">
                <a:solidFill>
                  <a:srgbClr val="16324F"/>
                </a:solidFill>
                <a:latin typeface="Arial"/>
                <a:ea typeface="Arial"/>
                <a:cs typeface="Arial"/>
              </a:defRPr>
            </a:lvl3pPr>
            <a:lvl4pPr>
              <a:defRPr sz="2025" b="1">
                <a:solidFill>
                  <a:srgbClr val="16324F"/>
                </a:solidFill>
                <a:latin typeface="Arial"/>
                <a:ea typeface="Arial"/>
                <a:cs typeface="Arial"/>
              </a:defRPr>
            </a:lvl4pPr>
            <a:lvl5pPr>
              <a:defRPr sz="2025" b="1">
                <a:solidFill>
                  <a:srgbClr val="16324F"/>
                </a:solidFill>
                <a:latin typeface="Arial"/>
                <a:ea typeface="Arial"/>
                <a:cs typeface="Arial"/>
              </a:defRPr>
            </a:lvl5pPr>
            <a:lvl6pPr>
              <a:defRPr sz="2025" b="1">
                <a:solidFill>
                  <a:srgbClr val="16324F"/>
                </a:solidFill>
                <a:latin typeface="Arial"/>
                <a:ea typeface="Arial"/>
                <a:cs typeface="Arial"/>
              </a:defRPr>
            </a:lvl6pPr>
            <a:lvl7pPr>
              <a:defRPr sz="2025" b="1">
                <a:solidFill>
                  <a:srgbClr val="16324F"/>
                </a:solidFill>
                <a:latin typeface="Arial"/>
                <a:ea typeface="Arial"/>
                <a:cs typeface="Arial"/>
              </a:defRPr>
            </a:lvl7pPr>
            <a:lvl8pPr>
              <a:defRPr sz="2025" b="1">
                <a:solidFill>
                  <a:srgbClr val="16324F"/>
                </a:solidFill>
                <a:latin typeface="Arial"/>
                <a:ea typeface="Arial"/>
                <a:cs typeface="Arial"/>
              </a:defRPr>
            </a:lvl8pPr>
            <a:lvl9pPr>
              <a:defRPr sz="2025" b="1">
                <a:solidFill>
                  <a:srgbClr val="16324F"/>
                </a:solidFill>
                <a:latin typeface="Arial"/>
                <a:ea typeface="Arial"/>
                <a:cs typeface="Arial"/>
              </a:defRPr>
            </a:lvl9pPr>
          </a:lstStyle>
          <a:p xmlns:a="http://schemas.openxmlformats.org/drawingml/2006/main">
            <a:pPr>
              <a:defRPr sz="2025" b="1">
                <a:solidFill>
                  <a:srgbClr val="16324F"/>
                </a:solidFill>
                <a:latin typeface="Arial"/>
                <a:ea typeface="Arial"/>
                <a:cs typeface="Arial"/>
              </a:defRPr>
            </a:pPr>
            <a:r>
              <a:rPr sz="2025" b="1">
                <a:solidFill>
                  <a:srgbClr val="16324F"/>
                </a:solidFill>
                <a:latin typeface="Arial"/>
                <a:ea typeface="Arial"/>
                <a:cs typeface="Arial"/>
              </a:rPr>
              <a:t>Demand check</a:t>
            </a:r>
          </a:p>
        </p:txBody>
      </p:sp>
      <p:sp>
        <p:nvSpPr>
          <p:cNvPr id="6" name="">
            <a:extLst xmlns:a="http://schemas.openxmlformats.org/drawingml/2006/main">
              <a:ext uri="{FF2B5EF4-FFF2-40B4-BE49-F238E27FC236}">
                <a16:creationId xmlns:a16="http://schemas.microsoft.com/office/drawing/2014/main" id="{631123EE-7257-4898-A38E-A6A02A2FC2CA}"/>
              </a:ext>
            </a:extLst>
          </p:cNvPr>
          <p:cNvSpPr>
            <a:spLocks xmlns:a="http://schemas.openxmlformats.org/drawingml/2006/main" noGrp="1"/>
          </p:cNvSpPr>
          <p:nvPr/>
        </p:nvSpPr>
        <p:spPr>
          <a:xfrm xmlns:a="http://schemas.openxmlformats.org/drawingml/2006/main">
            <a:off x="685800" y="33242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Compare cumulative sales with 164, 328, 492 and 685 in June. Track buying visits separately from items sold.</a:t>
            </a:r>
          </a:p>
        </p:txBody>
      </p:sp>
      <p:sp>
        <p:nvSpPr>
          <p:cNvPr id="7" name="">
            <a:extLst xmlns:a="http://schemas.openxmlformats.org/drawingml/2006/main">
              <a:ext uri="{FF2B5EF4-FFF2-40B4-BE49-F238E27FC236}">
                <a16:creationId xmlns:a16="http://schemas.microsoft.com/office/drawing/2014/main" id="{E30ADD76-8277-4B58-B70E-5B5D72ADAAB5}"/>
              </a:ext>
            </a:extLst>
          </p:cNvPr>
          <p:cNvSpPr>
            <a:spLocks xmlns:a="http://schemas.openxmlformats.org/drawingml/2006/main" noGrp="1"/>
          </p:cNvSpPr>
          <p:nvPr/>
        </p:nvSpPr>
        <p:spPr>
          <a:xfrm xmlns:a="http://schemas.openxmlformats.org/drawingml/2006/main">
            <a:off x="685800" y="42672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324F"/>
                </a:solidFill>
                <a:latin typeface="Arial"/>
                <a:ea typeface="Arial"/>
                <a:cs typeface="Arial"/>
              </a:defRPr>
            </a:defPPr>
            <a:lvl1pPr>
              <a:defRPr sz="2025" b="1">
                <a:solidFill>
                  <a:srgbClr val="16324F"/>
                </a:solidFill>
                <a:latin typeface="Arial"/>
                <a:ea typeface="Arial"/>
                <a:cs typeface="Arial"/>
              </a:defRPr>
            </a:lvl1pPr>
            <a:lvl2pPr>
              <a:defRPr sz="2025" b="1">
                <a:solidFill>
                  <a:srgbClr val="16324F"/>
                </a:solidFill>
                <a:latin typeface="Arial"/>
                <a:ea typeface="Arial"/>
                <a:cs typeface="Arial"/>
              </a:defRPr>
            </a:lvl2pPr>
            <a:lvl3pPr>
              <a:defRPr sz="2025" b="1">
                <a:solidFill>
                  <a:srgbClr val="16324F"/>
                </a:solidFill>
                <a:latin typeface="Arial"/>
                <a:ea typeface="Arial"/>
                <a:cs typeface="Arial"/>
              </a:defRPr>
            </a:lvl3pPr>
            <a:lvl4pPr>
              <a:defRPr sz="2025" b="1">
                <a:solidFill>
                  <a:srgbClr val="16324F"/>
                </a:solidFill>
                <a:latin typeface="Arial"/>
                <a:ea typeface="Arial"/>
                <a:cs typeface="Arial"/>
              </a:defRPr>
            </a:lvl4pPr>
            <a:lvl5pPr>
              <a:defRPr sz="2025" b="1">
                <a:solidFill>
                  <a:srgbClr val="16324F"/>
                </a:solidFill>
                <a:latin typeface="Arial"/>
                <a:ea typeface="Arial"/>
                <a:cs typeface="Arial"/>
              </a:defRPr>
            </a:lvl5pPr>
            <a:lvl6pPr>
              <a:defRPr sz="2025" b="1">
                <a:solidFill>
                  <a:srgbClr val="16324F"/>
                </a:solidFill>
                <a:latin typeface="Arial"/>
                <a:ea typeface="Arial"/>
                <a:cs typeface="Arial"/>
              </a:defRPr>
            </a:lvl6pPr>
            <a:lvl7pPr>
              <a:defRPr sz="2025" b="1">
                <a:solidFill>
                  <a:srgbClr val="16324F"/>
                </a:solidFill>
                <a:latin typeface="Arial"/>
                <a:ea typeface="Arial"/>
                <a:cs typeface="Arial"/>
              </a:defRPr>
            </a:lvl7pPr>
            <a:lvl8pPr>
              <a:defRPr sz="2025" b="1">
                <a:solidFill>
                  <a:srgbClr val="16324F"/>
                </a:solidFill>
                <a:latin typeface="Arial"/>
                <a:ea typeface="Arial"/>
                <a:cs typeface="Arial"/>
              </a:defRPr>
            </a:lvl8pPr>
            <a:lvl9pPr>
              <a:defRPr sz="2025" b="1">
                <a:solidFill>
                  <a:srgbClr val="16324F"/>
                </a:solidFill>
                <a:latin typeface="Arial"/>
                <a:ea typeface="Arial"/>
                <a:cs typeface="Arial"/>
              </a:defRPr>
            </a:lvl9pPr>
          </a:lstStyle>
          <a:p xmlns:a="http://schemas.openxmlformats.org/drawingml/2006/main">
            <a:pPr>
              <a:defRPr sz="2025" b="1">
                <a:solidFill>
                  <a:srgbClr val="16324F"/>
                </a:solidFill>
                <a:latin typeface="Arial"/>
                <a:ea typeface="Arial"/>
                <a:cs typeface="Arial"/>
              </a:defRPr>
            </a:pPr>
            <a:r>
              <a:rPr sz="2025" b="1">
                <a:solidFill>
                  <a:srgbClr val="16324F"/>
                </a:solidFill>
                <a:latin typeface="Arial"/>
                <a:ea typeface="Arial"/>
                <a:cs typeface="Arial"/>
              </a:rPr>
              <a:t>Cash and inventory check</a:t>
            </a:r>
          </a:p>
        </p:txBody>
      </p:sp>
      <p:sp>
        <p:nvSpPr>
          <p:cNvPr id="8" name="">
            <a:extLst xmlns:a="http://schemas.openxmlformats.org/drawingml/2006/main">
              <a:ext uri="{FF2B5EF4-FFF2-40B4-BE49-F238E27FC236}">
                <a16:creationId xmlns:a16="http://schemas.microsoft.com/office/drawing/2014/main" id="{B550A6B8-C6FF-4084-8D53-E1FB2F870F9B}"/>
              </a:ext>
            </a:extLst>
          </p:cNvPr>
          <p:cNvSpPr>
            <a:spLocks xmlns:a="http://schemas.openxmlformats.org/drawingml/2006/main" noGrp="1"/>
          </p:cNvSpPr>
          <p:nvPr/>
        </p:nvSpPr>
        <p:spPr>
          <a:xfrm xmlns:a="http://schemas.openxmlformats.org/drawingml/2006/main">
            <a:off x="685800" y="46767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7"/>
                </a:solidFill>
                <a:latin typeface="Arial"/>
                <a:ea typeface="Arial"/>
                <a:cs typeface="Arial"/>
              </a:defRPr>
            </a:defPPr>
            <a:lvl1pPr>
              <a:defRPr sz="1875" b="0">
                <a:solidFill>
                  <a:srgbClr val="526477"/>
                </a:solidFill>
                <a:latin typeface="Arial"/>
                <a:ea typeface="Arial"/>
                <a:cs typeface="Arial"/>
              </a:defRPr>
            </a:lvl1pPr>
            <a:lvl2pPr>
              <a:defRPr sz="1875" b="0">
                <a:solidFill>
                  <a:srgbClr val="526477"/>
                </a:solidFill>
                <a:latin typeface="Arial"/>
                <a:ea typeface="Arial"/>
                <a:cs typeface="Arial"/>
              </a:defRPr>
            </a:lvl2pPr>
            <a:lvl3pPr>
              <a:defRPr sz="1875" b="0">
                <a:solidFill>
                  <a:srgbClr val="526477"/>
                </a:solidFill>
                <a:latin typeface="Arial"/>
                <a:ea typeface="Arial"/>
                <a:cs typeface="Arial"/>
              </a:defRPr>
            </a:lvl3pPr>
            <a:lvl4pPr>
              <a:defRPr sz="1875" b="0">
                <a:solidFill>
                  <a:srgbClr val="526477"/>
                </a:solidFill>
                <a:latin typeface="Arial"/>
                <a:ea typeface="Arial"/>
                <a:cs typeface="Arial"/>
              </a:defRPr>
            </a:lvl4pPr>
            <a:lvl5pPr>
              <a:defRPr sz="1875" b="0">
                <a:solidFill>
                  <a:srgbClr val="526477"/>
                </a:solidFill>
                <a:latin typeface="Arial"/>
                <a:ea typeface="Arial"/>
                <a:cs typeface="Arial"/>
              </a:defRPr>
            </a:lvl5pPr>
            <a:lvl6pPr>
              <a:defRPr sz="1875" b="0">
                <a:solidFill>
                  <a:srgbClr val="526477"/>
                </a:solidFill>
                <a:latin typeface="Arial"/>
                <a:ea typeface="Arial"/>
                <a:cs typeface="Arial"/>
              </a:defRPr>
            </a:lvl6pPr>
            <a:lvl7pPr>
              <a:defRPr sz="1875" b="0">
                <a:solidFill>
                  <a:srgbClr val="526477"/>
                </a:solidFill>
                <a:latin typeface="Arial"/>
                <a:ea typeface="Arial"/>
                <a:cs typeface="Arial"/>
              </a:defRPr>
            </a:lvl7pPr>
            <a:lvl8pPr>
              <a:defRPr sz="1875" b="0">
                <a:solidFill>
                  <a:srgbClr val="526477"/>
                </a:solidFill>
                <a:latin typeface="Arial"/>
                <a:ea typeface="Arial"/>
                <a:cs typeface="Arial"/>
              </a:defRPr>
            </a:lvl8pPr>
            <a:lvl9pPr>
              <a:defRPr sz="1875" b="0">
                <a:solidFill>
                  <a:srgbClr val="526477"/>
                </a:solidFill>
                <a:latin typeface="Arial"/>
                <a:ea typeface="Arial"/>
                <a:cs typeface="Arial"/>
              </a:defRPr>
            </a:lvl9pPr>
          </a:lstStyle>
          <a:p xmlns:a="http://schemas.openxmlformats.org/drawingml/2006/main">
            <a:pPr>
              <a:defRPr sz="1875" b="0">
                <a:solidFill>
                  <a:srgbClr val="526477"/>
                </a:solidFill>
                <a:latin typeface="Arial"/>
                <a:ea typeface="Arial"/>
                <a:cs typeface="Arial"/>
              </a:defRPr>
            </a:pPr>
            <a:r>
              <a:rPr sz="1875" b="0">
                <a:solidFill>
                  <a:srgbClr val="526477"/>
                </a:solidFill>
                <a:latin typeface="Arial"/>
                <a:ea typeface="Arial"/>
                <a:cs typeface="Arial"/>
              </a:rPr>
              <a:t>Review cash, next rent, agency coverage and stock each week. Recalculate before any discount or extra spending.</a:t>
            </a:r>
          </a:p>
        </p:txBody>
      </p:sp>
      <p:sp>
        <p:nvSpPr>
          <p:cNvPr id="9" name="">
            <a:extLst xmlns:a="http://schemas.openxmlformats.org/drawingml/2006/main">
              <a:ext uri="{FF2B5EF4-FFF2-40B4-BE49-F238E27FC236}">
                <a16:creationId xmlns:a16="http://schemas.microsoft.com/office/drawing/2014/main" id="{25E407EF-948A-4C2A-B229-0598C408275F}"/>
              </a:ext>
            </a:extLst>
          </p:cNvPr>
          <p:cNvSpPr>
            <a:spLocks xmlns:a="http://schemas.openxmlformats.org/drawingml/2006/main" noGrp="1"/>
          </p:cNvSpPr>
          <p:nvPr/>
        </p:nvSpPr>
        <p:spPr>
          <a:xfrm xmlns:a="http://schemas.openxmlformats.org/drawingml/2006/main">
            <a:off x="685800" y="57435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B45309"/>
                </a:solidFill>
                <a:latin typeface="Arial"/>
                <a:ea typeface="Arial"/>
                <a:cs typeface="Arial"/>
              </a:defRPr>
            </a:defPPr>
            <a:lvl1pPr>
              <a:defRPr sz="1950" b="1">
                <a:solidFill>
                  <a:srgbClr val="B45309"/>
                </a:solidFill>
                <a:latin typeface="Arial"/>
                <a:ea typeface="Arial"/>
                <a:cs typeface="Arial"/>
              </a:defRPr>
            </a:lvl1pPr>
            <a:lvl2pPr>
              <a:defRPr sz="1950" b="1">
                <a:solidFill>
                  <a:srgbClr val="B45309"/>
                </a:solidFill>
                <a:latin typeface="Arial"/>
                <a:ea typeface="Arial"/>
                <a:cs typeface="Arial"/>
              </a:defRPr>
            </a:lvl2pPr>
            <a:lvl3pPr>
              <a:defRPr sz="1950" b="1">
                <a:solidFill>
                  <a:srgbClr val="B45309"/>
                </a:solidFill>
                <a:latin typeface="Arial"/>
                <a:ea typeface="Arial"/>
                <a:cs typeface="Arial"/>
              </a:defRPr>
            </a:lvl3pPr>
            <a:lvl4pPr>
              <a:defRPr sz="1950" b="1">
                <a:solidFill>
                  <a:srgbClr val="B45309"/>
                </a:solidFill>
                <a:latin typeface="Arial"/>
                <a:ea typeface="Arial"/>
                <a:cs typeface="Arial"/>
              </a:defRPr>
            </a:lvl4pPr>
            <a:lvl5pPr>
              <a:defRPr sz="1950" b="1">
                <a:solidFill>
                  <a:srgbClr val="B45309"/>
                </a:solidFill>
                <a:latin typeface="Arial"/>
                <a:ea typeface="Arial"/>
                <a:cs typeface="Arial"/>
              </a:defRPr>
            </a:lvl5pPr>
            <a:lvl6pPr>
              <a:defRPr sz="1950" b="1">
                <a:solidFill>
                  <a:srgbClr val="B45309"/>
                </a:solidFill>
                <a:latin typeface="Arial"/>
                <a:ea typeface="Arial"/>
                <a:cs typeface="Arial"/>
              </a:defRPr>
            </a:lvl6pPr>
            <a:lvl7pPr>
              <a:defRPr sz="1950" b="1">
                <a:solidFill>
                  <a:srgbClr val="B45309"/>
                </a:solidFill>
                <a:latin typeface="Arial"/>
                <a:ea typeface="Arial"/>
                <a:cs typeface="Arial"/>
              </a:defRPr>
            </a:lvl7pPr>
            <a:lvl8pPr>
              <a:defRPr sz="1950" b="1">
                <a:solidFill>
                  <a:srgbClr val="B45309"/>
                </a:solidFill>
                <a:latin typeface="Arial"/>
                <a:ea typeface="Arial"/>
                <a:cs typeface="Arial"/>
              </a:defRPr>
            </a:lvl8pPr>
            <a:lvl9pPr>
              <a:defRPr sz="1950" b="1">
                <a:solidFill>
                  <a:srgbClr val="B45309"/>
                </a:solidFill>
                <a:latin typeface="Arial"/>
                <a:ea typeface="Arial"/>
                <a:cs typeface="Arial"/>
              </a:defRPr>
            </a:lvl9pPr>
          </a:lstStyle>
          <a:p xmlns:a="http://schemas.openxmlformats.org/drawingml/2006/main">
            <a:pPr>
              <a:defRPr sz="1950" b="1">
                <a:solidFill>
                  <a:srgbClr val="B45309"/>
                </a:solidFill>
                <a:latin typeface="Arial"/>
                <a:ea typeface="Arial"/>
                <a:cs typeface="Arial"/>
              </a:defRPr>
            </a:pPr>
            <a:r>
              <a:rPr sz="1950" b="1">
                <a:solidFill>
                  <a:srgbClr val="B45309"/>
                </a:solidFill>
                <a:latin typeface="Arial"/>
                <a:ea typeface="Arial"/>
                <a:cs typeface="Arial"/>
              </a:rPr>
              <a:t>A 1,926-sale target leaves almost no cushion. Evidence of demand remains the deciding issue.</a:t>
            </a:r>
          </a:p>
        </p:txBody>
      </p:sp>
    </p:spTree>
    <p:extLst>
      <p:ext uri="{BB962C8B-B14F-4D97-AF65-F5344CB8AC3E}">
        <p14:creationId xmlns:p14="http://schemas.microsoft.com/office/powerpoint/2010/main" val="584568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2026-10-22T23:39:47.4290000Z</dcterms:created>
  <dcterms:modified xsi:type="dcterms:W3CDTF">2026-10-22T23:39:47.4290000Z</dcterms:modified>
</coreProperties>
</file>