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63"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D29C98-D874-4F0E-A3F4-36E7EF7CA3B5}" v="5" dt="2026-10-23T00:07:12.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369"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Delfau" userId="919e110a-cec1-4398-b9fd-878aa5de24a3" providerId="ADAL" clId="{80A0C260-8201-414D-B64D-D50F13586782}"/>
    <pc:docChg chg="custSel addSld delSld modSld">
      <pc:chgData name="Nicolas Delfau" userId="919e110a-cec1-4398-b9fd-878aa5de24a3" providerId="ADAL" clId="{80A0C260-8201-414D-B64D-D50F13586782}" dt="2026-10-23T00:07:49.833" v="131" actId="20577"/>
      <pc:docMkLst>
        <pc:docMk/>
      </pc:docMkLst>
      <pc:sldChg chg="modSp mod">
        <pc:chgData name="Nicolas Delfau" userId="919e110a-cec1-4398-b9fd-878aa5de24a3" providerId="ADAL" clId="{80A0C260-8201-414D-B64D-D50F13586782}" dt="2026-10-23T00:05:51.291" v="85" actId="20577"/>
        <pc:sldMkLst>
          <pc:docMk/>
          <pc:sldMk cId="1528497734" sldId="256"/>
        </pc:sldMkLst>
        <pc:spChg chg="mod">
          <ac:chgData name="Nicolas Delfau" userId="919e110a-cec1-4398-b9fd-878aa5de24a3" providerId="ADAL" clId="{80A0C260-8201-414D-B64D-D50F13586782}" dt="2026-10-23T00:05:51.291" v="85" actId="20577"/>
          <ac:spMkLst>
            <pc:docMk/>
            <pc:sldMk cId="1528497734" sldId="256"/>
            <ac:spMk id="3" creationId="{747C9682-D6A1-438D-97A7-1008D2D65CC2}"/>
          </ac:spMkLst>
        </pc:spChg>
      </pc:sldChg>
      <pc:sldChg chg="del">
        <pc:chgData name="Nicolas Delfau" userId="919e110a-cec1-4398-b9fd-878aa5de24a3" providerId="ADAL" clId="{80A0C260-8201-414D-B64D-D50F13586782}" dt="2026-10-23T00:05:13.737" v="0" actId="47"/>
        <pc:sldMkLst>
          <pc:docMk/>
          <pc:sldMk cId="58456842" sldId="263"/>
        </pc:sldMkLst>
      </pc:sldChg>
      <pc:sldChg chg="delSp modSp add mod setBg">
        <pc:chgData name="Nicolas Delfau" userId="919e110a-cec1-4398-b9fd-878aa5de24a3" providerId="ADAL" clId="{80A0C260-8201-414D-B64D-D50F13586782}" dt="2026-10-23T00:07:49.833" v="131" actId="20577"/>
        <pc:sldMkLst>
          <pc:docMk/>
          <pc:sldMk cId="2179779410" sldId="263"/>
        </pc:sldMkLst>
        <pc:spChg chg="del">
          <ac:chgData name="Nicolas Delfau" userId="919e110a-cec1-4398-b9fd-878aa5de24a3" providerId="ADAL" clId="{80A0C260-8201-414D-B64D-D50F13586782}" dt="2026-10-23T00:07:18.366" v="104" actId="478"/>
          <ac:spMkLst>
            <pc:docMk/>
            <pc:sldMk cId="2179779410" sldId="263"/>
            <ac:spMk id="8" creationId="{CE5D196A-F4FF-9EA8-EB16-B1F2AAD65368}"/>
          </ac:spMkLst>
        </pc:spChg>
        <pc:spChg chg="mod">
          <ac:chgData name="Nicolas Delfau" userId="919e110a-cec1-4398-b9fd-878aa5de24a3" providerId="ADAL" clId="{80A0C260-8201-414D-B64D-D50F13586782}" dt="2026-10-23T00:07:49.833" v="131" actId="20577"/>
          <ac:spMkLst>
            <pc:docMk/>
            <pc:sldMk cId="2179779410" sldId="263"/>
            <ac:spMk id="10" creationId="{1A0C53FD-C241-4558-965E-C425CEF37FA1}"/>
          </ac:spMkLst>
        </pc:spChg>
      </pc:sldChg>
      <pc:sldChg chg="add del setBg">
        <pc:chgData name="Nicolas Delfau" userId="919e110a-cec1-4398-b9fd-878aa5de24a3" providerId="ADAL" clId="{80A0C260-8201-414D-B64D-D50F13586782}" dt="2026-10-23T00:06:00.352" v="89"/>
        <pc:sldMkLst>
          <pc:docMk/>
          <pc:sldMk cId="3315028093" sldId="263"/>
        </pc:sldMkLst>
      </pc:sldChg>
      <pc:sldChg chg="add del setBg">
        <pc:chgData name="Nicolas Delfau" userId="919e110a-cec1-4398-b9fd-878aa5de24a3" providerId="ADAL" clId="{80A0C260-8201-414D-B64D-D50F13586782}" dt="2026-10-23T00:05:57.940" v="87"/>
        <pc:sldMkLst>
          <pc:docMk/>
          <pc:sldMk cId="4190080358" sldId="26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Respondents</c:v>
          </c:tx>
          <c:spPr>
            <a:solidFill>
              <a:srgbClr val="16324F"/>
            </a:solidFill>
          </c:spPr>
          <c:invertIfNegative val="0"/>
          <c:dPt>
            <c:idx val="1"/>
            <c:invertIfNegative val="0"/>
            <c:bubble3D val="0"/>
            <c:spPr>
              <a:solidFill>
                <a:srgbClr val="15803D"/>
              </a:solidFill>
            </c:spPr>
            <c:extLst>
              <c:ext xmlns:c16="http://schemas.microsoft.com/office/drawing/2014/chart" uri="{C3380CC4-5D6E-409C-BE32-E72D297353CC}">
                <c16:uniqueId val="{00000001-F285-4BB5-8010-7993B6952E6D}"/>
              </c:ext>
            </c:extLst>
          </c:dPt>
          <c:dLbls>
            <c:spPr>
              <a:noFill/>
              <a:ln>
                <a:noFill/>
              </a:ln>
              <a:effectLst/>
            </c:spPr>
            <c:txPr>
              <a:bodyPr anchorCtr="1"/>
              <a:lstStyle/>
              <a:p>
                <a:pPr>
                  <a:defRPr sz="1650">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Snacks</c:v>
                </c:pt>
                <c:pt idx="1">
                  <c:v>Accessories</c:v>
                </c:pt>
                <c:pt idx="2">
                  <c:v>Craft bundles</c:v>
                </c:pt>
                <c:pt idx="3">
                  <c:v>Used books</c:v>
                </c:pt>
              </c:strCache>
            </c:strRef>
          </c:cat>
          <c:val>
            <c:numRef>
              <c:f>'Chart Data'!$B$2:$B$5</c:f>
              <c:numCache>
                <c:formatCode>0</c:formatCode>
                <c:ptCount val="4"/>
                <c:pt idx="0">
                  <c:v>60</c:v>
                </c:pt>
                <c:pt idx="1">
                  <c:v>25</c:v>
                </c:pt>
                <c:pt idx="2">
                  <c:v>10</c:v>
                </c:pt>
                <c:pt idx="3">
                  <c:v>5</c:v>
                </c:pt>
              </c:numCache>
            </c:numRef>
          </c:val>
          <c:extLst>
            <c:ext xmlns:c16="http://schemas.microsoft.com/office/drawing/2014/chart" uri="{C3380CC4-5D6E-409C-BE32-E72D297353CC}">
              <c16:uniqueId val="{00000002-F285-4BB5-8010-7993B6952E6D}"/>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numFmt formatCode="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Revenue</c:v>
          </c:tx>
          <c:spPr>
            <a:ln w="28575">
              <a:solidFill>
                <a:srgbClr val="15803D"/>
              </a:solidFill>
            </a:ln>
          </c:spPr>
          <c:marker>
            <c:symbol val="none"/>
          </c:marker>
          <c:cat>
            <c:strRef>
              <c:f>'Chart Data'!$A$2:$A$16</c:f>
              <c:strCache>
                <c:ptCount val="15"/>
                <c:pt idx="0">
                  <c:v>05-31</c:v>
                </c:pt>
                <c:pt idx="1">
                  <c:v>06-07</c:v>
                </c:pt>
                <c:pt idx="2">
                  <c:v>06-14</c:v>
                </c:pt>
                <c:pt idx="3">
                  <c:v>06-21</c:v>
                </c:pt>
                <c:pt idx="4">
                  <c:v>06-28</c:v>
                </c:pt>
                <c:pt idx="5">
                  <c:v>07-05</c:v>
                </c:pt>
                <c:pt idx="6">
                  <c:v>07-12</c:v>
                </c:pt>
                <c:pt idx="7">
                  <c:v>07-19</c:v>
                </c:pt>
                <c:pt idx="8">
                  <c:v>07-26</c:v>
                </c:pt>
                <c:pt idx="9">
                  <c:v>08-02</c:v>
                </c:pt>
                <c:pt idx="10">
                  <c:v>08-09</c:v>
                </c:pt>
                <c:pt idx="11">
                  <c:v>08-16</c:v>
                </c:pt>
                <c:pt idx="12">
                  <c:v>08-23</c:v>
                </c:pt>
                <c:pt idx="13">
                  <c:v>08-30</c:v>
                </c:pt>
                <c:pt idx="14">
                  <c:v>08-31</c:v>
                </c:pt>
              </c:strCache>
            </c:strRef>
          </c:cat>
          <c:val>
            <c:numRef>
              <c:f>'Chart Data'!$B$2:$B$16</c:f>
              <c:numCache>
                <c:formatCode>\$#,##0</c:formatCode>
                <c:ptCount val="15"/>
                <c:pt idx="0">
                  <c:v>0</c:v>
                </c:pt>
                <c:pt idx="1">
                  <c:v>2952</c:v>
                </c:pt>
                <c:pt idx="2">
                  <c:v>5904</c:v>
                </c:pt>
                <c:pt idx="3">
                  <c:v>8838</c:v>
                </c:pt>
                <c:pt idx="4">
                  <c:v>11790</c:v>
                </c:pt>
                <c:pt idx="5">
                  <c:v>14742</c:v>
                </c:pt>
                <c:pt idx="6">
                  <c:v>17694</c:v>
                </c:pt>
                <c:pt idx="7">
                  <c:v>20646</c:v>
                </c:pt>
                <c:pt idx="8">
                  <c:v>23580</c:v>
                </c:pt>
                <c:pt idx="9">
                  <c:v>26226</c:v>
                </c:pt>
                <c:pt idx="10">
                  <c:v>28278</c:v>
                </c:pt>
                <c:pt idx="11">
                  <c:v>30348</c:v>
                </c:pt>
                <c:pt idx="12">
                  <c:v>32418</c:v>
                </c:pt>
                <c:pt idx="13">
                  <c:v>34470</c:v>
                </c:pt>
                <c:pt idx="14">
                  <c:v>34668</c:v>
                </c:pt>
              </c:numCache>
            </c:numRef>
          </c:val>
          <c:smooth val="0"/>
          <c:extLst>
            <c:ext xmlns:c16="http://schemas.microsoft.com/office/drawing/2014/chart" uri="{C3380CC4-5D6E-409C-BE32-E72D297353CC}">
              <c16:uniqueId val="{00000000-DC3B-4F93-932E-0A36E4909539}"/>
            </c:ext>
          </c:extLst>
        </c:ser>
        <c:ser>
          <c:idx val="1"/>
          <c:order val="1"/>
          <c:tx>
            <c:v>All project costs</c:v>
          </c:tx>
          <c:spPr>
            <a:ln w="28575">
              <a:solidFill>
                <a:srgbClr val="B45309"/>
              </a:solidFill>
            </a:ln>
          </c:spPr>
          <c:marker>
            <c:symbol val="none"/>
          </c:marker>
          <c:cat>
            <c:strRef>
              <c:f>'Chart Data'!$C$2:$C$16</c:f>
              <c:strCache>
                <c:ptCount val="15"/>
                <c:pt idx="0">
                  <c:v>05-31</c:v>
                </c:pt>
                <c:pt idx="1">
                  <c:v>06-07</c:v>
                </c:pt>
                <c:pt idx="2">
                  <c:v>06-14</c:v>
                </c:pt>
                <c:pt idx="3">
                  <c:v>06-21</c:v>
                </c:pt>
                <c:pt idx="4">
                  <c:v>06-28</c:v>
                </c:pt>
                <c:pt idx="5">
                  <c:v>07-05</c:v>
                </c:pt>
                <c:pt idx="6">
                  <c:v>07-12</c:v>
                </c:pt>
                <c:pt idx="7">
                  <c:v>07-19</c:v>
                </c:pt>
                <c:pt idx="8">
                  <c:v>07-26</c:v>
                </c:pt>
                <c:pt idx="9">
                  <c:v>08-02</c:v>
                </c:pt>
                <c:pt idx="10">
                  <c:v>08-09</c:v>
                </c:pt>
                <c:pt idx="11">
                  <c:v>08-16</c:v>
                </c:pt>
                <c:pt idx="12">
                  <c:v>08-23</c:v>
                </c:pt>
                <c:pt idx="13">
                  <c:v>08-30</c:v>
                </c:pt>
                <c:pt idx="14">
                  <c:v>08-31</c:v>
                </c:pt>
              </c:strCache>
            </c:strRef>
          </c:cat>
          <c:val>
            <c:numRef>
              <c:f>'Chart Data'!$D$2:$D$16</c:f>
              <c:numCache>
                <c:formatCode>\$#,##0</c:formatCode>
                <c:ptCount val="15"/>
                <c:pt idx="0">
                  <c:v>5150</c:v>
                </c:pt>
                <c:pt idx="1">
                  <c:v>6695.56</c:v>
                </c:pt>
                <c:pt idx="2">
                  <c:v>8216.12</c:v>
                </c:pt>
                <c:pt idx="3">
                  <c:v>10136.14</c:v>
                </c:pt>
                <c:pt idx="4">
                  <c:v>12256.7</c:v>
                </c:pt>
                <c:pt idx="5">
                  <c:v>16902.26</c:v>
                </c:pt>
                <c:pt idx="6">
                  <c:v>18822.82</c:v>
                </c:pt>
                <c:pt idx="7">
                  <c:v>20743.38</c:v>
                </c:pt>
                <c:pt idx="8">
                  <c:v>22863.4</c:v>
                </c:pt>
                <c:pt idx="9">
                  <c:v>27499.78</c:v>
                </c:pt>
                <c:pt idx="10">
                  <c:v>29193.34</c:v>
                </c:pt>
                <c:pt idx="11">
                  <c:v>30887.44</c:v>
                </c:pt>
                <c:pt idx="12">
                  <c:v>32781.54</c:v>
                </c:pt>
                <c:pt idx="13">
                  <c:v>34475.1</c:v>
                </c:pt>
                <c:pt idx="14">
                  <c:v>34657.04</c:v>
                </c:pt>
              </c:numCache>
            </c:numRef>
          </c:val>
          <c:smooth val="0"/>
          <c:extLst>
            <c:ext xmlns:c16="http://schemas.microsoft.com/office/drawing/2014/chart" uri="{C3380CC4-5D6E-409C-BE32-E72D297353CC}">
              <c16:uniqueId val="{00000001-DC3B-4F93-932E-0A36E490953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Arial"/>
                <a:ea typeface="Arial"/>
                <a:cs typeface="Arial"/>
              </a:defRPr>
            </a:pPr>
            <a:endParaRPr lang="en-US"/>
          </a:p>
        </c:txPr>
        <c:crossAx val="48672768"/>
        <c:crosses val="autoZero"/>
        <c:auto val="1"/>
        <c:lblAlgn val="ctr"/>
        <c:lblOffset val="100"/>
        <c:tickLblSkip val="2"/>
        <c:noMultiLvlLbl val="1"/>
      </c:catAx>
      <c:valAx>
        <c:axId val="48672768"/>
        <c:scaling>
          <c:orientation val="minMax"/>
        </c:scaling>
        <c:delete val="0"/>
        <c:axPos val="l"/>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plotArea>
    <c:legend>
      <c:legendPos val="b"/>
      <c:overlay val="0"/>
      <c:txPr>
        <a:bodyPr anchorCtr="1"/>
        <a:lstStyle/>
        <a:p>
          <a:pPr>
            <a:defRPr sz="1500">
              <a:latin typeface="Arial"/>
              <a:ea typeface="Arial"/>
              <a:cs typeface="Arial"/>
            </a:defRPr>
          </a:pPr>
          <a:endParaRPr lang="en-US"/>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Passing visits</c:v>
          </c:tx>
          <c:spPr>
            <a:solidFill>
              <a:srgbClr val="16324F"/>
            </a:solidFill>
          </c:spPr>
          <c:invertIfNegative val="0"/>
          <c:dPt>
            <c:idx val="5"/>
            <c:invertIfNegative val="0"/>
            <c:bubble3D val="0"/>
            <c:spPr>
              <a:solidFill>
                <a:srgbClr val="15803D"/>
              </a:solidFill>
            </c:spPr>
            <c:extLst>
              <c:ext xmlns:c16="http://schemas.microsoft.com/office/drawing/2014/chart" uri="{C3380CC4-5D6E-409C-BE32-E72D297353CC}">
                <c16:uniqueId val="{00000001-DF5B-4829-8CC4-B8D14015F5E4}"/>
              </c:ext>
            </c:extLst>
          </c:dPt>
          <c:dPt>
            <c:idx val="6"/>
            <c:invertIfNegative val="0"/>
            <c:bubble3D val="0"/>
            <c:spPr>
              <a:solidFill>
                <a:srgbClr val="15803D"/>
              </a:solidFill>
            </c:spPr>
            <c:extLst>
              <c:ext xmlns:c16="http://schemas.microsoft.com/office/drawing/2014/chart" uri="{C3380CC4-5D6E-409C-BE32-E72D297353CC}">
                <c16:uniqueId val="{00000003-DF5B-4829-8CC4-B8D14015F5E4}"/>
              </c:ext>
            </c:extLst>
          </c:dPt>
          <c:dLbls>
            <c:spPr>
              <a:noFill/>
              <a:ln>
                <a:noFill/>
              </a:ln>
              <a:effectLst/>
            </c:spPr>
            <c:txPr>
              <a:bodyPr anchorCtr="1"/>
              <a:lstStyle/>
              <a:p>
                <a:pPr>
                  <a:defRPr sz="1350">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Mon</c:v>
                </c:pt>
                <c:pt idx="1">
                  <c:v>Tue</c:v>
                </c:pt>
                <c:pt idx="2">
                  <c:v>Wed</c:v>
                </c:pt>
                <c:pt idx="3">
                  <c:v>Thu</c:v>
                </c:pt>
                <c:pt idx="4">
                  <c:v>Fri</c:v>
                </c:pt>
                <c:pt idx="5">
                  <c:v>Sat</c:v>
                </c:pt>
                <c:pt idx="6">
                  <c:v>Sun</c:v>
                </c:pt>
              </c:strCache>
            </c:strRef>
          </c:cat>
          <c:val>
            <c:numRef>
              <c:f>'Chart Data'!$B$2:$B$8</c:f>
              <c:numCache>
                <c:formatCode>#,##0</c:formatCode>
                <c:ptCount val="7"/>
                <c:pt idx="0">
                  <c:v>488</c:v>
                </c:pt>
                <c:pt idx="1">
                  <c:v>510</c:v>
                </c:pt>
                <c:pt idx="2">
                  <c:v>488</c:v>
                </c:pt>
                <c:pt idx="3">
                  <c:v>488</c:v>
                </c:pt>
                <c:pt idx="4">
                  <c:v>565</c:v>
                </c:pt>
                <c:pt idx="5">
                  <c:v>1529</c:v>
                </c:pt>
                <c:pt idx="6">
                  <c:v>1463</c:v>
                </c:pt>
              </c:numCache>
            </c:numRef>
          </c:val>
          <c:extLst>
            <c:ext xmlns:c16="http://schemas.microsoft.com/office/drawing/2014/chart" uri="{C3380CC4-5D6E-409C-BE32-E72D297353CC}">
              <c16:uniqueId val="{00000004-DF5B-4829-8CC4-B8D14015F5E4}"/>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Committed team source: upstream/main 4ec519e88d9afe811a9d447f7aef8b3d81d473ce. Roles 01–03. User previously selected phone accessories. The committed Customer Analyst recommends packaged snacks at $3. This presentation preserves that conflict rather than describing the phone proposal as a unanimous team choice. Suggested duration: five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inputs/mall_facts.md (70 empty units of 100, 400-square-foot Unit 42, $20,000 available, no borrowing, June 1–August 31 2027 lease, rent $2,500/month, mandatory 10 AM–9 PM daily trading, 30% expected August corridor-traffic decline); roles/01_customer_analyst/customers.md on upstream/main 707b044 (evaluate phone cases, cables and grips at $18); roles/02_finance_analyst/finance.md and daily_projection.csv (1,926 sales at the $18 full-price assumption, approximately 21/day). The financial target is a required-sales projection, not verified demand. It excludes the proposed 20% referral coupon, giveaways and outdoor poster costs on slide 7; the campaign requires a revised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roles/01_customer_analyst/customers.md on upstream/main at 707b0449bca462fd71f7fb3fc3b603f5b7ee7c03. The working file in the finance branch is still the starter template; this slide uses the completed committed team report. 25 of 100 Saturday respondents select accessories. There are five accessory respondents in each of five age groups. Stated maximum prices run $18–$25, averaging $20.60 ($515/25). These are price limits, not transactions or product/model-specific demand. No directory business explicitly specializes in accessories, but general retailers and off-site sellers may carry them. Students are one potential audience, with actual demand unverified. Recommendation: evaluate cases, cables and grips at an initial $18 assumption and test compatibility demand. Original sources: inputs/shopper_survey.csv, inputs/competitors.csv, inputs/mall_facts.md, inputs/cost_list.md and inputs/foot_traffic.csv. Do not equate survey interest with the model's required 2.96% buying conversion.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Committed team source: upstream/main 4ec519e88d9afe811a9d447f7aef8b3d81d473ce. roles/02_finance_analyst/finance.md and daily_projection.csv. Original inputs: inputs/cost_list.md, inputs/mall_facts.md and inputs/foot_traffic.csv. All figures are required-sales projections, not actual results. Risk source: roles/03_risk_manager/risks.md. The $7,875 opening estimate includes $225 of opening-day terminal, insurance and cleaning, whereas $7,650 pre-opening cash excludes those charges. Deposit is refundable and excluded from expenses.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Committed team source: upstream/main 4ec519e88d9afe811a9d447f7aef8b3d81d473ce. roles/02_finance_analyst/finance.md and daily_projection.csv. Original inputs: inputs/cost_list.md, inputs/mall_facts.md and inputs/foot_traffic.csv. All figures are required-sales projections, not actual results. Cost basis charges all purchased inventory and equipment to the project, with no resale proceeds. At 1,926 sales revenue is $34,668.00 and cost is $34,657.04. Deposit is excluded from this chart.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Committed team source: upstream/main 4ec519e88d9afe811a9d447f7aef8b3d81d473ce. roles/03_risk_manager/risks.md. Inputs: cost_list.md and mall_facts.md. Risk report identifies cost/cash pressure, August traffic decline and inventory cash tied up in unpopular models. One employee at a time requires shifts of no more than eight hours per person and agency relief.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Committed team source: upstream/main 4ec519e88d9afe811a9d447f7aef8b3d81d473ce. roles/01_customer_analyst/customers.md and roles/03_risk_manager/risks.md. inputs/foot_traffic.csv totals: Mon 488, Tue 510, Wed 488, Thu 488, Fri 565, Sat 1529, Sun 1463; total 5531. Weekends 54.1%. Peak weekend hour 14:00, weekday 18:00. Finance daily_projection.csv June 685 sales / 23122 visits = 2.96%, revenue $12330. Proposed promotion tactics and staff schedule are recommendations, not observed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Campaign content supplied by Nicolas Delfau in chat. This replaces the original first-month launch schedule. The 20% coupon is a proposed discount, not a cost in the existing $18 full-price sales forecast. At a full 20% redemption, the selling price would be $14.40 and contribution after $4 stock and a 3% card fee would be $9.968, compared with $13.46 at full price. Coupon redemption rate, giveaway quantities, contest rules and poster printing/placement costs remain unspecified. The team should revise revenue and costs before adopting the campaign. Outdoor placements need permission from property owners and relevant authorities. Under inputs/mall_facts.md, signs on mall premises stay inside the leased footprint and mall approval takes two business days. Social reach is an objective, not a guaranteed result. Other slides and financial figures are preserved from the existing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526EC38-0820-44B6-AED0-28C8C552E7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A7BFDEB6-B31D-48CA-BE8E-CFF1640B3D8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BF687F5-A917-40B2-BA51-38F1478FEF9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69419B1-6EFE-4CF9-BD38-06B8E435711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50B8E51-7948-4707-8A9B-29A261D18B8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747A474-8196-43C1-AB5F-B6EEE8559F6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C427EA7-F972-43F7-AAC5-79E7DFD6C54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5DBC1716-A655-401A-88A8-95308805E4C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5B4B343-7E4F-4D6C-8FBE-37D33BB6017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71F4289-EC0F-420F-BC05-CFE433DFE61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CD5887C-A636-4245-AA9A-542B8D52E670}"/>
              </a:ext>
            </a:extLst>
          </p:cNvPr>
          <p:cNvSpPr>
            <a:spLocks noGrp="1"/>
          </p:cNvSpPr>
          <p:nvPr/>
        </p:nvSpPr>
        <p:spPr>
          <a:xfrm>
            <a:off x="723900" y="742950"/>
            <a:ext cx="9525000" cy="323850"/>
          </a:xfrm>
          <a:prstGeom prst="rect">
            <a:avLst/>
          </a:prstGeom>
          <a:noFill/>
          <a:ln w="0">
            <a:noFill/>
          </a:ln>
        </p:spPr>
        <p:txBody>
          <a:bodyPr wrap="square" lIns="0" tIns="0" rIns="0" bIns="0" anchor="t">
            <a:noAutofit/>
          </a:bodyPr>
          <a:lstStyle>
            <a:defPPr>
              <a:defRPr sz="1875" b="1">
                <a:solidFill>
                  <a:srgbClr val="BCD0E3"/>
                </a:solidFill>
                <a:latin typeface="Arial"/>
                <a:ea typeface="Arial"/>
                <a:cs typeface="Arial"/>
              </a:defRPr>
            </a:defPPr>
            <a:lvl1pPr>
              <a:buNone/>
              <a:defRPr sz="1875" b="1">
                <a:solidFill>
                  <a:srgbClr val="BCD0E3"/>
                </a:solidFill>
                <a:latin typeface="Arial"/>
                <a:ea typeface="Arial"/>
                <a:cs typeface="Arial"/>
              </a:defRPr>
            </a:lvl1pPr>
            <a:lvl2pPr>
              <a:buNone/>
              <a:defRPr sz="1875" b="1">
                <a:solidFill>
                  <a:srgbClr val="BCD0E3"/>
                </a:solidFill>
                <a:latin typeface="Arial"/>
                <a:ea typeface="Arial"/>
                <a:cs typeface="Arial"/>
              </a:defRPr>
            </a:lvl2pPr>
            <a:lvl3pPr>
              <a:buNone/>
              <a:defRPr sz="1875" b="1">
                <a:solidFill>
                  <a:srgbClr val="BCD0E3"/>
                </a:solidFill>
                <a:latin typeface="Arial"/>
                <a:ea typeface="Arial"/>
                <a:cs typeface="Arial"/>
              </a:defRPr>
            </a:lvl3pPr>
            <a:lvl4pPr>
              <a:buNone/>
              <a:defRPr sz="1875" b="1">
                <a:solidFill>
                  <a:srgbClr val="BCD0E3"/>
                </a:solidFill>
                <a:latin typeface="Arial"/>
                <a:ea typeface="Arial"/>
                <a:cs typeface="Arial"/>
              </a:defRPr>
            </a:lvl4pPr>
            <a:lvl5pPr>
              <a:buNone/>
              <a:defRPr sz="1875" b="1">
                <a:solidFill>
                  <a:srgbClr val="BCD0E3"/>
                </a:solidFill>
                <a:latin typeface="Arial"/>
                <a:ea typeface="Arial"/>
                <a:cs typeface="Arial"/>
              </a:defRPr>
            </a:lvl5pPr>
            <a:lvl6pPr>
              <a:buNone/>
              <a:defRPr sz="1875" b="1">
                <a:solidFill>
                  <a:srgbClr val="BCD0E3"/>
                </a:solidFill>
                <a:latin typeface="Arial"/>
                <a:ea typeface="Arial"/>
                <a:cs typeface="Arial"/>
              </a:defRPr>
            </a:lvl6pPr>
            <a:lvl7pPr>
              <a:buNone/>
              <a:defRPr sz="1875" b="1">
                <a:solidFill>
                  <a:srgbClr val="BCD0E3"/>
                </a:solidFill>
                <a:latin typeface="Arial"/>
                <a:ea typeface="Arial"/>
                <a:cs typeface="Arial"/>
              </a:defRPr>
            </a:lvl7pPr>
            <a:lvl8pPr>
              <a:buNone/>
              <a:defRPr sz="1875" b="1">
                <a:solidFill>
                  <a:srgbClr val="BCD0E3"/>
                </a:solidFill>
                <a:latin typeface="Arial"/>
                <a:ea typeface="Arial"/>
                <a:cs typeface="Arial"/>
              </a:defRPr>
            </a:lvl8pPr>
            <a:lvl9pPr>
              <a:buNone/>
              <a:defRPr sz="1875" b="1">
                <a:solidFill>
                  <a:srgbClr val="BCD0E3"/>
                </a:solidFill>
                <a:latin typeface="Arial"/>
                <a:ea typeface="Arial"/>
                <a:cs typeface="Arial"/>
              </a:defRPr>
            </a:lvl9pPr>
          </a:lstStyle>
          <a:p>
            <a:pPr>
              <a:buNone/>
              <a:defRPr sz="1875" b="1">
                <a:solidFill>
                  <a:srgbClr val="BCD0E3"/>
                </a:solidFill>
                <a:latin typeface="Arial"/>
                <a:ea typeface="Arial"/>
                <a:cs typeface="Arial"/>
              </a:defRPr>
            </a:pPr>
            <a:r>
              <a:rPr sz="1875" b="1">
                <a:solidFill>
                  <a:srgbClr val="BCD0E3"/>
                </a:solidFill>
                <a:latin typeface="Arial"/>
                <a:ea typeface="Arial"/>
                <a:cs typeface="Arial"/>
              </a:rPr>
              <a:t>MAPLE MALL</a:t>
            </a:r>
          </a:p>
        </p:txBody>
      </p:sp>
      <p:sp>
        <p:nvSpPr>
          <p:cNvPr id="2" name="Rectangle 1">
            <a:extLst>
              <a:ext uri="{FF2B5EF4-FFF2-40B4-BE49-F238E27FC236}">
                <a16:creationId xmlns:a16="http://schemas.microsoft.com/office/drawing/2014/main" id="{6AFD26BE-E5FE-4A3D-9314-43231F3B9A48}"/>
              </a:ext>
            </a:extLst>
          </p:cNvPr>
          <p:cNvSpPr>
            <a:spLocks noGrp="1"/>
          </p:cNvSpPr>
          <p:nvPr/>
        </p:nvSpPr>
        <p:spPr>
          <a:xfrm>
            <a:off x="723900" y="1809750"/>
            <a:ext cx="10572750" cy="1666875"/>
          </a:xfrm>
          <a:prstGeom prst="rect">
            <a:avLst/>
          </a:prstGeom>
          <a:noFill/>
          <a:ln w="0">
            <a:noFill/>
          </a:ln>
        </p:spPr>
        <p:txBody>
          <a:bodyPr wrap="square" lIns="0" tIns="0" rIns="0" bIns="0" anchor="t">
            <a:noAutofit/>
          </a:bodyPr>
          <a:lstStyle>
            <a:defPPr>
              <a:defRPr sz="4800" b="1">
                <a:solidFill>
                  <a:srgbClr val="FFFFFF"/>
                </a:solidFill>
                <a:latin typeface="Arial"/>
                <a:ea typeface="Arial"/>
                <a:cs typeface="Arial"/>
              </a:defRPr>
            </a:defPPr>
            <a:lvl1pPr>
              <a:buNone/>
              <a:defRPr sz="4800" b="1">
                <a:solidFill>
                  <a:srgbClr val="FFFFFF"/>
                </a:solidFill>
                <a:latin typeface="Arial"/>
                <a:ea typeface="Arial"/>
                <a:cs typeface="Arial"/>
              </a:defRPr>
            </a:lvl1pPr>
            <a:lvl2pPr>
              <a:buNone/>
              <a:defRPr sz="4800" b="1">
                <a:solidFill>
                  <a:srgbClr val="FFFFFF"/>
                </a:solidFill>
                <a:latin typeface="Arial"/>
                <a:ea typeface="Arial"/>
                <a:cs typeface="Arial"/>
              </a:defRPr>
            </a:lvl2pPr>
            <a:lvl3pPr>
              <a:buNone/>
              <a:defRPr sz="4800" b="1">
                <a:solidFill>
                  <a:srgbClr val="FFFFFF"/>
                </a:solidFill>
                <a:latin typeface="Arial"/>
                <a:ea typeface="Arial"/>
                <a:cs typeface="Arial"/>
              </a:defRPr>
            </a:lvl3pPr>
            <a:lvl4pPr>
              <a:buNone/>
              <a:defRPr sz="4800" b="1">
                <a:solidFill>
                  <a:srgbClr val="FFFFFF"/>
                </a:solidFill>
                <a:latin typeface="Arial"/>
                <a:ea typeface="Arial"/>
                <a:cs typeface="Arial"/>
              </a:defRPr>
            </a:lvl4pPr>
            <a:lvl5pPr>
              <a:buNone/>
              <a:defRPr sz="4800" b="1">
                <a:solidFill>
                  <a:srgbClr val="FFFFFF"/>
                </a:solidFill>
                <a:latin typeface="Arial"/>
                <a:ea typeface="Arial"/>
                <a:cs typeface="Arial"/>
              </a:defRPr>
            </a:lvl5pPr>
            <a:lvl6pPr>
              <a:buNone/>
              <a:defRPr sz="4800" b="1">
                <a:solidFill>
                  <a:srgbClr val="FFFFFF"/>
                </a:solidFill>
                <a:latin typeface="Arial"/>
                <a:ea typeface="Arial"/>
                <a:cs typeface="Arial"/>
              </a:defRPr>
            </a:lvl6pPr>
            <a:lvl7pPr>
              <a:buNone/>
              <a:defRPr sz="4800" b="1">
                <a:solidFill>
                  <a:srgbClr val="FFFFFF"/>
                </a:solidFill>
                <a:latin typeface="Arial"/>
                <a:ea typeface="Arial"/>
                <a:cs typeface="Arial"/>
              </a:defRPr>
            </a:lvl7pPr>
            <a:lvl8pPr>
              <a:buNone/>
              <a:defRPr sz="4800" b="1">
                <a:solidFill>
                  <a:srgbClr val="FFFFFF"/>
                </a:solidFill>
                <a:latin typeface="Arial"/>
                <a:ea typeface="Arial"/>
                <a:cs typeface="Arial"/>
              </a:defRPr>
            </a:lvl8pPr>
            <a:lvl9pPr>
              <a:buNone/>
              <a:defRPr sz="4800" b="1">
                <a:solidFill>
                  <a:srgbClr val="FFFFFF"/>
                </a:solidFill>
                <a:latin typeface="Arial"/>
                <a:ea typeface="Arial"/>
                <a:cs typeface="Arial"/>
              </a:defRPr>
            </a:lvl9pPr>
          </a:lstStyle>
          <a:p>
            <a:pPr>
              <a:buNone/>
              <a:defRPr sz="4800" b="1">
                <a:solidFill>
                  <a:srgbClr val="FFFFFF"/>
                </a:solidFill>
                <a:latin typeface="Arial"/>
                <a:ea typeface="Arial"/>
                <a:cs typeface="Arial"/>
              </a:defRPr>
            </a:pPr>
            <a:r>
              <a:rPr sz="4800" b="1">
                <a:solidFill>
                  <a:srgbClr val="FFFFFF"/>
                </a:solidFill>
                <a:latin typeface="Arial"/>
                <a:ea typeface="Arial"/>
                <a:cs typeface="Arial"/>
              </a:rPr>
              <a:t>Phone accessories</a:t>
            </a:r>
          </a:p>
          <a:p>
            <a:pPr>
              <a:buNone/>
              <a:defRPr sz="4800" b="1">
                <a:solidFill>
                  <a:srgbClr val="FFFFFF"/>
                </a:solidFill>
                <a:latin typeface="Arial"/>
                <a:ea typeface="Arial"/>
                <a:cs typeface="Arial"/>
              </a:defRPr>
            </a:pPr>
            <a:r>
              <a:rPr sz="4800" b="1">
                <a:solidFill>
                  <a:srgbClr val="FFFFFF"/>
                </a:solidFill>
                <a:latin typeface="Arial"/>
                <a:ea typeface="Arial"/>
                <a:cs typeface="Arial"/>
              </a:rPr>
              <a:t>pop-up proposal</a:t>
            </a:r>
          </a:p>
        </p:txBody>
      </p:sp>
      <p:sp>
        <p:nvSpPr>
          <p:cNvPr id="3" name="Rectangle 2">
            <a:extLst>
              <a:ext uri="{FF2B5EF4-FFF2-40B4-BE49-F238E27FC236}">
                <a16:creationId xmlns:a16="http://schemas.microsoft.com/office/drawing/2014/main" id="{747C9682-D6A1-438D-97A7-1008D2D65CC2}"/>
              </a:ext>
            </a:extLst>
          </p:cNvPr>
          <p:cNvSpPr>
            <a:spLocks noGrp="1"/>
          </p:cNvSpPr>
          <p:nvPr/>
        </p:nvSpPr>
        <p:spPr>
          <a:xfrm>
            <a:off x="723900" y="4000500"/>
            <a:ext cx="10191750" cy="809625"/>
          </a:xfrm>
          <a:prstGeom prst="rect">
            <a:avLst/>
          </a:prstGeom>
          <a:noFill/>
          <a:ln w="0">
            <a:noFill/>
          </a:ln>
        </p:spPr>
        <p:txBody>
          <a:bodyPr wrap="square" lIns="0" tIns="0" rIns="0" bIns="0" anchor="t">
            <a:noAutofit/>
          </a:bodyPr>
          <a:lstStyle>
            <a:defPPr>
              <a:defRPr sz="2175" b="0">
                <a:solidFill>
                  <a:srgbClr val="E2E8F0"/>
                </a:solidFill>
                <a:latin typeface="Arial"/>
                <a:ea typeface="Arial"/>
                <a:cs typeface="Arial"/>
              </a:defRPr>
            </a:defPPr>
            <a:lvl1pPr>
              <a:buNone/>
              <a:defRPr sz="2175" b="0">
                <a:solidFill>
                  <a:srgbClr val="E2E8F0"/>
                </a:solidFill>
                <a:latin typeface="Arial"/>
                <a:ea typeface="Arial"/>
                <a:cs typeface="Arial"/>
              </a:defRPr>
            </a:lvl1pPr>
            <a:lvl2pPr>
              <a:buNone/>
              <a:defRPr sz="2175" b="0">
                <a:solidFill>
                  <a:srgbClr val="E2E8F0"/>
                </a:solidFill>
                <a:latin typeface="Arial"/>
                <a:ea typeface="Arial"/>
                <a:cs typeface="Arial"/>
              </a:defRPr>
            </a:lvl2pPr>
            <a:lvl3pPr>
              <a:buNone/>
              <a:defRPr sz="2175" b="0">
                <a:solidFill>
                  <a:srgbClr val="E2E8F0"/>
                </a:solidFill>
                <a:latin typeface="Arial"/>
                <a:ea typeface="Arial"/>
                <a:cs typeface="Arial"/>
              </a:defRPr>
            </a:lvl3pPr>
            <a:lvl4pPr>
              <a:buNone/>
              <a:defRPr sz="2175" b="0">
                <a:solidFill>
                  <a:srgbClr val="E2E8F0"/>
                </a:solidFill>
                <a:latin typeface="Arial"/>
                <a:ea typeface="Arial"/>
                <a:cs typeface="Arial"/>
              </a:defRPr>
            </a:lvl4pPr>
            <a:lvl5pPr>
              <a:buNone/>
              <a:defRPr sz="2175" b="0">
                <a:solidFill>
                  <a:srgbClr val="E2E8F0"/>
                </a:solidFill>
                <a:latin typeface="Arial"/>
                <a:ea typeface="Arial"/>
                <a:cs typeface="Arial"/>
              </a:defRPr>
            </a:lvl5pPr>
            <a:lvl6pPr>
              <a:buNone/>
              <a:defRPr sz="2175" b="0">
                <a:solidFill>
                  <a:srgbClr val="E2E8F0"/>
                </a:solidFill>
                <a:latin typeface="Arial"/>
                <a:ea typeface="Arial"/>
                <a:cs typeface="Arial"/>
              </a:defRPr>
            </a:lvl6pPr>
            <a:lvl7pPr>
              <a:buNone/>
              <a:defRPr sz="2175" b="0">
                <a:solidFill>
                  <a:srgbClr val="E2E8F0"/>
                </a:solidFill>
                <a:latin typeface="Arial"/>
                <a:ea typeface="Arial"/>
                <a:cs typeface="Arial"/>
              </a:defRPr>
            </a:lvl7pPr>
            <a:lvl8pPr>
              <a:buNone/>
              <a:defRPr sz="2175" b="0">
                <a:solidFill>
                  <a:srgbClr val="E2E8F0"/>
                </a:solidFill>
                <a:latin typeface="Arial"/>
                <a:ea typeface="Arial"/>
                <a:cs typeface="Arial"/>
              </a:defRPr>
            </a:lvl8pPr>
            <a:lvl9pPr>
              <a:buNone/>
              <a:defRPr sz="2175" b="0">
                <a:solidFill>
                  <a:srgbClr val="E2E8F0"/>
                </a:solidFill>
                <a:latin typeface="Arial"/>
                <a:ea typeface="Arial"/>
                <a:cs typeface="Arial"/>
              </a:defRPr>
            </a:lvl9pPr>
          </a:lstStyle>
          <a:p>
            <a:pPr>
              <a:buNone/>
              <a:defRPr sz="2175" b="0">
                <a:solidFill>
                  <a:srgbClr val="E2E8F0"/>
                </a:solidFill>
                <a:latin typeface="Arial"/>
                <a:ea typeface="Arial"/>
                <a:cs typeface="Arial"/>
              </a:defRPr>
            </a:pPr>
            <a:r>
              <a:rPr sz="2175" b="0" dirty="0">
                <a:solidFill>
                  <a:srgbClr val="E2E8F0"/>
                </a:solidFill>
                <a:latin typeface="Arial"/>
                <a:ea typeface="Arial"/>
                <a:cs typeface="Arial"/>
              </a:rPr>
              <a:t>June 1–August 31, 2027</a:t>
            </a:r>
          </a:p>
          <a:p>
            <a:pPr>
              <a:buNone/>
              <a:defRPr sz="2175" b="0">
                <a:solidFill>
                  <a:srgbClr val="E2E8F0"/>
                </a:solidFill>
                <a:latin typeface="Arial"/>
                <a:ea typeface="Arial"/>
                <a:cs typeface="Arial"/>
              </a:defRPr>
            </a:pPr>
            <a:r>
              <a:rPr sz="2175" b="0" dirty="0">
                <a:solidFill>
                  <a:srgbClr val="E2E8F0"/>
                </a:solidFill>
                <a:latin typeface="Arial"/>
                <a:ea typeface="Arial"/>
                <a:cs typeface="Arial"/>
              </a:rPr>
              <a:t>Customer evidence, financial target and first-month plan</a:t>
            </a:r>
            <a:endParaRPr lang="en-US" sz="2175" b="0" dirty="0">
              <a:solidFill>
                <a:srgbClr val="E2E8F0"/>
              </a:solidFill>
              <a:latin typeface="Arial"/>
              <a:ea typeface="Arial"/>
              <a:cs typeface="Arial"/>
            </a:endParaRPr>
          </a:p>
          <a:p>
            <a:pPr>
              <a:buNone/>
              <a:defRPr sz="2175" b="0">
                <a:solidFill>
                  <a:srgbClr val="E2E8F0"/>
                </a:solidFill>
                <a:latin typeface="Arial"/>
                <a:ea typeface="Arial"/>
                <a:cs typeface="Arial"/>
              </a:defRPr>
            </a:pPr>
            <a:endParaRPr lang="en-US" dirty="0"/>
          </a:p>
          <a:p>
            <a:pPr>
              <a:buNone/>
              <a:defRPr sz="2175" b="0">
                <a:solidFill>
                  <a:srgbClr val="E2E8F0"/>
                </a:solidFill>
                <a:latin typeface="Arial"/>
                <a:ea typeface="Arial"/>
                <a:cs typeface="Arial"/>
              </a:defRPr>
            </a:pPr>
            <a:r>
              <a:rPr lang="en-US" sz="2175" b="0" dirty="0">
                <a:solidFill>
                  <a:srgbClr val="E2E8F0"/>
                </a:solidFill>
                <a:latin typeface="Arial"/>
                <a:ea typeface="Arial"/>
                <a:cs typeface="Arial"/>
              </a:rPr>
              <a:t>Robin Lecomte, Caroline Kilbane, Nicolas Delfau, Jasmine </a:t>
            </a:r>
            <a:r>
              <a:rPr lang="en-US" sz="2175" b="0" dirty="0" err="1">
                <a:solidFill>
                  <a:srgbClr val="E2E8F0"/>
                </a:solidFill>
                <a:latin typeface="Arial"/>
                <a:ea typeface="Arial"/>
                <a:cs typeface="Arial"/>
              </a:rPr>
              <a:t>Ongole</a:t>
            </a:r>
            <a:endParaRPr sz="2175" b="0" dirty="0">
              <a:solidFill>
                <a:srgbClr val="E2E8F0"/>
              </a:solidFill>
              <a:latin typeface="Arial"/>
              <a:ea typeface="Arial"/>
              <a:cs typeface="Arial"/>
            </a:endParaRPr>
          </a:p>
        </p:txBody>
      </p:sp>
      <p:sp>
        <p:nvSpPr>
          <p:cNvPr id="4" name="Rectangle 3">
            <a:extLst>
              <a:ext uri="{FF2B5EF4-FFF2-40B4-BE49-F238E27FC236}">
                <a16:creationId xmlns:a16="http://schemas.microsoft.com/office/drawing/2014/main" id="{472E688B-1222-4B2B-8402-698CB6642387}"/>
              </a:ext>
            </a:extLst>
          </p:cNvPr>
          <p:cNvSpPr>
            <a:spLocks noGrp="1"/>
          </p:cNvSpPr>
          <p:nvPr/>
        </p:nvSpPr>
        <p:spPr>
          <a:xfrm>
            <a:off x="723900" y="5753100"/>
            <a:ext cx="10477500" cy="523875"/>
          </a:xfrm>
          <a:prstGeom prst="rect">
            <a:avLst/>
          </a:prstGeom>
          <a:noFill/>
          <a:ln w="0">
            <a:noFill/>
          </a:ln>
        </p:spPr>
        <p:txBody>
          <a:bodyPr wrap="square" lIns="0" tIns="0" rIns="0" bIns="0" anchor="t">
            <a:noAutofit/>
          </a:bodyPr>
          <a:lstStyle>
            <a:defPPr>
              <a:defRPr sz="1725" b="0">
                <a:solidFill>
                  <a:srgbClr val="FDE6C4"/>
                </a:solidFill>
                <a:latin typeface="Arial"/>
                <a:ea typeface="Arial"/>
                <a:cs typeface="Arial"/>
              </a:defRPr>
            </a:defPPr>
            <a:lvl1pPr>
              <a:buNone/>
              <a:defRPr sz="1725" b="0">
                <a:solidFill>
                  <a:srgbClr val="FDE6C4"/>
                </a:solidFill>
                <a:latin typeface="Arial"/>
                <a:ea typeface="Arial"/>
                <a:cs typeface="Arial"/>
              </a:defRPr>
            </a:lvl1pPr>
            <a:lvl2pPr>
              <a:buNone/>
              <a:defRPr sz="1725" b="0">
                <a:solidFill>
                  <a:srgbClr val="FDE6C4"/>
                </a:solidFill>
                <a:latin typeface="Arial"/>
                <a:ea typeface="Arial"/>
                <a:cs typeface="Arial"/>
              </a:defRPr>
            </a:lvl2pPr>
            <a:lvl3pPr>
              <a:buNone/>
              <a:defRPr sz="1725" b="0">
                <a:solidFill>
                  <a:srgbClr val="FDE6C4"/>
                </a:solidFill>
                <a:latin typeface="Arial"/>
                <a:ea typeface="Arial"/>
                <a:cs typeface="Arial"/>
              </a:defRPr>
            </a:lvl3pPr>
            <a:lvl4pPr>
              <a:buNone/>
              <a:defRPr sz="1725" b="0">
                <a:solidFill>
                  <a:srgbClr val="FDE6C4"/>
                </a:solidFill>
                <a:latin typeface="Arial"/>
                <a:ea typeface="Arial"/>
                <a:cs typeface="Arial"/>
              </a:defRPr>
            </a:lvl4pPr>
            <a:lvl5pPr>
              <a:buNone/>
              <a:defRPr sz="1725" b="0">
                <a:solidFill>
                  <a:srgbClr val="FDE6C4"/>
                </a:solidFill>
                <a:latin typeface="Arial"/>
                <a:ea typeface="Arial"/>
                <a:cs typeface="Arial"/>
              </a:defRPr>
            </a:lvl5pPr>
            <a:lvl6pPr>
              <a:buNone/>
              <a:defRPr sz="1725" b="0">
                <a:solidFill>
                  <a:srgbClr val="FDE6C4"/>
                </a:solidFill>
                <a:latin typeface="Arial"/>
                <a:ea typeface="Arial"/>
                <a:cs typeface="Arial"/>
              </a:defRPr>
            </a:lvl6pPr>
            <a:lvl7pPr>
              <a:buNone/>
              <a:defRPr sz="1725" b="0">
                <a:solidFill>
                  <a:srgbClr val="FDE6C4"/>
                </a:solidFill>
                <a:latin typeface="Arial"/>
                <a:ea typeface="Arial"/>
                <a:cs typeface="Arial"/>
              </a:defRPr>
            </a:lvl7pPr>
            <a:lvl8pPr>
              <a:buNone/>
              <a:defRPr sz="1725" b="0">
                <a:solidFill>
                  <a:srgbClr val="FDE6C4"/>
                </a:solidFill>
                <a:latin typeface="Arial"/>
                <a:ea typeface="Arial"/>
                <a:cs typeface="Arial"/>
              </a:defRPr>
            </a:lvl8pPr>
            <a:lvl9pPr>
              <a:buNone/>
              <a:defRPr sz="1725" b="0">
                <a:solidFill>
                  <a:srgbClr val="FDE6C4"/>
                </a:solidFill>
                <a:latin typeface="Arial"/>
                <a:ea typeface="Arial"/>
                <a:cs typeface="Arial"/>
              </a:defRPr>
            </a:lvl9pPr>
          </a:lstStyle>
          <a:p>
            <a:pPr>
              <a:buNone/>
              <a:defRPr sz="1725" b="0">
                <a:solidFill>
                  <a:srgbClr val="FDE6C4"/>
                </a:solidFill>
                <a:latin typeface="Arial"/>
                <a:ea typeface="Arial"/>
                <a:cs typeface="Arial"/>
              </a:defRPr>
            </a:pPr>
            <a:endParaRPr/>
          </a:p>
        </p:txBody>
      </p:sp>
    </p:spTree>
    <p:extLst>
      <p:ext uri="{BB962C8B-B14F-4D97-AF65-F5344CB8AC3E}">
        <p14:creationId xmlns:p14="http://schemas.microsoft.com/office/powerpoint/2010/main" val="1528497734"/>
      </p:ext>
    </p:extLst>
  </p:cSld>
  <p:clrMapOvr>
    <a:masterClrMapping/>
  </p:clrMapOvr>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B8D559-002D-481C-922F-B11B9366F6FD}"/>
              </a:ext>
            </a:extLst>
          </p:cNvPr>
          <p:cNvSpPr>
            <a:spLocks xmlns:a="http://schemas.openxmlformats.org/drawingml/2006/main" noGrp="1"/>
          </p:cNvSpPr>
          <p:nvPr/>
        </p:nvSpPr>
        <p:spPr>
          <a:xfrm xmlns:a="http://schemas.openxmlformats.org/drawingml/2006/main">
            <a:off x="685800" y="4572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Case overview</a:t>
            </a:r>
          </a:p>
        </p:txBody>
      </p:sp>
      <p:sp>
        <p:nvSpPr>
          <p:cNvPr id="2" name="">
            <a:extLst xmlns:a="http://schemas.openxmlformats.org/drawingml/2006/main">
              <a:ext uri="{FF2B5EF4-FFF2-40B4-BE49-F238E27FC236}">
                <a16:creationId xmlns:a16="http://schemas.microsoft.com/office/drawing/2014/main" id="{71461591-32C2-45EA-822D-4E8E93AF5460}"/>
              </a:ext>
            </a:extLst>
          </p:cNvPr>
          <p:cNvSpPr>
            <a:spLocks xmlns:a="http://schemas.openxmlformats.org/drawingml/2006/main" noGrp="1"/>
          </p:cNvSpPr>
          <p:nvPr/>
        </p:nvSpPr>
        <p:spPr>
          <a:xfrm xmlns:a="http://schemas.openxmlformats.org/drawingml/2006/main">
            <a:off x="685800" y="15144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xmlns:a="http://schemas.openxmlformats.org/drawingml/2006/main">
            <a:pPr>
              <a:defRPr sz="2100" b="1">
                <a:solidFill>
                  <a:srgbClr val="16324F"/>
                </a:solidFill>
                <a:latin typeface="Arial"/>
                <a:ea typeface="Arial"/>
                <a:cs typeface="Arial"/>
              </a:defRPr>
            </a:pPr>
            <a:r>
              <a:rPr sz="2100" b="1">
                <a:solidFill>
                  <a:srgbClr val="16324F"/>
                </a:solidFill>
                <a:latin typeface="Arial"/>
                <a:ea typeface="Arial"/>
                <a:cs typeface="Arial"/>
              </a:rPr>
              <a:t>The opportunity</a:t>
            </a:r>
          </a:p>
        </p:txBody>
      </p:sp>
      <p:sp>
        <p:nvSpPr>
          <p:cNvPr id="3" name="">
            <a:extLst xmlns:a="http://schemas.openxmlformats.org/drawingml/2006/main">
              <a:ext uri="{FF2B5EF4-FFF2-40B4-BE49-F238E27FC236}">
                <a16:creationId xmlns:a16="http://schemas.microsoft.com/office/drawing/2014/main" id="{B79777A8-2175-4383-A565-177F99661144}"/>
              </a:ext>
            </a:extLst>
          </p:cNvPr>
          <p:cNvSpPr>
            <a:spLocks xmlns:a="http://schemas.openxmlformats.org/drawingml/2006/main" noGrp="1"/>
          </p:cNvSpPr>
          <p:nvPr/>
        </p:nvSpPr>
        <p:spPr>
          <a:xfrm xmlns:a="http://schemas.openxmlformats.org/drawingml/2006/main">
            <a:off x="4286250" y="1514475"/>
            <a:ext cx="712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7"/>
                </a:solidFill>
                <a:latin typeface="Arial"/>
                <a:ea typeface="Arial"/>
                <a:cs typeface="Arial"/>
              </a:defRPr>
            </a:defPPr>
            <a:lvl1pPr>
              <a:defRPr sz="2025" b="0">
                <a:solidFill>
                  <a:srgbClr val="526477"/>
                </a:solidFill>
                <a:latin typeface="Arial"/>
                <a:ea typeface="Arial"/>
                <a:cs typeface="Arial"/>
              </a:defRPr>
            </a:lvl1pPr>
            <a:lvl2pPr>
              <a:defRPr sz="2025" b="0">
                <a:solidFill>
                  <a:srgbClr val="526477"/>
                </a:solidFill>
                <a:latin typeface="Arial"/>
                <a:ea typeface="Arial"/>
                <a:cs typeface="Arial"/>
              </a:defRPr>
            </a:lvl2pPr>
            <a:lvl3pPr>
              <a:defRPr sz="2025" b="0">
                <a:solidFill>
                  <a:srgbClr val="526477"/>
                </a:solidFill>
                <a:latin typeface="Arial"/>
                <a:ea typeface="Arial"/>
                <a:cs typeface="Arial"/>
              </a:defRPr>
            </a:lvl3pPr>
            <a:lvl4pPr>
              <a:defRPr sz="2025" b="0">
                <a:solidFill>
                  <a:srgbClr val="526477"/>
                </a:solidFill>
                <a:latin typeface="Arial"/>
                <a:ea typeface="Arial"/>
                <a:cs typeface="Arial"/>
              </a:defRPr>
            </a:lvl4pPr>
            <a:lvl5pPr>
              <a:defRPr sz="2025" b="0">
                <a:solidFill>
                  <a:srgbClr val="526477"/>
                </a:solidFill>
                <a:latin typeface="Arial"/>
                <a:ea typeface="Arial"/>
                <a:cs typeface="Arial"/>
              </a:defRPr>
            </a:lvl5pPr>
            <a:lvl6pPr>
              <a:defRPr sz="2025" b="0">
                <a:solidFill>
                  <a:srgbClr val="526477"/>
                </a:solidFill>
                <a:latin typeface="Arial"/>
                <a:ea typeface="Arial"/>
                <a:cs typeface="Arial"/>
              </a:defRPr>
            </a:lvl6pPr>
            <a:lvl7pPr>
              <a:defRPr sz="2025" b="0">
                <a:solidFill>
                  <a:srgbClr val="526477"/>
                </a:solidFill>
                <a:latin typeface="Arial"/>
                <a:ea typeface="Arial"/>
                <a:cs typeface="Arial"/>
              </a:defRPr>
            </a:lvl7pPr>
            <a:lvl8pPr>
              <a:defRPr sz="2025" b="0">
                <a:solidFill>
                  <a:srgbClr val="526477"/>
                </a:solidFill>
                <a:latin typeface="Arial"/>
                <a:ea typeface="Arial"/>
                <a:cs typeface="Arial"/>
              </a:defRPr>
            </a:lvl8pPr>
            <a:lvl9pPr>
              <a:defRPr sz="2025" b="0">
                <a:solidFill>
                  <a:srgbClr val="526477"/>
                </a:solidFill>
                <a:latin typeface="Arial"/>
                <a:ea typeface="Arial"/>
                <a:cs typeface="Arial"/>
              </a:defRPr>
            </a:lvl9pPr>
          </a:lstStyle>
          <a:p xmlns:a="http://schemas.openxmlformats.org/drawingml/2006/main">
            <a:pPr>
              <a:defRPr sz="2025" b="0">
                <a:solidFill>
                  <a:srgbClr val="526477"/>
                </a:solidFill>
                <a:latin typeface="Arial"/>
                <a:ea typeface="Arial"/>
                <a:cs typeface="Arial"/>
              </a:defRPr>
            </a:pPr>
            <a:r>
              <a:rPr sz="2025" b="0">
                <a:solidFill>
                  <a:srgbClr val="526477"/>
                </a:solidFill>
                <a:latin typeface="Arial"/>
                <a:ea typeface="Arial"/>
                <a:cs typeface="Arial"/>
              </a:rPr>
              <a:t>Maple Mall is 70% empty. Unit 42 offers 400 square feet beside the central court.</a:t>
            </a:r>
          </a:p>
        </p:txBody>
      </p:sp>
      <p:sp>
        <p:nvSpPr>
          <p:cNvPr id="4" name="">
            <a:extLst xmlns:a="http://schemas.openxmlformats.org/drawingml/2006/main">
              <a:ext uri="{FF2B5EF4-FFF2-40B4-BE49-F238E27FC236}">
                <a16:creationId xmlns:a16="http://schemas.microsoft.com/office/drawing/2014/main" id="{7374BB6B-2C2F-44F6-AA09-A4A61959CCF3}"/>
              </a:ext>
            </a:extLst>
          </p:cNvPr>
          <p:cNvSpPr>
            <a:spLocks xmlns:a="http://schemas.openxmlformats.org/drawingml/2006/main" noGrp="1"/>
          </p:cNvSpPr>
          <p:nvPr/>
        </p:nvSpPr>
        <p:spPr>
          <a:xfrm xmlns:a="http://schemas.openxmlformats.org/drawingml/2006/main">
            <a:off x="685800" y="26384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xmlns:a="http://schemas.openxmlformats.org/drawingml/2006/main">
            <a:pPr>
              <a:defRPr sz="2100" b="1">
                <a:solidFill>
                  <a:srgbClr val="16324F"/>
                </a:solidFill>
                <a:latin typeface="Arial"/>
                <a:ea typeface="Arial"/>
                <a:cs typeface="Arial"/>
              </a:defRPr>
            </a:pPr>
            <a:r>
              <a:rPr sz="2100" b="1">
                <a:solidFill>
                  <a:srgbClr val="16324F"/>
                </a:solidFill>
                <a:latin typeface="Arial"/>
                <a:ea typeface="Arial"/>
                <a:cs typeface="Arial"/>
              </a:rPr>
              <a:t>The proposed business</a:t>
            </a:r>
          </a:p>
        </p:txBody>
      </p:sp>
      <p:sp>
        <p:nvSpPr>
          <p:cNvPr id="5" name="">
            <a:extLst xmlns:a="http://schemas.openxmlformats.org/drawingml/2006/main">
              <a:ext uri="{FF2B5EF4-FFF2-40B4-BE49-F238E27FC236}">
                <a16:creationId xmlns:a16="http://schemas.microsoft.com/office/drawing/2014/main" id="{F302E069-9D36-4575-ACFD-1B1D3A4C115F}"/>
              </a:ext>
            </a:extLst>
          </p:cNvPr>
          <p:cNvSpPr>
            <a:spLocks xmlns:a="http://schemas.openxmlformats.org/drawingml/2006/main" noGrp="1"/>
          </p:cNvSpPr>
          <p:nvPr/>
        </p:nvSpPr>
        <p:spPr>
          <a:xfrm xmlns:a="http://schemas.openxmlformats.org/drawingml/2006/main">
            <a:off x="4286250" y="2638425"/>
            <a:ext cx="712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7"/>
                </a:solidFill>
                <a:latin typeface="Arial"/>
                <a:ea typeface="Arial"/>
                <a:cs typeface="Arial"/>
              </a:defRPr>
            </a:defPPr>
            <a:lvl1pPr>
              <a:defRPr sz="2025" b="0">
                <a:solidFill>
                  <a:srgbClr val="526477"/>
                </a:solidFill>
                <a:latin typeface="Arial"/>
                <a:ea typeface="Arial"/>
                <a:cs typeface="Arial"/>
              </a:defRPr>
            </a:lvl1pPr>
            <a:lvl2pPr>
              <a:defRPr sz="2025" b="0">
                <a:solidFill>
                  <a:srgbClr val="526477"/>
                </a:solidFill>
                <a:latin typeface="Arial"/>
                <a:ea typeface="Arial"/>
                <a:cs typeface="Arial"/>
              </a:defRPr>
            </a:lvl2pPr>
            <a:lvl3pPr>
              <a:defRPr sz="2025" b="0">
                <a:solidFill>
                  <a:srgbClr val="526477"/>
                </a:solidFill>
                <a:latin typeface="Arial"/>
                <a:ea typeface="Arial"/>
                <a:cs typeface="Arial"/>
              </a:defRPr>
            </a:lvl3pPr>
            <a:lvl4pPr>
              <a:defRPr sz="2025" b="0">
                <a:solidFill>
                  <a:srgbClr val="526477"/>
                </a:solidFill>
                <a:latin typeface="Arial"/>
                <a:ea typeface="Arial"/>
                <a:cs typeface="Arial"/>
              </a:defRPr>
            </a:lvl4pPr>
            <a:lvl5pPr>
              <a:defRPr sz="2025" b="0">
                <a:solidFill>
                  <a:srgbClr val="526477"/>
                </a:solidFill>
                <a:latin typeface="Arial"/>
                <a:ea typeface="Arial"/>
                <a:cs typeface="Arial"/>
              </a:defRPr>
            </a:lvl5pPr>
            <a:lvl6pPr>
              <a:defRPr sz="2025" b="0">
                <a:solidFill>
                  <a:srgbClr val="526477"/>
                </a:solidFill>
                <a:latin typeface="Arial"/>
                <a:ea typeface="Arial"/>
                <a:cs typeface="Arial"/>
              </a:defRPr>
            </a:lvl6pPr>
            <a:lvl7pPr>
              <a:defRPr sz="2025" b="0">
                <a:solidFill>
                  <a:srgbClr val="526477"/>
                </a:solidFill>
                <a:latin typeface="Arial"/>
                <a:ea typeface="Arial"/>
                <a:cs typeface="Arial"/>
              </a:defRPr>
            </a:lvl7pPr>
            <a:lvl8pPr>
              <a:defRPr sz="2025" b="0">
                <a:solidFill>
                  <a:srgbClr val="526477"/>
                </a:solidFill>
                <a:latin typeface="Arial"/>
                <a:ea typeface="Arial"/>
                <a:cs typeface="Arial"/>
              </a:defRPr>
            </a:lvl8pPr>
            <a:lvl9pPr>
              <a:defRPr sz="2025" b="0">
                <a:solidFill>
                  <a:srgbClr val="526477"/>
                </a:solidFill>
                <a:latin typeface="Arial"/>
                <a:ea typeface="Arial"/>
                <a:cs typeface="Arial"/>
              </a:defRPr>
            </a:lvl9pPr>
          </a:lstStyle>
          <a:p xmlns:a="http://schemas.openxmlformats.org/drawingml/2006/main">
            <a:pPr>
              <a:defRPr sz="2025" b="0">
                <a:solidFill>
                  <a:srgbClr val="526477"/>
                </a:solidFill>
                <a:latin typeface="Arial"/>
                <a:ea typeface="Arial"/>
                <a:cs typeface="Arial"/>
              </a:defRPr>
            </a:pPr>
            <a:r>
              <a:rPr sz="2025" b="0">
                <a:solidFill>
                  <a:srgbClr val="526477"/>
                </a:solidFill>
                <a:latin typeface="Arial"/>
                <a:ea typeface="Arial"/>
                <a:cs typeface="Arial"/>
              </a:rPr>
              <a:t>A phone accessories pop-up selling cases, cables and grips at an initial $18 per item.</a:t>
            </a:r>
          </a:p>
        </p:txBody>
      </p:sp>
      <p:sp>
        <p:nvSpPr>
          <p:cNvPr id="6" name="">
            <a:extLst xmlns:a="http://schemas.openxmlformats.org/drawingml/2006/main">
              <a:ext uri="{FF2B5EF4-FFF2-40B4-BE49-F238E27FC236}">
                <a16:creationId xmlns:a16="http://schemas.microsoft.com/office/drawing/2014/main" id="{54882BC8-18F7-4993-A7DD-F908661B351F}"/>
              </a:ext>
            </a:extLst>
          </p:cNvPr>
          <p:cNvSpPr>
            <a:spLocks xmlns:a="http://schemas.openxmlformats.org/drawingml/2006/main" noGrp="1"/>
          </p:cNvSpPr>
          <p:nvPr/>
        </p:nvSpPr>
        <p:spPr>
          <a:xfrm xmlns:a="http://schemas.openxmlformats.org/drawingml/2006/main">
            <a:off x="685800" y="37623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xmlns:a="http://schemas.openxmlformats.org/drawingml/2006/main">
            <a:pPr>
              <a:defRPr sz="2100" b="1">
                <a:solidFill>
                  <a:srgbClr val="16324F"/>
                </a:solidFill>
                <a:latin typeface="Arial"/>
                <a:ea typeface="Arial"/>
                <a:cs typeface="Arial"/>
              </a:defRPr>
            </a:pPr>
            <a:r>
              <a:rPr sz="2100" b="1">
                <a:solidFill>
                  <a:srgbClr val="16324F"/>
                </a:solidFill>
                <a:latin typeface="Arial"/>
                <a:ea typeface="Arial"/>
                <a:cs typeface="Arial"/>
              </a:rPr>
              <a:t>The resources and timeline</a:t>
            </a:r>
          </a:p>
        </p:txBody>
      </p:sp>
      <p:sp>
        <p:nvSpPr>
          <p:cNvPr id="7" name="">
            <a:extLst xmlns:a="http://schemas.openxmlformats.org/drawingml/2006/main">
              <a:ext uri="{FF2B5EF4-FFF2-40B4-BE49-F238E27FC236}">
                <a16:creationId xmlns:a16="http://schemas.microsoft.com/office/drawing/2014/main" id="{A567F9DE-EED4-4CD7-A66F-D666B022B41B}"/>
              </a:ext>
            </a:extLst>
          </p:cNvPr>
          <p:cNvSpPr>
            <a:spLocks xmlns:a="http://schemas.openxmlformats.org/drawingml/2006/main" noGrp="1"/>
          </p:cNvSpPr>
          <p:nvPr/>
        </p:nvSpPr>
        <p:spPr>
          <a:xfrm xmlns:a="http://schemas.openxmlformats.org/drawingml/2006/main">
            <a:off x="4286250" y="3762375"/>
            <a:ext cx="712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7"/>
                </a:solidFill>
                <a:latin typeface="Arial"/>
                <a:ea typeface="Arial"/>
                <a:cs typeface="Arial"/>
              </a:defRPr>
            </a:defPPr>
            <a:lvl1pPr>
              <a:defRPr sz="2025" b="0">
                <a:solidFill>
                  <a:srgbClr val="526477"/>
                </a:solidFill>
                <a:latin typeface="Arial"/>
                <a:ea typeface="Arial"/>
                <a:cs typeface="Arial"/>
              </a:defRPr>
            </a:lvl1pPr>
            <a:lvl2pPr>
              <a:defRPr sz="2025" b="0">
                <a:solidFill>
                  <a:srgbClr val="526477"/>
                </a:solidFill>
                <a:latin typeface="Arial"/>
                <a:ea typeface="Arial"/>
                <a:cs typeface="Arial"/>
              </a:defRPr>
            </a:lvl2pPr>
            <a:lvl3pPr>
              <a:defRPr sz="2025" b="0">
                <a:solidFill>
                  <a:srgbClr val="526477"/>
                </a:solidFill>
                <a:latin typeface="Arial"/>
                <a:ea typeface="Arial"/>
                <a:cs typeface="Arial"/>
              </a:defRPr>
            </a:lvl3pPr>
            <a:lvl4pPr>
              <a:defRPr sz="2025" b="0">
                <a:solidFill>
                  <a:srgbClr val="526477"/>
                </a:solidFill>
                <a:latin typeface="Arial"/>
                <a:ea typeface="Arial"/>
                <a:cs typeface="Arial"/>
              </a:defRPr>
            </a:lvl4pPr>
            <a:lvl5pPr>
              <a:defRPr sz="2025" b="0">
                <a:solidFill>
                  <a:srgbClr val="526477"/>
                </a:solidFill>
                <a:latin typeface="Arial"/>
                <a:ea typeface="Arial"/>
                <a:cs typeface="Arial"/>
              </a:defRPr>
            </a:lvl5pPr>
            <a:lvl6pPr>
              <a:defRPr sz="2025" b="0">
                <a:solidFill>
                  <a:srgbClr val="526477"/>
                </a:solidFill>
                <a:latin typeface="Arial"/>
                <a:ea typeface="Arial"/>
                <a:cs typeface="Arial"/>
              </a:defRPr>
            </a:lvl6pPr>
            <a:lvl7pPr>
              <a:defRPr sz="2025" b="0">
                <a:solidFill>
                  <a:srgbClr val="526477"/>
                </a:solidFill>
                <a:latin typeface="Arial"/>
                <a:ea typeface="Arial"/>
                <a:cs typeface="Arial"/>
              </a:defRPr>
            </a:lvl7pPr>
            <a:lvl8pPr>
              <a:defRPr sz="2025" b="0">
                <a:solidFill>
                  <a:srgbClr val="526477"/>
                </a:solidFill>
                <a:latin typeface="Arial"/>
                <a:ea typeface="Arial"/>
                <a:cs typeface="Arial"/>
              </a:defRPr>
            </a:lvl8pPr>
            <a:lvl9pPr>
              <a:defRPr sz="2025" b="0">
                <a:solidFill>
                  <a:srgbClr val="526477"/>
                </a:solidFill>
                <a:latin typeface="Arial"/>
                <a:ea typeface="Arial"/>
                <a:cs typeface="Arial"/>
              </a:defRPr>
            </a:lvl9pPr>
          </a:lstStyle>
          <a:p xmlns:a="http://schemas.openxmlformats.org/drawingml/2006/main">
            <a:pPr>
              <a:defRPr sz="2025" b="0">
                <a:solidFill>
                  <a:srgbClr val="526477"/>
                </a:solidFill>
                <a:latin typeface="Arial"/>
                <a:ea typeface="Arial"/>
                <a:cs typeface="Arial"/>
              </a:defRPr>
            </a:pPr>
            <a:r>
              <a:rPr sz="2025" b="0">
                <a:solidFill>
                  <a:srgbClr val="526477"/>
                </a:solidFill>
                <a:latin typeface="Arial"/>
                <a:ea typeface="Arial"/>
                <a:cs typeface="Arial"/>
              </a:rPr>
              <a:t>$20,000 available, with no borrowing. Operate June 1–August 31, 2027. Rent is $2,500/month.</a:t>
            </a:r>
          </a:p>
        </p:txBody>
      </p:sp>
      <p:sp>
        <p:nvSpPr>
          <p:cNvPr id="8" name="">
            <a:extLst xmlns:a="http://schemas.openxmlformats.org/drawingml/2006/main">
              <a:ext uri="{FF2B5EF4-FFF2-40B4-BE49-F238E27FC236}">
                <a16:creationId xmlns:a16="http://schemas.microsoft.com/office/drawing/2014/main" id="{D4CA8633-88E2-46B9-965F-330F698C7935}"/>
              </a:ext>
            </a:extLst>
          </p:cNvPr>
          <p:cNvSpPr>
            <a:spLocks xmlns:a="http://schemas.openxmlformats.org/drawingml/2006/main" noGrp="1"/>
          </p:cNvSpPr>
          <p:nvPr/>
        </p:nvSpPr>
        <p:spPr>
          <a:xfrm xmlns:a="http://schemas.openxmlformats.org/drawingml/2006/main">
            <a:off x="685800" y="48863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xmlns:a="http://schemas.openxmlformats.org/drawingml/2006/main">
            <a:pPr>
              <a:defRPr sz="2100" b="1">
                <a:solidFill>
                  <a:srgbClr val="16324F"/>
                </a:solidFill>
                <a:latin typeface="Arial"/>
                <a:ea typeface="Arial"/>
                <a:cs typeface="Arial"/>
              </a:defRPr>
            </a:pPr>
            <a:r>
              <a:rPr sz="2100" b="1">
                <a:solidFill>
                  <a:srgbClr val="16324F"/>
                </a:solidFill>
                <a:latin typeface="Arial"/>
                <a:ea typeface="Arial"/>
                <a:cs typeface="Arial"/>
              </a:rPr>
              <a:t>The decision to prove</a:t>
            </a:r>
          </a:p>
        </p:txBody>
      </p:sp>
      <p:sp>
        <p:nvSpPr>
          <p:cNvPr id="9" name="">
            <a:extLst xmlns:a="http://schemas.openxmlformats.org/drawingml/2006/main">
              <a:ext uri="{FF2B5EF4-FFF2-40B4-BE49-F238E27FC236}">
                <a16:creationId xmlns:a16="http://schemas.microsoft.com/office/drawing/2014/main" id="{E18A16DD-C3C0-4C4A-8F70-0E6B506425AF}"/>
              </a:ext>
            </a:extLst>
          </p:cNvPr>
          <p:cNvSpPr>
            <a:spLocks xmlns:a="http://schemas.openxmlformats.org/drawingml/2006/main" noGrp="1"/>
          </p:cNvSpPr>
          <p:nvPr/>
        </p:nvSpPr>
        <p:spPr>
          <a:xfrm xmlns:a="http://schemas.openxmlformats.org/drawingml/2006/main">
            <a:off x="4286250" y="4886325"/>
            <a:ext cx="712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7"/>
                </a:solidFill>
                <a:latin typeface="Arial"/>
                <a:ea typeface="Arial"/>
                <a:cs typeface="Arial"/>
              </a:defRPr>
            </a:defPPr>
            <a:lvl1pPr>
              <a:defRPr sz="2025" b="0">
                <a:solidFill>
                  <a:srgbClr val="526477"/>
                </a:solidFill>
                <a:latin typeface="Arial"/>
                <a:ea typeface="Arial"/>
                <a:cs typeface="Arial"/>
              </a:defRPr>
            </a:lvl1pPr>
            <a:lvl2pPr>
              <a:defRPr sz="2025" b="0">
                <a:solidFill>
                  <a:srgbClr val="526477"/>
                </a:solidFill>
                <a:latin typeface="Arial"/>
                <a:ea typeface="Arial"/>
                <a:cs typeface="Arial"/>
              </a:defRPr>
            </a:lvl2pPr>
            <a:lvl3pPr>
              <a:defRPr sz="2025" b="0">
                <a:solidFill>
                  <a:srgbClr val="526477"/>
                </a:solidFill>
                <a:latin typeface="Arial"/>
                <a:ea typeface="Arial"/>
                <a:cs typeface="Arial"/>
              </a:defRPr>
            </a:lvl3pPr>
            <a:lvl4pPr>
              <a:defRPr sz="2025" b="0">
                <a:solidFill>
                  <a:srgbClr val="526477"/>
                </a:solidFill>
                <a:latin typeface="Arial"/>
                <a:ea typeface="Arial"/>
                <a:cs typeface="Arial"/>
              </a:defRPr>
            </a:lvl4pPr>
            <a:lvl5pPr>
              <a:defRPr sz="2025" b="0">
                <a:solidFill>
                  <a:srgbClr val="526477"/>
                </a:solidFill>
                <a:latin typeface="Arial"/>
                <a:ea typeface="Arial"/>
                <a:cs typeface="Arial"/>
              </a:defRPr>
            </a:lvl5pPr>
            <a:lvl6pPr>
              <a:defRPr sz="2025" b="0">
                <a:solidFill>
                  <a:srgbClr val="526477"/>
                </a:solidFill>
                <a:latin typeface="Arial"/>
                <a:ea typeface="Arial"/>
                <a:cs typeface="Arial"/>
              </a:defRPr>
            </a:lvl6pPr>
            <a:lvl7pPr>
              <a:defRPr sz="2025" b="0">
                <a:solidFill>
                  <a:srgbClr val="526477"/>
                </a:solidFill>
                <a:latin typeface="Arial"/>
                <a:ea typeface="Arial"/>
                <a:cs typeface="Arial"/>
              </a:defRPr>
            </a:lvl7pPr>
            <a:lvl8pPr>
              <a:defRPr sz="2025" b="0">
                <a:solidFill>
                  <a:srgbClr val="526477"/>
                </a:solidFill>
                <a:latin typeface="Arial"/>
                <a:ea typeface="Arial"/>
                <a:cs typeface="Arial"/>
              </a:defRPr>
            </a:lvl8pPr>
            <a:lvl9pPr>
              <a:defRPr sz="2025" b="0">
                <a:solidFill>
                  <a:srgbClr val="526477"/>
                </a:solidFill>
                <a:latin typeface="Arial"/>
                <a:ea typeface="Arial"/>
                <a:cs typeface="Arial"/>
              </a:defRPr>
            </a:lvl9pPr>
          </a:lstStyle>
          <a:p xmlns:a="http://schemas.openxmlformats.org/drawingml/2006/main">
            <a:pPr>
              <a:defRPr sz="2025" b="0">
                <a:solidFill>
                  <a:srgbClr val="526477"/>
                </a:solidFill>
                <a:latin typeface="Arial"/>
                <a:ea typeface="Arial"/>
                <a:cs typeface="Arial"/>
              </a:defRPr>
            </a:pPr>
            <a:r>
              <a:rPr sz="2025" b="0">
                <a:solidFill>
                  <a:srgbClr val="526477"/>
                </a:solidFill>
                <a:latin typeface="Arial"/>
                <a:ea typeface="Arial"/>
                <a:cs typeface="Arial"/>
              </a:rPr>
              <a:t>Break even by month three while funding every expense. Base target: 1,926 sales, about 21/day.</a:t>
            </a:r>
          </a:p>
        </p:txBody>
      </p:sp>
      <p:sp>
        <p:nvSpPr>
          <p:cNvPr id="10" name="">
            <a:extLst xmlns:a="http://schemas.openxmlformats.org/drawingml/2006/main">
              <a:ext uri="{FF2B5EF4-FFF2-40B4-BE49-F238E27FC236}">
                <a16:creationId xmlns:a16="http://schemas.microsoft.com/office/drawing/2014/main" id="{9874B233-F2BB-436A-914D-56B2AE293745}"/>
              </a:ext>
            </a:extLst>
          </p:cNvPr>
          <p:cNvSpPr>
            <a:spLocks xmlns:a="http://schemas.openxmlformats.org/drawingml/2006/main" noGrp="1"/>
          </p:cNvSpPr>
          <p:nvPr/>
        </p:nvSpPr>
        <p:spPr>
          <a:xfrm xmlns:a="http://schemas.openxmlformats.org/drawingml/2006/main">
            <a:off x="685800" y="6143625"/>
            <a:ext cx="1062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45309"/>
                </a:solidFill>
                <a:latin typeface="Arial"/>
                <a:ea typeface="Arial"/>
                <a:cs typeface="Arial"/>
              </a:defRPr>
            </a:defPPr>
            <a:lvl1pPr>
              <a:defRPr sz="1650" b="0">
                <a:solidFill>
                  <a:srgbClr val="B45309"/>
                </a:solidFill>
                <a:latin typeface="Arial"/>
                <a:ea typeface="Arial"/>
                <a:cs typeface="Arial"/>
              </a:defRPr>
            </a:lvl1pPr>
            <a:lvl2pPr>
              <a:defRPr sz="1650" b="0">
                <a:solidFill>
                  <a:srgbClr val="B45309"/>
                </a:solidFill>
                <a:latin typeface="Arial"/>
                <a:ea typeface="Arial"/>
                <a:cs typeface="Arial"/>
              </a:defRPr>
            </a:lvl2pPr>
            <a:lvl3pPr>
              <a:defRPr sz="1650" b="0">
                <a:solidFill>
                  <a:srgbClr val="B45309"/>
                </a:solidFill>
                <a:latin typeface="Arial"/>
                <a:ea typeface="Arial"/>
                <a:cs typeface="Arial"/>
              </a:defRPr>
            </a:lvl3pPr>
            <a:lvl4pPr>
              <a:defRPr sz="1650" b="0">
                <a:solidFill>
                  <a:srgbClr val="B45309"/>
                </a:solidFill>
                <a:latin typeface="Arial"/>
                <a:ea typeface="Arial"/>
                <a:cs typeface="Arial"/>
              </a:defRPr>
            </a:lvl4pPr>
            <a:lvl5pPr>
              <a:defRPr sz="1650" b="0">
                <a:solidFill>
                  <a:srgbClr val="B45309"/>
                </a:solidFill>
                <a:latin typeface="Arial"/>
                <a:ea typeface="Arial"/>
                <a:cs typeface="Arial"/>
              </a:defRPr>
            </a:lvl5pPr>
            <a:lvl6pPr>
              <a:defRPr sz="1650" b="0">
                <a:solidFill>
                  <a:srgbClr val="B45309"/>
                </a:solidFill>
                <a:latin typeface="Arial"/>
                <a:ea typeface="Arial"/>
                <a:cs typeface="Arial"/>
              </a:defRPr>
            </a:lvl6pPr>
            <a:lvl7pPr>
              <a:defRPr sz="1650" b="0">
                <a:solidFill>
                  <a:srgbClr val="B45309"/>
                </a:solidFill>
                <a:latin typeface="Arial"/>
                <a:ea typeface="Arial"/>
                <a:cs typeface="Arial"/>
              </a:defRPr>
            </a:lvl7pPr>
            <a:lvl8pPr>
              <a:defRPr sz="1650" b="0">
                <a:solidFill>
                  <a:srgbClr val="B45309"/>
                </a:solidFill>
                <a:latin typeface="Arial"/>
                <a:ea typeface="Arial"/>
                <a:cs typeface="Arial"/>
              </a:defRPr>
            </a:lvl8pPr>
            <a:lvl9pPr>
              <a:defRPr sz="1650" b="0">
                <a:solidFill>
                  <a:srgbClr val="B45309"/>
                </a:solidFill>
                <a:latin typeface="Arial"/>
                <a:ea typeface="Arial"/>
                <a:cs typeface="Arial"/>
              </a:defRPr>
            </a:lvl9pPr>
          </a:lstStyle>
          <a:p xmlns:a="http://schemas.openxmlformats.org/drawingml/2006/main">
            <a:pPr>
              <a:defRPr sz="1650" b="0">
                <a:solidFill>
                  <a:srgbClr val="B45309"/>
                </a:solidFill>
                <a:latin typeface="Arial"/>
                <a:ea typeface="Arial"/>
                <a:cs typeface="Arial"/>
              </a:defRPr>
            </a:pPr>
            <a:r>
              <a:rPr sz="1650" b="0">
                <a:solidFill>
                  <a:srgbClr val="B45309"/>
                </a:solidFill>
                <a:latin typeface="Arial"/>
                <a:ea typeface="Arial"/>
                <a:cs typeface="Arial"/>
              </a:rPr>
              <a:t>Key constraints: trade 10 AM–9 PM daily. August passing traffic is expected to decline 30%.</a:t>
            </a:r>
          </a:p>
        </p:txBody>
      </p:sp>
      <p:sp>
        <p:nvSpPr>
          <p:cNvPr id="11" name="">
            <a:extLst xmlns:a="http://schemas.openxmlformats.org/drawingml/2006/main">
              <a:ext uri="{FF2B5EF4-FFF2-40B4-BE49-F238E27FC236}">
                <a16:creationId xmlns:a16="http://schemas.microsoft.com/office/drawing/2014/main" id="{1078DBD4-4052-439A-AF0C-9D7B914C3E01}"/>
              </a:ext>
            </a:extLst>
          </p:cNvPr>
          <p:cNvSpPr>
            <a:spLocks xmlns:a="http://schemas.openxmlformats.org/drawingml/2006/main" noGrp="1"/>
          </p:cNvSpPr>
          <p:nvPr/>
        </p:nvSpPr>
        <p:spPr>
          <a:xfrm xmlns:a="http://schemas.openxmlformats.org/drawingml/2006/main">
            <a:off x="11144250" y="65151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2</a:t>
            </a:r>
          </a:p>
        </p:txBody>
      </p:sp>
    </p:spTree>
    <p:extLst>
      <p:ext uri="{BB962C8B-B14F-4D97-AF65-F5344CB8AC3E}">
        <p14:creationId xmlns:p14="http://schemas.microsoft.com/office/powerpoint/2010/main" val="1402364784"/>
      </p:ext>
    </p:extLst>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93BE416-C4C1-4C30-8E28-A2FEF3C4FB3B}"/>
              </a:ext>
            </a:extLst>
          </p:cNvPr>
          <p:cNvSpPr>
            <a:spLocks noGrp="1"/>
          </p:cNvSpPr>
          <p:nvPr/>
        </p:nvSpPr>
        <p:spPr>
          <a:xfrm>
            <a:off x="685800" y="457200"/>
            <a:ext cx="10820400" cy="876300"/>
          </a:xfrm>
          <a:prstGeom prst="rect">
            <a:avLst/>
          </a:prstGeom>
          <a:noFill/>
          <a:ln w="0">
            <a:noFill/>
          </a:ln>
        </p:spPr>
        <p:txBody>
          <a:bodyPr wrap="square" lIns="0" tIns="0" rIns="0" bIns="0" anchor="t">
            <a:noAutofit/>
          </a:bodyPr>
          <a:lstStyle>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a:pPr>
              <a:defRPr sz="3150" b="1">
                <a:solidFill>
                  <a:srgbClr val="16324F"/>
                </a:solidFill>
                <a:latin typeface="Arial"/>
                <a:ea typeface="Arial"/>
                <a:cs typeface="Arial"/>
              </a:defRPr>
            </a:pPr>
            <a:r>
              <a:rPr sz="3150" b="1">
                <a:solidFill>
                  <a:srgbClr val="16324F"/>
                </a:solidFill>
                <a:latin typeface="Arial"/>
                <a:ea typeface="Arial"/>
                <a:cs typeface="Arial"/>
              </a:rPr>
              <a:t>Customer evidence for phone accessories</a:t>
            </a:r>
          </a:p>
        </p:txBody>
      </p:sp>
      <p:sp>
        <p:nvSpPr>
          <p:cNvPr id="2" name="Rectangle 1">
            <a:extLst>
              <a:ext uri="{FF2B5EF4-FFF2-40B4-BE49-F238E27FC236}">
                <a16:creationId xmlns:a16="http://schemas.microsoft.com/office/drawing/2014/main" id="{854C0AD2-3707-4E5F-9711-0A1FF0388BE4}"/>
              </a:ext>
            </a:extLst>
          </p:cNvPr>
          <p:cNvSpPr>
            <a:spLocks noGrp="1"/>
          </p:cNvSpPr>
          <p:nvPr/>
        </p:nvSpPr>
        <p:spPr>
          <a:xfrm>
            <a:off x="11144250" y="6381750"/>
            <a:ext cx="381000" cy="228600"/>
          </a:xfrm>
          <a:prstGeom prst="rect">
            <a:avLst/>
          </a:prstGeom>
          <a:noFill/>
          <a:ln w="0">
            <a:noFill/>
          </a:ln>
        </p:spPr>
        <p:txBody>
          <a:bodyPr wrap="square" lIns="0" tIns="0" rIns="0" bIns="0" anchor="t">
            <a:noAutofit/>
          </a:bodyPr>
          <a:lstStyle>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a:pPr>
              <a:defRPr sz="1200" b="0">
                <a:solidFill>
                  <a:srgbClr val="526477"/>
                </a:solidFill>
                <a:latin typeface="Arial"/>
                <a:ea typeface="Arial"/>
                <a:cs typeface="Arial"/>
              </a:defRPr>
            </a:pPr>
            <a:r>
              <a:rPr sz="1200" b="0">
                <a:solidFill>
                  <a:srgbClr val="526477"/>
                </a:solidFill>
                <a:latin typeface="Arial"/>
                <a:ea typeface="Arial"/>
                <a:cs typeface="Arial"/>
              </a:rPr>
              <a:t>2</a:t>
            </a:r>
          </a:p>
        </p:txBody>
      </p:sp>
      <p:graphicFrame>
        <p:nvGraphicFramePr>
          <p:cNvPr id="3" name="Chart">
            <a:extLst>
              <a:ext uri="{FF2B5EF4-FFF2-40B4-BE49-F238E27FC236}">
                <a16:creationId xmlns:a16="http://schemas.microsoft.com/office/drawing/2014/main" id="{F38291F9-6019-4E3C-ADB9-474FA3D9B4CE}"/>
              </a:ext>
            </a:extLst>
          </p:cNvPr>
          <p:cNvGraphicFramePr/>
          <p:nvPr/>
        </p:nvGraphicFramePr>
        <p:xfrm>
          <a:off x="685800" y="1619250"/>
          <a:ext cx="6191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ED0DE362-0A63-4394-BF1E-21B1C077E8EA}"/>
              </a:ext>
            </a:extLst>
          </p:cNvPr>
          <p:cNvSpPr>
            <a:spLocks noGrp="1"/>
          </p:cNvSpPr>
          <p:nvPr/>
        </p:nvSpPr>
        <p:spPr>
          <a:xfrm>
            <a:off x="7381875" y="1676400"/>
            <a:ext cx="4000500" cy="552450"/>
          </a:xfrm>
          <a:prstGeom prst="rect">
            <a:avLst/>
          </a:prstGeom>
          <a:noFill/>
          <a:ln w="0">
            <a:noFill/>
          </a:ln>
        </p:spPr>
        <p:txBody>
          <a:bodyPr wrap="square" lIns="0" tIns="0" rIns="0" bIns="0" anchor="t">
            <a:noAutofit/>
          </a:bodyPr>
          <a:lstStyle>
            <a:defPPr>
              <a:defRPr sz="2175" b="1">
                <a:solidFill>
                  <a:srgbClr val="16324F"/>
                </a:solidFill>
                <a:latin typeface="Arial"/>
                <a:ea typeface="Arial"/>
                <a:cs typeface="Arial"/>
              </a:defRPr>
            </a:defPPr>
            <a:lvl1pPr>
              <a:defRPr sz="2175" b="1">
                <a:solidFill>
                  <a:srgbClr val="16324F"/>
                </a:solidFill>
                <a:latin typeface="Arial"/>
                <a:ea typeface="Arial"/>
                <a:cs typeface="Arial"/>
              </a:defRPr>
            </a:lvl1pPr>
            <a:lvl2pPr>
              <a:defRPr sz="2175" b="1">
                <a:solidFill>
                  <a:srgbClr val="16324F"/>
                </a:solidFill>
                <a:latin typeface="Arial"/>
                <a:ea typeface="Arial"/>
                <a:cs typeface="Arial"/>
              </a:defRPr>
            </a:lvl2pPr>
            <a:lvl3pPr>
              <a:defRPr sz="2175" b="1">
                <a:solidFill>
                  <a:srgbClr val="16324F"/>
                </a:solidFill>
                <a:latin typeface="Arial"/>
                <a:ea typeface="Arial"/>
                <a:cs typeface="Arial"/>
              </a:defRPr>
            </a:lvl3pPr>
            <a:lvl4pPr>
              <a:defRPr sz="2175" b="1">
                <a:solidFill>
                  <a:srgbClr val="16324F"/>
                </a:solidFill>
                <a:latin typeface="Arial"/>
                <a:ea typeface="Arial"/>
                <a:cs typeface="Arial"/>
              </a:defRPr>
            </a:lvl4pPr>
            <a:lvl5pPr>
              <a:defRPr sz="2175" b="1">
                <a:solidFill>
                  <a:srgbClr val="16324F"/>
                </a:solidFill>
                <a:latin typeface="Arial"/>
                <a:ea typeface="Arial"/>
                <a:cs typeface="Arial"/>
              </a:defRPr>
            </a:lvl5pPr>
            <a:lvl6pPr>
              <a:defRPr sz="2175" b="1">
                <a:solidFill>
                  <a:srgbClr val="16324F"/>
                </a:solidFill>
                <a:latin typeface="Arial"/>
                <a:ea typeface="Arial"/>
                <a:cs typeface="Arial"/>
              </a:defRPr>
            </a:lvl6pPr>
            <a:lvl7pPr>
              <a:defRPr sz="2175" b="1">
                <a:solidFill>
                  <a:srgbClr val="16324F"/>
                </a:solidFill>
                <a:latin typeface="Arial"/>
                <a:ea typeface="Arial"/>
                <a:cs typeface="Arial"/>
              </a:defRPr>
            </a:lvl7pPr>
            <a:lvl8pPr>
              <a:defRPr sz="2175" b="1">
                <a:solidFill>
                  <a:srgbClr val="16324F"/>
                </a:solidFill>
                <a:latin typeface="Arial"/>
                <a:ea typeface="Arial"/>
                <a:cs typeface="Arial"/>
              </a:defRPr>
            </a:lvl8pPr>
            <a:lvl9pPr>
              <a:defRPr sz="2175" b="1">
                <a:solidFill>
                  <a:srgbClr val="16324F"/>
                </a:solidFill>
                <a:latin typeface="Arial"/>
                <a:ea typeface="Arial"/>
                <a:cs typeface="Arial"/>
              </a:defRPr>
            </a:lvl9pPr>
          </a:lstStyle>
          <a:p>
            <a:pPr>
              <a:defRPr sz="2175" b="1">
                <a:solidFill>
                  <a:srgbClr val="16324F"/>
                </a:solidFill>
                <a:latin typeface="Arial"/>
                <a:ea typeface="Arial"/>
                <a:cs typeface="Arial"/>
              </a:defRPr>
            </a:pPr>
            <a:r>
              <a:rPr sz="2175" b="1">
                <a:solidFill>
                  <a:srgbClr val="16324F"/>
                </a:solidFill>
                <a:latin typeface="Arial"/>
                <a:ea typeface="Arial"/>
                <a:cs typeface="Arial"/>
              </a:rPr>
              <a:t>Phone accessory interest</a:t>
            </a:r>
          </a:p>
        </p:txBody>
      </p:sp>
      <p:sp>
        <p:nvSpPr>
          <p:cNvPr id="5" name="Rectangle 4">
            <a:extLst>
              <a:ext uri="{FF2B5EF4-FFF2-40B4-BE49-F238E27FC236}">
                <a16:creationId xmlns:a16="http://schemas.microsoft.com/office/drawing/2014/main" id="{2A147C8B-1490-4A2E-B940-F0921F67297D}"/>
              </a:ext>
            </a:extLst>
          </p:cNvPr>
          <p:cNvSpPr>
            <a:spLocks noGrp="1"/>
          </p:cNvSpPr>
          <p:nvPr/>
        </p:nvSpPr>
        <p:spPr>
          <a:xfrm>
            <a:off x="7381875" y="2333625"/>
            <a:ext cx="4000500" cy="1047750"/>
          </a:xfrm>
          <a:prstGeom prst="rect">
            <a:avLst/>
          </a:prstGeom>
          <a:noFill/>
          <a:ln w="0">
            <a:noFill/>
          </a:ln>
        </p:spPr>
        <p:txBody>
          <a:bodyPr wrap="square" lIns="0" tIns="0" rIns="0" bIns="0" anchor="t">
            <a:noAutofit/>
          </a:bodyPr>
          <a:lstStyle>
            <a:defPPr>
              <a:defRPr sz="1950" b="0">
                <a:solidFill>
                  <a:srgbClr val="526477"/>
                </a:solidFill>
                <a:latin typeface="Arial"/>
                <a:ea typeface="Arial"/>
                <a:cs typeface="Arial"/>
              </a:defRPr>
            </a:defPPr>
            <a:lvl1pPr>
              <a:defRPr sz="1950" b="0">
                <a:solidFill>
                  <a:srgbClr val="526477"/>
                </a:solidFill>
                <a:latin typeface="Arial"/>
                <a:ea typeface="Arial"/>
                <a:cs typeface="Arial"/>
              </a:defRPr>
            </a:lvl1pPr>
            <a:lvl2pPr>
              <a:defRPr sz="1950" b="0">
                <a:solidFill>
                  <a:srgbClr val="526477"/>
                </a:solidFill>
                <a:latin typeface="Arial"/>
                <a:ea typeface="Arial"/>
                <a:cs typeface="Arial"/>
              </a:defRPr>
            </a:lvl2pPr>
            <a:lvl3pPr>
              <a:defRPr sz="1950" b="0">
                <a:solidFill>
                  <a:srgbClr val="526477"/>
                </a:solidFill>
                <a:latin typeface="Arial"/>
                <a:ea typeface="Arial"/>
                <a:cs typeface="Arial"/>
              </a:defRPr>
            </a:lvl3pPr>
            <a:lvl4pPr>
              <a:defRPr sz="1950" b="0">
                <a:solidFill>
                  <a:srgbClr val="526477"/>
                </a:solidFill>
                <a:latin typeface="Arial"/>
                <a:ea typeface="Arial"/>
                <a:cs typeface="Arial"/>
              </a:defRPr>
            </a:lvl4pPr>
            <a:lvl5pPr>
              <a:defRPr sz="1950" b="0">
                <a:solidFill>
                  <a:srgbClr val="526477"/>
                </a:solidFill>
                <a:latin typeface="Arial"/>
                <a:ea typeface="Arial"/>
                <a:cs typeface="Arial"/>
              </a:defRPr>
            </a:lvl5pPr>
            <a:lvl6pPr>
              <a:defRPr sz="1950" b="0">
                <a:solidFill>
                  <a:srgbClr val="526477"/>
                </a:solidFill>
                <a:latin typeface="Arial"/>
                <a:ea typeface="Arial"/>
                <a:cs typeface="Arial"/>
              </a:defRPr>
            </a:lvl6pPr>
            <a:lvl7pPr>
              <a:defRPr sz="1950" b="0">
                <a:solidFill>
                  <a:srgbClr val="526477"/>
                </a:solidFill>
                <a:latin typeface="Arial"/>
                <a:ea typeface="Arial"/>
                <a:cs typeface="Arial"/>
              </a:defRPr>
            </a:lvl7pPr>
            <a:lvl8pPr>
              <a:defRPr sz="1950" b="0">
                <a:solidFill>
                  <a:srgbClr val="526477"/>
                </a:solidFill>
                <a:latin typeface="Arial"/>
                <a:ea typeface="Arial"/>
                <a:cs typeface="Arial"/>
              </a:defRPr>
            </a:lvl8pPr>
            <a:lvl9pPr>
              <a:defRPr sz="1950" b="0">
                <a:solidFill>
                  <a:srgbClr val="526477"/>
                </a:solidFill>
                <a:latin typeface="Arial"/>
                <a:ea typeface="Arial"/>
                <a:cs typeface="Arial"/>
              </a:defRPr>
            </a:lvl9pPr>
          </a:lstStyle>
          <a:p>
            <a:pPr>
              <a:defRPr sz="1950" b="0">
                <a:solidFill>
                  <a:srgbClr val="526477"/>
                </a:solidFill>
                <a:latin typeface="Arial"/>
                <a:ea typeface="Arial"/>
                <a:cs typeface="Arial"/>
              </a:defRPr>
            </a:pPr>
            <a:r>
              <a:rPr sz="1950" b="0">
                <a:solidFill>
                  <a:srgbClr val="526477"/>
                </a:solidFill>
                <a:latin typeface="Arial"/>
                <a:ea typeface="Arial"/>
                <a:cs typeface="Arial"/>
              </a:rPr>
              <a:t>25% chose accessories. Price limits ranged from $18 to $25, averaging $20.60.</a:t>
            </a:r>
          </a:p>
        </p:txBody>
      </p:sp>
      <p:sp>
        <p:nvSpPr>
          <p:cNvPr id="6" name="Rectangle 5">
            <a:extLst>
              <a:ext uri="{FF2B5EF4-FFF2-40B4-BE49-F238E27FC236}">
                <a16:creationId xmlns:a16="http://schemas.microsoft.com/office/drawing/2014/main" id="{475CC69D-96C6-4B66-8EEA-A83EB0446D64}"/>
              </a:ext>
            </a:extLst>
          </p:cNvPr>
          <p:cNvSpPr>
            <a:spLocks noGrp="1"/>
          </p:cNvSpPr>
          <p:nvPr/>
        </p:nvSpPr>
        <p:spPr>
          <a:xfrm>
            <a:off x="7381875" y="3705225"/>
            <a:ext cx="4000500" cy="495300"/>
          </a:xfrm>
          <a:prstGeom prst="rect">
            <a:avLst/>
          </a:prstGeom>
          <a:noFill/>
          <a:ln w="0">
            <a:noFill/>
          </a:ln>
        </p:spPr>
        <p:txBody>
          <a:bodyPr wrap="square" lIns="0" tIns="0" rIns="0" bIns="0" anchor="t">
            <a:noAutofit/>
          </a:bodyPr>
          <a:lstStyle>
            <a:defPPr>
              <a:defRPr sz="2175" b="1">
                <a:solidFill>
                  <a:srgbClr val="B45309"/>
                </a:solidFill>
                <a:latin typeface="Arial"/>
                <a:ea typeface="Arial"/>
                <a:cs typeface="Arial"/>
              </a:defRPr>
            </a:defPPr>
            <a:lvl1pPr>
              <a:defRPr sz="2175" b="1">
                <a:solidFill>
                  <a:srgbClr val="B45309"/>
                </a:solidFill>
                <a:latin typeface="Arial"/>
                <a:ea typeface="Arial"/>
                <a:cs typeface="Arial"/>
              </a:defRPr>
            </a:lvl1pPr>
            <a:lvl2pPr>
              <a:defRPr sz="2175" b="1">
                <a:solidFill>
                  <a:srgbClr val="B45309"/>
                </a:solidFill>
                <a:latin typeface="Arial"/>
                <a:ea typeface="Arial"/>
                <a:cs typeface="Arial"/>
              </a:defRPr>
            </a:lvl2pPr>
            <a:lvl3pPr>
              <a:defRPr sz="2175" b="1">
                <a:solidFill>
                  <a:srgbClr val="B45309"/>
                </a:solidFill>
                <a:latin typeface="Arial"/>
                <a:ea typeface="Arial"/>
                <a:cs typeface="Arial"/>
              </a:defRPr>
            </a:lvl3pPr>
            <a:lvl4pPr>
              <a:defRPr sz="2175" b="1">
                <a:solidFill>
                  <a:srgbClr val="B45309"/>
                </a:solidFill>
                <a:latin typeface="Arial"/>
                <a:ea typeface="Arial"/>
                <a:cs typeface="Arial"/>
              </a:defRPr>
            </a:lvl4pPr>
            <a:lvl5pPr>
              <a:defRPr sz="2175" b="1">
                <a:solidFill>
                  <a:srgbClr val="B45309"/>
                </a:solidFill>
                <a:latin typeface="Arial"/>
                <a:ea typeface="Arial"/>
                <a:cs typeface="Arial"/>
              </a:defRPr>
            </a:lvl5pPr>
            <a:lvl6pPr>
              <a:defRPr sz="2175" b="1">
                <a:solidFill>
                  <a:srgbClr val="B45309"/>
                </a:solidFill>
                <a:latin typeface="Arial"/>
                <a:ea typeface="Arial"/>
                <a:cs typeface="Arial"/>
              </a:defRPr>
            </a:lvl6pPr>
            <a:lvl7pPr>
              <a:defRPr sz="2175" b="1">
                <a:solidFill>
                  <a:srgbClr val="B45309"/>
                </a:solidFill>
                <a:latin typeface="Arial"/>
                <a:ea typeface="Arial"/>
                <a:cs typeface="Arial"/>
              </a:defRPr>
            </a:lvl7pPr>
            <a:lvl8pPr>
              <a:defRPr sz="2175" b="1">
                <a:solidFill>
                  <a:srgbClr val="B45309"/>
                </a:solidFill>
                <a:latin typeface="Arial"/>
                <a:ea typeface="Arial"/>
                <a:cs typeface="Arial"/>
              </a:defRPr>
            </a:lvl8pPr>
            <a:lvl9pPr>
              <a:defRPr sz="2175" b="1">
                <a:solidFill>
                  <a:srgbClr val="B45309"/>
                </a:solidFill>
                <a:latin typeface="Arial"/>
                <a:ea typeface="Arial"/>
                <a:cs typeface="Arial"/>
              </a:defRPr>
            </a:lvl9pPr>
          </a:lstStyle>
          <a:p>
            <a:pPr>
              <a:defRPr sz="2175" b="1">
                <a:solidFill>
                  <a:srgbClr val="B45309"/>
                </a:solidFill>
                <a:latin typeface="Arial"/>
                <a:ea typeface="Arial"/>
                <a:cs typeface="Arial"/>
              </a:defRPr>
            </a:pPr>
            <a:r>
              <a:rPr sz="2175" b="1">
                <a:solidFill>
                  <a:srgbClr val="B45309"/>
                </a:solidFill>
                <a:latin typeface="Arial"/>
                <a:ea typeface="Arial"/>
                <a:cs typeface="Arial"/>
              </a:rPr>
              <a:t>Customer recommendation</a:t>
            </a:r>
          </a:p>
        </p:txBody>
      </p:sp>
      <p:sp>
        <p:nvSpPr>
          <p:cNvPr id="7" name="Rectangle 6">
            <a:extLst>
              <a:ext uri="{FF2B5EF4-FFF2-40B4-BE49-F238E27FC236}">
                <a16:creationId xmlns:a16="http://schemas.microsoft.com/office/drawing/2014/main" id="{F61E7300-C586-491F-960E-899017E0E1B4}"/>
              </a:ext>
            </a:extLst>
          </p:cNvPr>
          <p:cNvSpPr>
            <a:spLocks noGrp="1"/>
          </p:cNvSpPr>
          <p:nvPr/>
        </p:nvSpPr>
        <p:spPr>
          <a:xfrm>
            <a:off x="7381875" y="4295775"/>
            <a:ext cx="4000500" cy="1190625"/>
          </a:xfrm>
          <a:prstGeom prst="rect">
            <a:avLst/>
          </a:prstGeom>
          <a:noFill/>
          <a:ln w="0">
            <a:noFill/>
          </a:ln>
        </p:spPr>
        <p:txBody>
          <a:bodyPr wrap="square" lIns="0" tIns="0" rIns="0" bIns="0" anchor="t">
            <a:noAutofit/>
          </a:bodyPr>
          <a:lstStyle>
            <a:defPPr>
              <a:defRPr sz="1950" b="0">
                <a:solidFill>
                  <a:srgbClr val="526477"/>
                </a:solidFill>
                <a:latin typeface="Arial"/>
                <a:ea typeface="Arial"/>
                <a:cs typeface="Arial"/>
              </a:defRPr>
            </a:defPPr>
            <a:lvl1pPr>
              <a:defRPr sz="1950" b="0">
                <a:solidFill>
                  <a:srgbClr val="526477"/>
                </a:solidFill>
                <a:latin typeface="Arial"/>
                <a:ea typeface="Arial"/>
                <a:cs typeface="Arial"/>
              </a:defRPr>
            </a:lvl1pPr>
            <a:lvl2pPr>
              <a:defRPr sz="1950" b="0">
                <a:solidFill>
                  <a:srgbClr val="526477"/>
                </a:solidFill>
                <a:latin typeface="Arial"/>
                <a:ea typeface="Arial"/>
                <a:cs typeface="Arial"/>
              </a:defRPr>
            </a:lvl2pPr>
            <a:lvl3pPr>
              <a:defRPr sz="1950" b="0">
                <a:solidFill>
                  <a:srgbClr val="526477"/>
                </a:solidFill>
                <a:latin typeface="Arial"/>
                <a:ea typeface="Arial"/>
                <a:cs typeface="Arial"/>
              </a:defRPr>
            </a:lvl3pPr>
            <a:lvl4pPr>
              <a:defRPr sz="1950" b="0">
                <a:solidFill>
                  <a:srgbClr val="526477"/>
                </a:solidFill>
                <a:latin typeface="Arial"/>
                <a:ea typeface="Arial"/>
                <a:cs typeface="Arial"/>
              </a:defRPr>
            </a:lvl4pPr>
            <a:lvl5pPr>
              <a:defRPr sz="1950" b="0">
                <a:solidFill>
                  <a:srgbClr val="526477"/>
                </a:solidFill>
                <a:latin typeface="Arial"/>
                <a:ea typeface="Arial"/>
                <a:cs typeface="Arial"/>
              </a:defRPr>
            </a:lvl5pPr>
            <a:lvl6pPr>
              <a:defRPr sz="1950" b="0">
                <a:solidFill>
                  <a:srgbClr val="526477"/>
                </a:solidFill>
                <a:latin typeface="Arial"/>
                <a:ea typeface="Arial"/>
                <a:cs typeface="Arial"/>
              </a:defRPr>
            </a:lvl6pPr>
            <a:lvl7pPr>
              <a:defRPr sz="1950" b="0">
                <a:solidFill>
                  <a:srgbClr val="526477"/>
                </a:solidFill>
                <a:latin typeface="Arial"/>
                <a:ea typeface="Arial"/>
                <a:cs typeface="Arial"/>
              </a:defRPr>
            </a:lvl7pPr>
            <a:lvl8pPr>
              <a:defRPr sz="1950" b="0">
                <a:solidFill>
                  <a:srgbClr val="526477"/>
                </a:solidFill>
                <a:latin typeface="Arial"/>
                <a:ea typeface="Arial"/>
                <a:cs typeface="Arial"/>
              </a:defRPr>
            </a:lvl8pPr>
            <a:lvl9pPr>
              <a:defRPr sz="1950" b="0">
                <a:solidFill>
                  <a:srgbClr val="526477"/>
                </a:solidFill>
                <a:latin typeface="Arial"/>
                <a:ea typeface="Arial"/>
                <a:cs typeface="Arial"/>
              </a:defRPr>
            </a:lvl9pPr>
          </a:lstStyle>
          <a:p>
            <a:pPr>
              <a:defRPr sz="1950" b="0">
                <a:solidFill>
                  <a:srgbClr val="526477"/>
                </a:solidFill>
                <a:latin typeface="Arial"/>
                <a:ea typeface="Arial"/>
                <a:cs typeface="Arial"/>
              </a:defRPr>
            </a:pPr>
            <a:r>
              <a:rPr sz="1950" b="0">
                <a:solidFill>
                  <a:srgbClr val="526477"/>
                </a:solidFill>
                <a:latin typeface="Arial"/>
                <a:ea typeface="Arial"/>
                <a:cs typeface="Arial"/>
              </a:rPr>
              <a:t>Evaluate $18 accessories across age groups. No accessory specialist is listed, but other sellers may carry them.</a:t>
            </a:r>
          </a:p>
        </p:txBody>
      </p:sp>
      <p:sp>
        <p:nvSpPr>
          <p:cNvPr id="8" name="Rectangle 7">
            <a:extLst>
              <a:ext uri="{FF2B5EF4-FFF2-40B4-BE49-F238E27FC236}">
                <a16:creationId xmlns:a16="http://schemas.microsoft.com/office/drawing/2014/main" id="{E6A615BE-18E4-45AB-946D-E88B02873948}"/>
              </a:ext>
            </a:extLst>
          </p:cNvPr>
          <p:cNvSpPr>
            <a:spLocks noGrp="1"/>
          </p:cNvSpPr>
          <p:nvPr/>
        </p:nvSpPr>
        <p:spPr>
          <a:xfrm>
            <a:off x="685800" y="5800725"/>
            <a:ext cx="10668000" cy="361950"/>
          </a:xfrm>
          <a:prstGeom prst="rect">
            <a:avLst/>
          </a:prstGeom>
          <a:noFill/>
          <a:ln w="0">
            <a:noFill/>
          </a:ln>
        </p:spPr>
        <p:txBody>
          <a:bodyPr wrap="square" lIns="0" tIns="0" rIns="0" bIns="0" anchor="t">
            <a:noAutofit/>
          </a:bodyPr>
          <a:lstStyle>
            <a:defPPr>
              <a:defRPr sz="1875" b="0">
                <a:solidFill>
                  <a:srgbClr val="B45309"/>
                </a:solidFill>
                <a:latin typeface="Arial"/>
                <a:ea typeface="Arial"/>
                <a:cs typeface="Arial"/>
              </a:defRPr>
            </a:defPPr>
            <a:lvl1pPr>
              <a:defRPr sz="1875" b="0">
                <a:solidFill>
                  <a:srgbClr val="B45309"/>
                </a:solidFill>
                <a:latin typeface="Arial"/>
                <a:ea typeface="Arial"/>
                <a:cs typeface="Arial"/>
              </a:defRPr>
            </a:lvl1pPr>
            <a:lvl2pPr>
              <a:defRPr sz="1875" b="0">
                <a:solidFill>
                  <a:srgbClr val="B45309"/>
                </a:solidFill>
                <a:latin typeface="Arial"/>
                <a:ea typeface="Arial"/>
                <a:cs typeface="Arial"/>
              </a:defRPr>
            </a:lvl2pPr>
            <a:lvl3pPr>
              <a:defRPr sz="1875" b="0">
                <a:solidFill>
                  <a:srgbClr val="B45309"/>
                </a:solidFill>
                <a:latin typeface="Arial"/>
                <a:ea typeface="Arial"/>
                <a:cs typeface="Arial"/>
              </a:defRPr>
            </a:lvl3pPr>
            <a:lvl4pPr>
              <a:defRPr sz="1875" b="0">
                <a:solidFill>
                  <a:srgbClr val="B45309"/>
                </a:solidFill>
                <a:latin typeface="Arial"/>
                <a:ea typeface="Arial"/>
                <a:cs typeface="Arial"/>
              </a:defRPr>
            </a:lvl4pPr>
            <a:lvl5pPr>
              <a:defRPr sz="1875" b="0">
                <a:solidFill>
                  <a:srgbClr val="B45309"/>
                </a:solidFill>
                <a:latin typeface="Arial"/>
                <a:ea typeface="Arial"/>
                <a:cs typeface="Arial"/>
              </a:defRPr>
            </a:lvl5pPr>
            <a:lvl6pPr>
              <a:defRPr sz="1875" b="0">
                <a:solidFill>
                  <a:srgbClr val="B45309"/>
                </a:solidFill>
                <a:latin typeface="Arial"/>
                <a:ea typeface="Arial"/>
                <a:cs typeface="Arial"/>
              </a:defRPr>
            </a:lvl6pPr>
            <a:lvl7pPr>
              <a:defRPr sz="1875" b="0">
                <a:solidFill>
                  <a:srgbClr val="B45309"/>
                </a:solidFill>
                <a:latin typeface="Arial"/>
                <a:ea typeface="Arial"/>
                <a:cs typeface="Arial"/>
              </a:defRPr>
            </a:lvl7pPr>
            <a:lvl8pPr>
              <a:defRPr sz="1875" b="0">
                <a:solidFill>
                  <a:srgbClr val="B45309"/>
                </a:solidFill>
                <a:latin typeface="Arial"/>
                <a:ea typeface="Arial"/>
                <a:cs typeface="Arial"/>
              </a:defRPr>
            </a:lvl8pPr>
            <a:lvl9pPr>
              <a:defRPr sz="1875" b="0">
                <a:solidFill>
                  <a:srgbClr val="B45309"/>
                </a:solidFill>
                <a:latin typeface="Arial"/>
                <a:ea typeface="Arial"/>
                <a:cs typeface="Arial"/>
              </a:defRPr>
            </a:lvl9pPr>
          </a:lstStyle>
          <a:p>
            <a:pPr>
              <a:defRPr sz="1875" b="0">
                <a:solidFill>
                  <a:srgbClr val="B45309"/>
                </a:solidFill>
                <a:latin typeface="Arial"/>
                <a:ea typeface="Arial"/>
                <a:cs typeface="Arial"/>
              </a:defRPr>
            </a:pPr>
            <a:r>
              <a:rPr sz="1875" b="0">
                <a:solidFill>
                  <a:srgbClr val="B45309"/>
                </a:solidFill>
                <a:latin typeface="Arial"/>
                <a:ea typeface="Arial"/>
                <a:cs typeface="Arial"/>
              </a:rPr>
              <a:t>Saturday-only survey. Stated interest does not establish weekday demand or actual purchases.</a:t>
            </a:r>
          </a:p>
        </p:txBody>
      </p:sp>
    </p:spTree>
    <p:extLst>
      <p:ext uri="{BB962C8B-B14F-4D97-AF65-F5344CB8AC3E}">
        <p14:creationId xmlns:p14="http://schemas.microsoft.com/office/powerpoint/2010/main" val="1610080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3B926A-5DE8-4FBB-AAFE-93A28AD045DE}"/>
              </a:ext>
            </a:extLst>
          </p:cNvPr>
          <p:cNvSpPr>
            <a:spLocks noGrp="1"/>
          </p:cNvSpPr>
          <p:nvPr/>
        </p:nvSpPr>
        <p:spPr>
          <a:xfrm>
            <a:off x="685800" y="457200"/>
            <a:ext cx="10820400" cy="876300"/>
          </a:xfrm>
          <a:prstGeom prst="rect">
            <a:avLst/>
          </a:prstGeom>
          <a:noFill/>
          <a:ln w="0">
            <a:noFill/>
          </a:ln>
        </p:spPr>
        <p:txBody>
          <a:bodyPr wrap="square" lIns="0" tIns="0" rIns="0" bIns="0" anchor="t">
            <a:noAutofit/>
          </a:bodyPr>
          <a:lstStyle>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a:pPr>
              <a:defRPr sz="3150" b="1">
                <a:solidFill>
                  <a:srgbClr val="16324F"/>
                </a:solidFill>
                <a:latin typeface="Arial"/>
                <a:ea typeface="Arial"/>
                <a:cs typeface="Arial"/>
              </a:defRPr>
            </a:pPr>
            <a:r>
              <a:rPr sz="3150" b="1">
                <a:solidFill>
                  <a:srgbClr val="16324F"/>
                </a:solidFill>
                <a:latin typeface="Arial"/>
                <a:ea typeface="Arial"/>
                <a:cs typeface="Arial"/>
              </a:rPr>
              <a:t>Three-month cost and cash requirements</a:t>
            </a:r>
          </a:p>
        </p:txBody>
      </p:sp>
      <p:sp>
        <p:nvSpPr>
          <p:cNvPr id="2" name="Rectangle 1">
            <a:extLst>
              <a:ext uri="{FF2B5EF4-FFF2-40B4-BE49-F238E27FC236}">
                <a16:creationId xmlns:a16="http://schemas.microsoft.com/office/drawing/2014/main" id="{5AF1B4E9-BEB9-4DE8-A91E-684093028CDF}"/>
              </a:ext>
            </a:extLst>
          </p:cNvPr>
          <p:cNvSpPr>
            <a:spLocks noGrp="1"/>
          </p:cNvSpPr>
          <p:nvPr/>
        </p:nvSpPr>
        <p:spPr>
          <a:xfrm>
            <a:off x="11144250" y="6381750"/>
            <a:ext cx="381000" cy="228600"/>
          </a:xfrm>
          <a:prstGeom prst="rect">
            <a:avLst/>
          </a:prstGeom>
          <a:noFill/>
          <a:ln w="0">
            <a:noFill/>
          </a:ln>
        </p:spPr>
        <p:txBody>
          <a:bodyPr wrap="square" lIns="0" tIns="0" rIns="0" bIns="0" anchor="t">
            <a:noAutofit/>
          </a:bodyPr>
          <a:lstStyle>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a:pPr>
              <a:defRPr sz="1200" b="0">
                <a:solidFill>
                  <a:srgbClr val="526477"/>
                </a:solidFill>
                <a:latin typeface="Arial"/>
                <a:ea typeface="Arial"/>
                <a:cs typeface="Arial"/>
              </a:defRPr>
            </a:pPr>
            <a:r>
              <a:rPr sz="1200" b="0">
                <a:solidFill>
                  <a:srgbClr val="526477"/>
                </a:solidFill>
                <a:latin typeface="Arial"/>
                <a:ea typeface="Arial"/>
                <a:cs typeface="Arial"/>
              </a:rPr>
              <a:t>3</a:t>
            </a:r>
          </a:p>
        </p:txBody>
      </p:sp>
      <p:graphicFrame>
        <p:nvGraphicFramePr>
          <p:cNvPr id="3" name="Table 2">
            <a:extLst>
              <a:ext uri="{FF2B5EF4-FFF2-40B4-BE49-F238E27FC236}">
                <a16:creationId xmlns:a16="http://schemas.microsoft.com/office/drawing/2014/main" id="{3440C260-9026-473C-A570-28411C068E68}"/>
              </a:ext>
            </a:extLst>
          </p:cNvPr>
          <p:cNvGraphicFramePr/>
          <p:nvPr/>
        </p:nvGraphicFramePr>
        <p:xfrm>
          <a:off x="685800" y="1543050"/>
          <a:ext cx="6524625" cy="4286250"/>
        </p:xfrm>
        <a:graphic>
          <a:graphicData uri="http://schemas.openxmlformats.org/drawingml/2006/table">
            <a:tbl>
              <a:tblPr/>
              <a:tblGrid>
                <a:gridCol w="4476750">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tblGrid>
              <a:tr h="535781">
                <a:tc>
                  <a:txBody>
                    <a:bodyPr/>
                    <a:lstStyle/>
                    <a:p>
                      <a:r>
                        <a:rPr sz="1725" b="1">
                          <a:solidFill>
                            <a:srgbClr val="FFFFFF"/>
                          </a:solidFill>
                          <a:latin typeface="Arial"/>
                          <a:ea typeface="Arial"/>
                          <a:cs typeface="Arial"/>
                        </a:rPr>
                        <a:t>Project expense</a:t>
                      </a:r>
                    </a:p>
                  </a:txBody>
                  <a:tcPr marL="114300" marR="114300" marT="95250" marB="95250">
                    <a:lnL w="5715">
                      <a:solidFill>
                        <a:srgbClr val="D7E0E8"/>
                      </a:solidFill>
                      <a:prstDash val="soli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June–August</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extLst>
                  <a:ext uri="{0D108BD9-81ED-4DB2-BD59-A6C34878D82A}">
                    <a16:rowId xmlns:a16="http://schemas.microsoft.com/office/drawing/2014/main" val="10000"/>
                  </a:ext>
                </a:extLst>
              </a:tr>
              <a:tr h="535781">
                <a:tc>
                  <a:txBody>
                    <a:bodyPr/>
                    <a:lstStyle/>
                    <a:p>
                      <a:r>
                        <a:rPr sz="1725">
                          <a:solidFill>
                            <a:srgbClr val="16324F"/>
                          </a:solidFill>
                          <a:latin typeface="Arial"/>
                          <a:ea typeface="Arial"/>
                          <a:cs typeface="Arial"/>
                        </a:rPr>
                        <a:t>Staffing, all opening hours</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$16,192.00</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1"/>
                  </a:ext>
                </a:extLst>
              </a:tr>
              <a:tr h="535781">
                <a:tc>
                  <a:txBody>
                    <a:bodyPr/>
                    <a:lstStyle/>
                    <a:p>
                      <a:r>
                        <a:rPr sz="1725">
                          <a:solidFill>
                            <a:srgbClr val="16324F"/>
                          </a:solidFill>
                          <a:latin typeface="Arial"/>
                          <a:ea typeface="Arial"/>
                          <a:cs typeface="Arial"/>
                        </a:rPr>
                        <a:t>Rent</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$7,500.00</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2"/>
                  </a:ext>
                </a:extLst>
              </a:tr>
              <a:tr h="535781">
                <a:tc>
                  <a:txBody>
                    <a:bodyPr/>
                    <a:lstStyle/>
                    <a:p>
                      <a:r>
                        <a:rPr sz="1725">
                          <a:solidFill>
                            <a:srgbClr val="16324F"/>
                          </a:solidFill>
                          <a:latin typeface="Arial"/>
                          <a:ea typeface="Arial"/>
                          <a:cs typeface="Arial"/>
                        </a:rPr>
                        <a:t>Stock purchased, 1,950 items</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$7,800.00</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3"/>
                  </a:ext>
                </a:extLst>
              </a:tr>
              <a:tr h="535781">
                <a:tc>
                  <a:txBody>
                    <a:bodyPr/>
                    <a:lstStyle/>
                    <a:p>
                      <a:r>
                        <a:rPr sz="1725">
                          <a:solidFill>
                            <a:srgbClr val="16324F"/>
                          </a:solidFill>
                          <a:latin typeface="Arial"/>
                          <a:ea typeface="Arial"/>
                          <a:cs typeface="Arial"/>
                        </a:rPr>
                        <a:t>Card processing</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$1,040.04</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4"/>
                  </a:ext>
                </a:extLst>
              </a:tr>
              <a:tr h="535781">
                <a:tc>
                  <a:txBody>
                    <a:bodyPr/>
                    <a:lstStyle/>
                    <a:p>
                      <a:r>
                        <a:rPr sz="1725">
                          <a:solidFill>
                            <a:srgbClr val="16324F"/>
                          </a:solidFill>
                          <a:latin typeface="Arial"/>
                          <a:ea typeface="Arial"/>
                          <a:cs typeface="Arial"/>
                        </a:rPr>
                        <a:t>One-time setup and promotion</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$1,450.00</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5"/>
                  </a:ext>
                </a:extLst>
              </a:tr>
              <a:tr h="535781">
                <a:tc>
                  <a:txBody>
                    <a:bodyPr/>
                    <a:lstStyle/>
                    <a:p>
                      <a:r>
                        <a:rPr sz="1725">
                          <a:solidFill>
                            <a:srgbClr val="16324F"/>
                          </a:solidFill>
                          <a:latin typeface="Arial"/>
                          <a:ea typeface="Arial"/>
                          <a:cs typeface="Arial"/>
                        </a:rPr>
                        <a:t>Terminal, insurance, cleaning</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$675.00</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6"/>
                  </a:ext>
                </a:extLst>
              </a:tr>
              <a:tr h="535781">
                <a:tc>
                  <a:txBody>
                    <a:bodyPr/>
                    <a:lstStyle/>
                    <a:p>
                      <a:r>
                        <a:rPr sz="1725">
                          <a:solidFill>
                            <a:srgbClr val="16324F"/>
                          </a:solidFill>
                          <a:latin typeface="Arial"/>
                          <a:ea typeface="Arial"/>
                          <a:cs typeface="Arial"/>
                        </a:rPr>
                        <a:t>Total costs</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$34,657.04</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4" name="Rectangle 3">
            <a:extLst>
              <a:ext uri="{FF2B5EF4-FFF2-40B4-BE49-F238E27FC236}">
                <a16:creationId xmlns:a16="http://schemas.microsoft.com/office/drawing/2014/main" id="{0B7BA095-DA31-429B-BE2A-E5354F56C2D9}"/>
              </a:ext>
            </a:extLst>
          </p:cNvPr>
          <p:cNvSpPr>
            <a:spLocks noGrp="1"/>
          </p:cNvSpPr>
          <p:nvPr/>
        </p:nvSpPr>
        <p:spPr>
          <a:xfrm>
            <a:off x="7810500" y="1638300"/>
            <a:ext cx="3524250" cy="428625"/>
          </a:xfrm>
          <a:prstGeom prst="rect">
            <a:avLst/>
          </a:prstGeom>
          <a:noFill/>
          <a:ln w="0">
            <a:noFill/>
          </a:ln>
        </p:spPr>
        <p:txBody>
          <a:bodyPr wrap="square" lIns="0" tIns="0" rIns="0" bIns="0" anchor="t">
            <a:noAutofit/>
          </a:bodyPr>
          <a:lstStyle>
            <a:defPPr>
              <a:defRPr sz="3450" b="1">
                <a:solidFill>
                  <a:srgbClr val="16324F"/>
                </a:solidFill>
                <a:latin typeface="Arial"/>
                <a:ea typeface="Arial"/>
                <a:cs typeface="Arial"/>
              </a:defRPr>
            </a:defPPr>
            <a:lvl1pPr>
              <a:defRPr sz="3450" b="1">
                <a:solidFill>
                  <a:srgbClr val="16324F"/>
                </a:solidFill>
                <a:latin typeface="Arial"/>
                <a:ea typeface="Arial"/>
                <a:cs typeface="Arial"/>
              </a:defRPr>
            </a:lvl1pPr>
            <a:lvl2pPr>
              <a:defRPr sz="3450" b="1">
                <a:solidFill>
                  <a:srgbClr val="16324F"/>
                </a:solidFill>
                <a:latin typeface="Arial"/>
                <a:ea typeface="Arial"/>
                <a:cs typeface="Arial"/>
              </a:defRPr>
            </a:lvl2pPr>
            <a:lvl3pPr>
              <a:defRPr sz="3450" b="1">
                <a:solidFill>
                  <a:srgbClr val="16324F"/>
                </a:solidFill>
                <a:latin typeface="Arial"/>
                <a:ea typeface="Arial"/>
                <a:cs typeface="Arial"/>
              </a:defRPr>
            </a:lvl3pPr>
            <a:lvl4pPr>
              <a:defRPr sz="3450" b="1">
                <a:solidFill>
                  <a:srgbClr val="16324F"/>
                </a:solidFill>
                <a:latin typeface="Arial"/>
                <a:ea typeface="Arial"/>
                <a:cs typeface="Arial"/>
              </a:defRPr>
            </a:lvl4pPr>
            <a:lvl5pPr>
              <a:defRPr sz="3450" b="1">
                <a:solidFill>
                  <a:srgbClr val="16324F"/>
                </a:solidFill>
                <a:latin typeface="Arial"/>
                <a:ea typeface="Arial"/>
                <a:cs typeface="Arial"/>
              </a:defRPr>
            </a:lvl5pPr>
            <a:lvl6pPr>
              <a:defRPr sz="3450" b="1">
                <a:solidFill>
                  <a:srgbClr val="16324F"/>
                </a:solidFill>
                <a:latin typeface="Arial"/>
                <a:ea typeface="Arial"/>
                <a:cs typeface="Arial"/>
              </a:defRPr>
            </a:lvl6pPr>
            <a:lvl7pPr>
              <a:defRPr sz="3450" b="1">
                <a:solidFill>
                  <a:srgbClr val="16324F"/>
                </a:solidFill>
                <a:latin typeface="Arial"/>
                <a:ea typeface="Arial"/>
                <a:cs typeface="Arial"/>
              </a:defRPr>
            </a:lvl7pPr>
            <a:lvl8pPr>
              <a:defRPr sz="3450" b="1">
                <a:solidFill>
                  <a:srgbClr val="16324F"/>
                </a:solidFill>
                <a:latin typeface="Arial"/>
                <a:ea typeface="Arial"/>
                <a:cs typeface="Arial"/>
              </a:defRPr>
            </a:lvl8pPr>
            <a:lvl9pPr>
              <a:defRPr sz="3450" b="1">
                <a:solidFill>
                  <a:srgbClr val="16324F"/>
                </a:solidFill>
                <a:latin typeface="Arial"/>
                <a:ea typeface="Arial"/>
                <a:cs typeface="Arial"/>
              </a:defRPr>
            </a:lvl9pPr>
          </a:lstStyle>
          <a:p>
            <a:pPr>
              <a:defRPr sz="3450" b="1">
                <a:solidFill>
                  <a:srgbClr val="16324F"/>
                </a:solidFill>
                <a:latin typeface="Arial"/>
                <a:ea typeface="Arial"/>
                <a:cs typeface="Arial"/>
              </a:defRPr>
            </a:pPr>
            <a:r>
              <a:rPr sz="3450" b="1">
                <a:solidFill>
                  <a:srgbClr val="16324F"/>
                </a:solidFill>
                <a:latin typeface="Arial"/>
                <a:ea typeface="Arial"/>
                <a:cs typeface="Arial"/>
              </a:rPr>
              <a:t>$7,650</a:t>
            </a:r>
          </a:p>
        </p:txBody>
      </p:sp>
      <p:sp>
        <p:nvSpPr>
          <p:cNvPr id="5" name="Rectangle 4">
            <a:extLst>
              <a:ext uri="{FF2B5EF4-FFF2-40B4-BE49-F238E27FC236}">
                <a16:creationId xmlns:a16="http://schemas.microsoft.com/office/drawing/2014/main" id="{7B742252-CCC8-4044-9014-164F37155DFD}"/>
              </a:ext>
            </a:extLst>
          </p:cNvPr>
          <p:cNvSpPr>
            <a:spLocks noGrp="1"/>
          </p:cNvSpPr>
          <p:nvPr/>
        </p:nvSpPr>
        <p:spPr>
          <a:xfrm>
            <a:off x="7810500" y="2190750"/>
            <a:ext cx="3524250" cy="904875"/>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Before opening, including the $2,500 deposit and June rent.</a:t>
            </a:r>
          </a:p>
        </p:txBody>
      </p:sp>
      <p:sp>
        <p:nvSpPr>
          <p:cNvPr id="6" name="Rectangle 5">
            <a:extLst>
              <a:ext uri="{FF2B5EF4-FFF2-40B4-BE49-F238E27FC236}">
                <a16:creationId xmlns:a16="http://schemas.microsoft.com/office/drawing/2014/main" id="{58C9ED49-C34A-4F22-950A-1CEA64BD0BFF}"/>
              </a:ext>
            </a:extLst>
          </p:cNvPr>
          <p:cNvSpPr>
            <a:spLocks noGrp="1"/>
          </p:cNvSpPr>
          <p:nvPr/>
        </p:nvSpPr>
        <p:spPr>
          <a:xfrm>
            <a:off x="7810500" y="3381375"/>
            <a:ext cx="3524250" cy="428625"/>
          </a:xfrm>
          <a:prstGeom prst="rect">
            <a:avLst/>
          </a:prstGeom>
          <a:noFill/>
          <a:ln w="0">
            <a:noFill/>
          </a:ln>
        </p:spPr>
        <p:txBody>
          <a:bodyPr wrap="square" lIns="0" tIns="0" rIns="0" bIns="0" anchor="t">
            <a:noAutofit/>
          </a:bodyPr>
          <a:lstStyle>
            <a:defPPr>
              <a:defRPr sz="3450" b="1">
                <a:solidFill>
                  <a:srgbClr val="16324F"/>
                </a:solidFill>
                <a:latin typeface="Arial"/>
                <a:ea typeface="Arial"/>
                <a:cs typeface="Arial"/>
              </a:defRPr>
            </a:defPPr>
            <a:lvl1pPr>
              <a:defRPr sz="3450" b="1">
                <a:solidFill>
                  <a:srgbClr val="16324F"/>
                </a:solidFill>
                <a:latin typeface="Arial"/>
                <a:ea typeface="Arial"/>
                <a:cs typeface="Arial"/>
              </a:defRPr>
            </a:lvl1pPr>
            <a:lvl2pPr>
              <a:defRPr sz="3450" b="1">
                <a:solidFill>
                  <a:srgbClr val="16324F"/>
                </a:solidFill>
                <a:latin typeface="Arial"/>
                <a:ea typeface="Arial"/>
                <a:cs typeface="Arial"/>
              </a:defRPr>
            </a:lvl2pPr>
            <a:lvl3pPr>
              <a:defRPr sz="3450" b="1">
                <a:solidFill>
                  <a:srgbClr val="16324F"/>
                </a:solidFill>
                <a:latin typeface="Arial"/>
                <a:ea typeface="Arial"/>
                <a:cs typeface="Arial"/>
              </a:defRPr>
            </a:lvl3pPr>
            <a:lvl4pPr>
              <a:defRPr sz="3450" b="1">
                <a:solidFill>
                  <a:srgbClr val="16324F"/>
                </a:solidFill>
                <a:latin typeface="Arial"/>
                <a:ea typeface="Arial"/>
                <a:cs typeface="Arial"/>
              </a:defRPr>
            </a:lvl4pPr>
            <a:lvl5pPr>
              <a:defRPr sz="3450" b="1">
                <a:solidFill>
                  <a:srgbClr val="16324F"/>
                </a:solidFill>
                <a:latin typeface="Arial"/>
                <a:ea typeface="Arial"/>
                <a:cs typeface="Arial"/>
              </a:defRPr>
            </a:lvl5pPr>
            <a:lvl6pPr>
              <a:defRPr sz="3450" b="1">
                <a:solidFill>
                  <a:srgbClr val="16324F"/>
                </a:solidFill>
                <a:latin typeface="Arial"/>
                <a:ea typeface="Arial"/>
                <a:cs typeface="Arial"/>
              </a:defRPr>
            </a:lvl6pPr>
            <a:lvl7pPr>
              <a:defRPr sz="3450" b="1">
                <a:solidFill>
                  <a:srgbClr val="16324F"/>
                </a:solidFill>
                <a:latin typeface="Arial"/>
                <a:ea typeface="Arial"/>
                <a:cs typeface="Arial"/>
              </a:defRPr>
            </a:lvl7pPr>
            <a:lvl8pPr>
              <a:defRPr sz="3450" b="1">
                <a:solidFill>
                  <a:srgbClr val="16324F"/>
                </a:solidFill>
                <a:latin typeface="Arial"/>
                <a:ea typeface="Arial"/>
                <a:cs typeface="Arial"/>
              </a:defRPr>
            </a:lvl8pPr>
            <a:lvl9pPr>
              <a:defRPr sz="3450" b="1">
                <a:solidFill>
                  <a:srgbClr val="16324F"/>
                </a:solidFill>
                <a:latin typeface="Arial"/>
                <a:ea typeface="Arial"/>
                <a:cs typeface="Arial"/>
              </a:defRPr>
            </a:lvl9pPr>
          </a:lstStyle>
          <a:p>
            <a:pPr>
              <a:defRPr sz="3450" b="1">
                <a:solidFill>
                  <a:srgbClr val="16324F"/>
                </a:solidFill>
                <a:latin typeface="Arial"/>
                <a:ea typeface="Arial"/>
                <a:cs typeface="Arial"/>
              </a:defRPr>
            </a:pPr>
            <a:r>
              <a:rPr sz="3450" b="1">
                <a:solidFill>
                  <a:srgbClr val="16324F"/>
                </a:solidFill>
                <a:latin typeface="Arial"/>
                <a:ea typeface="Arial"/>
                <a:cs typeface="Arial"/>
              </a:rPr>
              <a:t>$7,875</a:t>
            </a:r>
          </a:p>
        </p:txBody>
      </p:sp>
      <p:sp>
        <p:nvSpPr>
          <p:cNvPr id="7" name="Rectangle 6">
            <a:extLst>
              <a:ext uri="{FF2B5EF4-FFF2-40B4-BE49-F238E27FC236}">
                <a16:creationId xmlns:a16="http://schemas.microsoft.com/office/drawing/2014/main" id="{61E601DB-A14D-4A4F-B3FB-863D2EC393BB}"/>
              </a:ext>
            </a:extLst>
          </p:cNvPr>
          <p:cNvSpPr>
            <a:spLocks noGrp="1"/>
          </p:cNvSpPr>
          <p:nvPr/>
        </p:nvSpPr>
        <p:spPr>
          <a:xfrm>
            <a:off x="7810500" y="3933825"/>
            <a:ext cx="3524250" cy="1047750"/>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Through opening-day monthly charges. This reconciles the risk estimate.</a:t>
            </a:r>
          </a:p>
        </p:txBody>
      </p:sp>
      <p:sp>
        <p:nvSpPr>
          <p:cNvPr id="8" name="Rectangle 7">
            <a:extLst>
              <a:ext uri="{FF2B5EF4-FFF2-40B4-BE49-F238E27FC236}">
                <a16:creationId xmlns:a16="http://schemas.microsoft.com/office/drawing/2014/main" id="{00269301-48FD-45D3-A4C3-8D39F940242F}"/>
              </a:ext>
            </a:extLst>
          </p:cNvPr>
          <p:cNvSpPr>
            <a:spLocks noGrp="1"/>
          </p:cNvSpPr>
          <p:nvPr/>
        </p:nvSpPr>
        <p:spPr>
          <a:xfrm>
            <a:off x="685800" y="6048375"/>
            <a:ext cx="10477500" cy="285750"/>
          </a:xfrm>
          <a:prstGeom prst="rect">
            <a:avLst/>
          </a:prstGeom>
          <a:noFill/>
          <a:ln w="0">
            <a:noFill/>
          </a:ln>
        </p:spPr>
        <p:txBody>
          <a:bodyPr wrap="square" lIns="0" tIns="0" rIns="0" bIns="0" anchor="t">
            <a:noAutofit/>
          </a:bodyPr>
          <a:lstStyle>
            <a:defPPr>
              <a:defRPr sz="1650" b="0">
                <a:solidFill>
                  <a:srgbClr val="526477"/>
                </a:solidFill>
                <a:latin typeface="Arial"/>
                <a:ea typeface="Arial"/>
                <a:cs typeface="Arial"/>
              </a:defRPr>
            </a:defPPr>
            <a:lvl1pPr>
              <a:defRPr sz="1650" b="0">
                <a:solidFill>
                  <a:srgbClr val="526477"/>
                </a:solidFill>
                <a:latin typeface="Arial"/>
                <a:ea typeface="Arial"/>
                <a:cs typeface="Arial"/>
              </a:defRPr>
            </a:lvl1pPr>
            <a:lvl2pPr>
              <a:defRPr sz="1650" b="0">
                <a:solidFill>
                  <a:srgbClr val="526477"/>
                </a:solidFill>
                <a:latin typeface="Arial"/>
                <a:ea typeface="Arial"/>
                <a:cs typeface="Arial"/>
              </a:defRPr>
            </a:lvl2pPr>
            <a:lvl3pPr>
              <a:defRPr sz="1650" b="0">
                <a:solidFill>
                  <a:srgbClr val="526477"/>
                </a:solidFill>
                <a:latin typeface="Arial"/>
                <a:ea typeface="Arial"/>
                <a:cs typeface="Arial"/>
              </a:defRPr>
            </a:lvl3pPr>
            <a:lvl4pPr>
              <a:defRPr sz="1650" b="0">
                <a:solidFill>
                  <a:srgbClr val="526477"/>
                </a:solidFill>
                <a:latin typeface="Arial"/>
                <a:ea typeface="Arial"/>
                <a:cs typeface="Arial"/>
              </a:defRPr>
            </a:lvl4pPr>
            <a:lvl5pPr>
              <a:defRPr sz="1650" b="0">
                <a:solidFill>
                  <a:srgbClr val="526477"/>
                </a:solidFill>
                <a:latin typeface="Arial"/>
                <a:ea typeface="Arial"/>
                <a:cs typeface="Arial"/>
              </a:defRPr>
            </a:lvl5pPr>
            <a:lvl6pPr>
              <a:defRPr sz="1650" b="0">
                <a:solidFill>
                  <a:srgbClr val="526477"/>
                </a:solidFill>
                <a:latin typeface="Arial"/>
                <a:ea typeface="Arial"/>
                <a:cs typeface="Arial"/>
              </a:defRPr>
            </a:lvl6pPr>
            <a:lvl7pPr>
              <a:defRPr sz="1650" b="0">
                <a:solidFill>
                  <a:srgbClr val="526477"/>
                </a:solidFill>
                <a:latin typeface="Arial"/>
                <a:ea typeface="Arial"/>
                <a:cs typeface="Arial"/>
              </a:defRPr>
            </a:lvl7pPr>
            <a:lvl8pPr>
              <a:defRPr sz="1650" b="0">
                <a:solidFill>
                  <a:srgbClr val="526477"/>
                </a:solidFill>
                <a:latin typeface="Arial"/>
                <a:ea typeface="Arial"/>
                <a:cs typeface="Arial"/>
              </a:defRPr>
            </a:lvl8pPr>
            <a:lvl9pPr>
              <a:defRPr sz="1650" b="0">
                <a:solidFill>
                  <a:srgbClr val="526477"/>
                </a:solidFill>
                <a:latin typeface="Arial"/>
                <a:ea typeface="Arial"/>
                <a:cs typeface="Arial"/>
              </a:defRPr>
            </a:lvl9pPr>
          </a:lstStyle>
          <a:p>
            <a:pPr>
              <a:defRPr sz="1650" b="0">
                <a:solidFill>
                  <a:srgbClr val="526477"/>
                </a:solidFill>
                <a:latin typeface="Arial"/>
                <a:ea typeface="Arial"/>
                <a:cs typeface="Arial"/>
              </a:defRPr>
            </a:pPr>
            <a:r>
              <a:rPr sz="1650" b="0">
                <a:solidFill>
                  <a:srgbClr val="526477"/>
                </a:solidFill>
                <a:latin typeface="Arial"/>
                <a:ea typeface="Arial"/>
                <a:cs typeface="Arial"/>
              </a:rPr>
              <a:t>Deposit refund: September 7, subject to no damage or unpaid rent.</a:t>
            </a:r>
          </a:p>
        </p:txBody>
      </p:sp>
    </p:spTree>
    <p:extLst>
      <p:ext uri="{BB962C8B-B14F-4D97-AF65-F5344CB8AC3E}">
        <p14:creationId xmlns:p14="http://schemas.microsoft.com/office/powerpoint/2010/main" val="674744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2FAAA4E-FAE3-4016-AE42-87BA3971608D}"/>
              </a:ext>
            </a:extLst>
          </p:cNvPr>
          <p:cNvSpPr>
            <a:spLocks noGrp="1"/>
          </p:cNvSpPr>
          <p:nvPr/>
        </p:nvSpPr>
        <p:spPr>
          <a:xfrm>
            <a:off x="685800" y="457200"/>
            <a:ext cx="10820400" cy="876300"/>
          </a:xfrm>
          <a:prstGeom prst="rect">
            <a:avLst/>
          </a:prstGeom>
          <a:noFill/>
          <a:ln w="0">
            <a:noFill/>
          </a:ln>
        </p:spPr>
        <p:txBody>
          <a:bodyPr wrap="square" lIns="0" tIns="0" rIns="0" bIns="0" anchor="t">
            <a:noAutofit/>
          </a:bodyPr>
          <a:lstStyle>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a:pPr>
              <a:defRPr sz="3150" b="1">
                <a:solidFill>
                  <a:srgbClr val="16324F"/>
                </a:solidFill>
                <a:latin typeface="Arial"/>
                <a:ea typeface="Arial"/>
                <a:cs typeface="Arial"/>
              </a:defRPr>
            </a:pPr>
            <a:r>
              <a:rPr sz="3150" b="1">
                <a:solidFill>
                  <a:srgbClr val="16324F"/>
                </a:solidFill>
                <a:latin typeface="Arial"/>
                <a:ea typeface="Arial"/>
                <a:cs typeface="Arial"/>
              </a:rPr>
              <a:t>Break-even requires 1,926 sales by August 31</a:t>
            </a:r>
          </a:p>
        </p:txBody>
      </p:sp>
      <p:sp>
        <p:nvSpPr>
          <p:cNvPr id="2" name="Rectangle 1">
            <a:extLst>
              <a:ext uri="{FF2B5EF4-FFF2-40B4-BE49-F238E27FC236}">
                <a16:creationId xmlns:a16="http://schemas.microsoft.com/office/drawing/2014/main" id="{5480244B-6C94-47CC-848B-8DFA47F0C280}"/>
              </a:ext>
            </a:extLst>
          </p:cNvPr>
          <p:cNvSpPr>
            <a:spLocks noGrp="1"/>
          </p:cNvSpPr>
          <p:nvPr/>
        </p:nvSpPr>
        <p:spPr>
          <a:xfrm>
            <a:off x="11144250" y="6381750"/>
            <a:ext cx="381000" cy="228600"/>
          </a:xfrm>
          <a:prstGeom prst="rect">
            <a:avLst/>
          </a:prstGeom>
          <a:noFill/>
          <a:ln w="0">
            <a:noFill/>
          </a:ln>
        </p:spPr>
        <p:txBody>
          <a:bodyPr wrap="square" lIns="0" tIns="0" rIns="0" bIns="0" anchor="t">
            <a:noAutofit/>
          </a:bodyPr>
          <a:lstStyle>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a:pPr>
              <a:defRPr sz="1200" b="0">
                <a:solidFill>
                  <a:srgbClr val="526477"/>
                </a:solidFill>
                <a:latin typeface="Arial"/>
                <a:ea typeface="Arial"/>
                <a:cs typeface="Arial"/>
              </a:defRPr>
            </a:pPr>
            <a:r>
              <a:rPr sz="1200" b="0">
                <a:solidFill>
                  <a:srgbClr val="526477"/>
                </a:solidFill>
                <a:latin typeface="Arial"/>
                <a:ea typeface="Arial"/>
                <a:cs typeface="Arial"/>
              </a:rPr>
              <a:t>4</a:t>
            </a:r>
          </a:p>
        </p:txBody>
      </p:sp>
      <p:graphicFrame>
        <p:nvGraphicFramePr>
          <p:cNvPr id="3" name="Chart">
            <a:extLst>
              <a:ext uri="{FF2B5EF4-FFF2-40B4-BE49-F238E27FC236}">
                <a16:creationId xmlns:a16="http://schemas.microsoft.com/office/drawing/2014/main" id="{DDBE7A8F-8A6C-46AC-9B7B-5E4BBB0A265D}"/>
              </a:ext>
            </a:extLst>
          </p:cNvPr>
          <p:cNvGraphicFramePr/>
          <p:nvPr/>
        </p:nvGraphicFramePr>
        <p:xfrm>
          <a:off x="685800" y="1543050"/>
          <a:ext cx="76200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D984AA92-523C-4312-9C42-6C9941EB21BB}"/>
              </a:ext>
            </a:extLst>
          </p:cNvPr>
          <p:cNvSpPr>
            <a:spLocks noGrp="1"/>
          </p:cNvSpPr>
          <p:nvPr/>
        </p:nvSpPr>
        <p:spPr>
          <a:xfrm>
            <a:off x="8858250" y="1657350"/>
            <a:ext cx="2571750" cy="571500"/>
          </a:xfrm>
          <a:prstGeom prst="rect">
            <a:avLst/>
          </a:prstGeom>
          <a:noFill/>
          <a:ln w="0">
            <a:noFill/>
          </a:ln>
        </p:spPr>
        <p:txBody>
          <a:bodyPr wrap="square" lIns="0" tIns="0" rIns="0" bIns="0" anchor="t">
            <a:noAutofit/>
          </a:bodyPr>
          <a:lstStyle>
            <a:defPPr>
              <a:defRPr sz="3900" b="1">
                <a:solidFill>
                  <a:srgbClr val="15803D"/>
                </a:solidFill>
                <a:latin typeface="Arial"/>
                <a:ea typeface="Arial"/>
                <a:cs typeface="Arial"/>
              </a:defRPr>
            </a:defPPr>
            <a:lvl1pPr>
              <a:defRPr sz="3900" b="1">
                <a:solidFill>
                  <a:srgbClr val="15803D"/>
                </a:solidFill>
                <a:latin typeface="Arial"/>
                <a:ea typeface="Arial"/>
                <a:cs typeface="Arial"/>
              </a:defRPr>
            </a:lvl1pPr>
            <a:lvl2pPr>
              <a:defRPr sz="3900" b="1">
                <a:solidFill>
                  <a:srgbClr val="15803D"/>
                </a:solidFill>
                <a:latin typeface="Arial"/>
                <a:ea typeface="Arial"/>
                <a:cs typeface="Arial"/>
              </a:defRPr>
            </a:lvl2pPr>
            <a:lvl3pPr>
              <a:defRPr sz="3900" b="1">
                <a:solidFill>
                  <a:srgbClr val="15803D"/>
                </a:solidFill>
                <a:latin typeface="Arial"/>
                <a:ea typeface="Arial"/>
                <a:cs typeface="Arial"/>
              </a:defRPr>
            </a:lvl3pPr>
            <a:lvl4pPr>
              <a:defRPr sz="3900" b="1">
                <a:solidFill>
                  <a:srgbClr val="15803D"/>
                </a:solidFill>
                <a:latin typeface="Arial"/>
                <a:ea typeface="Arial"/>
                <a:cs typeface="Arial"/>
              </a:defRPr>
            </a:lvl4pPr>
            <a:lvl5pPr>
              <a:defRPr sz="3900" b="1">
                <a:solidFill>
                  <a:srgbClr val="15803D"/>
                </a:solidFill>
                <a:latin typeface="Arial"/>
                <a:ea typeface="Arial"/>
                <a:cs typeface="Arial"/>
              </a:defRPr>
            </a:lvl5pPr>
            <a:lvl6pPr>
              <a:defRPr sz="3900" b="1">
                <a:solidFill>
                  <a:srgbClr val="15803D"/>
                </a:solidFill>
                <a:latin typeface="Arial"/>
                <a:ea typeface="Arial"/>
                <a:cs typeface="Arial"/>
              </a:defRPr>
            </a:lvl6pPr>
            <a:lvl7pPr>
              <a:defRPr sz="3900" b="1">
                <a:solidFill>
                  <a:srgbClr val="15803D"/>
                </a:solidFill>
                <a:latin typeface="Arial"/>
                <a:ea typeface="Arial"/>
                <a:cs typeface="Arial"/>
              </a:defRPr>
            </a:lvl7pPr>
            <a:lvl8pPr>
              <a:defRPr sz="3900" b="1">
                <a:solidFill>
                  <a:srgbClr val="15803D"/>
                </a:solidFill>
                <a:latin typeface="Arial"/>
                <a:ea typeface="Arial"/>
                <a:cs typeface="Arial"/>
              </a:defRPr>
            </a:lvl8pPr>
            <a:lvl9pPr>
              <a:defRPr sz="3900" b="1">
                <a:solidFill>
                  <a:srgbClr val="15803D"/>
                </a:solidFill>
                <a:latin typeface="Arial"/>
                <a:ea typeface="Arial"/>
                <a:cs typeface="Arial"/>
              </a:defRPr>
            </a:lvl9pPr>
          </a:lstStyle>
          <a:p>
            <a:pPr>
              <a:defRPr sz="3900" b="1">
                <a:solidFill>
                  <a:srgbClr val="15803D"/>
                </a:solidFill>
                <a:latin typeface="Arial"/>
                <a:ea typeface="Arial"/>
                <a:cs typeface="Arial"/>
              </a:defRPr>
            </a:pPr>
            <a:r>
              <a:rPr sz="3900" b="1">
                <a:solidFill>
                  <a:srgbClr val="15803D"/>
                </a:solidFill>
                <a:latin typeface="Arial"/>
                <a:ea typeface="Arial"/>
                <a:cs typeface="Arial"/>
              </a:rPr>
              <a:t>2.96%</a:t>
            </a:r>
          </a:p>
        </p:txBody>
      </p:sp>
      <p:sp>
        <p:nvSpPr>
          <p:cNvPr id="5" name="Rectangle 4">
            <a:extLst>
              <a:ext uri="{FF2B5EF4-FFF2-40B4-BE49-F238E27FC236}">
                <a16:creationId xmlns:a16="http://schemas.microsoft.com/office/drawing/2014/main" id="{6AB566C8-CBEE-4E51-B34D-EB453A01DF51}"/>
              </a:ext>
            </a:extLst>
          </p:cNvPr>
          <p:cNvSpPr>
            <a:spLocks noGrp="1"/>
          </p:cNvSpPr>
          <p:nvPr/>
        </p:nvSpPr>
        <p:spPr>
          <a:xfrm>
            <a:off x="8858250" y="2314575"/>
            <a:ext cx="2571750" cy="838200"/>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of passing visits must buy one item</a:t>
            </a:r>
          </a:p>
        </p:txBody>
      </p:sp>
      <p:sp>
        <p:nvSpPr>
          <p:cNvPr id="6" name="Rectangle 5">
            <a:extLst>
              <a:ext uri="{FF2B5EF4-FFF2-40B4-BE49-F238E27FC236}">
                <a16:creationId xmlns:a16="http://schemas.microsoft.com/office/drawing/2014/main" id="{B246895A-4CA8-4CCF-B658-DB7B252F7C44}"/>
              </a:ext>
            </a:extLst>
          </p:cNvPr>
          <p:cNvSpPr>
            <a:spLocks noGrp="1"/>
          </p:cNvSpPr>
          <p:nvPr/>
        </p:nvSpPr>
        <p:spPr>
          <a:xfrm>
            <a:off x="8858250" y="3476625"/>
            <a:ext cx="2571750" cy="571500"/>
          </a:xfrm>
          <a:prstGeom prst="rect">
            <a:avLst/>
          </a:prstGeom>
          <a:noFill/>
          <a:ln w="0">
            <a:noFill/>
          </a:ln>
        </p:spPr>
        <p:txBody>
          <a:bodyPr wrap="square" lIns="0" tIns="0" rIns="0" bIns="0" anchor="t">
            <a:noAutofit/>
          </a:bodyPr>
          <a:lstStyle>
            <a:defPPr>
              <a:defRPr sz="3450" b="1">
                <a:solidFill>
                  <a:srgbClr val="B45309"/>
                </a:solidFill>
                <a:latin typeface="Arial"/>
                <a:ea typeface="Arial"/>
                <a:cs typeface="Arial"/>
              </a:defRPr>
            </a:defPPr>
            <a:lvl1pPr>
              <a:defRPr sz="3450" b="1">
                <a:solidFill>
                  <a:srgbClr val="B45309"/>
                </a:solidFill>
                <a:latin typeface="Arial"/>
                <a:ea typeface="Arial"/>
                <a:cs typeface="Arial"/>
              </a:defRPr>
            </a:lvl1pPr>
            <a:lvl2pPr>
              <a:defRPr sz="3450" b="1">
                <a:solidFill>
                  <a:srgbClr val="B45309"/>
                </a:solidFill>
                <a:latin typeface="Arial"/>
                <a:ea typeface="Arial"/>
                <a:cs typeface="Arial"/>
              </a:defRPr>
            </a:lvl2pPr>
            <a:lvl3pPr>
              <a:defRPr sz="3450" b="1">
                <a:solidFill>
                  <a:srgbClr val="B45309"/>
                </a:solidFill>
                <a:latin typeface="Arial"/>
                <a:ea typeface="Arial"/>
                <a:cs typeface="Arial"/>
              </a:defRPr>
            </a:lvl3pPr>
            <a:lvl4pPr>
              <a:defRPr sz="3450" b="1">
                <a:solidFill>
                  <a:srgbClr val="B45309"/>
                </a:solidFill>
                <a:latin typeface="Arial"/>
                <a:ea typeface="Arial"/>
                <a:cs typeface="Arial"/>
              </a:defRPr>
            </a:lvl4pPr>
            <a:lvl5pPr>
              <a:defRPr sz="3450" b="1">
                <a:solidFill>
                  <a:srgbClr val="B45309"/>
                </a:solidFill>
                <a:latin typeface="Arial"/>
                <a:ea typeface="Arial"/>
                <a:cs typeface="Arial"/>
              </a:defRPr>
            </a:lvl5pPr>
            <a:lvl6pPr>
              <a:defRPr sz="3450" b="1">
                <a:solidFill>
                  <a:srgbClr val="B45309"/>
                </a:solidFill>
                <a:latin typeface="Arial"/>
                <a:ea typeface="Arial"/>
                <a:cs typeface="Arial"/>
              </a:defRPr>
            </a:lvl6pPr>
            <a:lvl7pPr>
              <a:defRPr sz="3450" b="1">
                <a:solidFill>
                  <a:srgbClr val="B45309"/>
                </a:solidFill>
                <a:latin typeface="Arial"/>
                <a:ea typeface="Arial"/>
                <a:cs typeface="Arial"/>
              </a:defRPr>
            </a:lvl7pPr>
            <a:lvl8pPr>
              <a:defRPr sz="3450" b="1">
                <a:solidFill>
                  <a:srgbClr val="B45309"/>
                </a:solidFill>
                <a:latin typeface="Arial"/>
                <a:ea typeface="Arial"/>
                <a:cs typeface="Arial"/>
              </a:defRPr>
            </a:lvl8pPr>
            <a:lvl9pPr>
              <a:defRPr sz="3450" b="1">
                <a:solidFill>
                  <a:srgbClr val="B45309"/>
                </a:solidFill>
                <a:latin typeface="Arial"/>
                <a:ea typeface="Arial"/>
                <a:cs typeface="Arial"/>
              </a:defRPr>
            </a:lvl9pPr>
          </a:lstStyle>
          <a:p>
            <a:pPr>
              <a:defRPr sz="3450" b="1">
                <a:solidFill>
                  <a:srgbClr val="B45309"/>
                </a:solidFill>
                <a:latin typeface="Arial"/>
                <a:ea typeface="Arial"/>
                <a:cs typeface="Arial"/>
              </a:defRPr>
            </a:pPr>
            <a:r>
              <a:rPr sz="3450" b="1">
                <a:solidFill>
                  <a:srgbClr val="B45309"/>
                </a:solidFill>
                <a:latin typeface="Arial"/>
                <a:ea typeface="Arial"/>
                <a:cs typeface="Arial"/>
              </a:rPr>
              <a:t>$10.96</a:t>
            </a:r>
          </a:p>
        </p:txBody>
      </p:sp>
      <p:sp>
        <p:nvSpPr>
          <p:cNvPr id="7" name="Rectangle 6">
            <a:extLst>
              <a:ext uri="{FF2B5EF4-FFF2-40B4-BE49-F238E27FC236}">
                <a16:creationId xmlns:a16="http://schemas.microsoft.com/office/drawing/2014/main" id="{74274E3C-B3B1-4EBC-AF8A-75200A49D2A8}"/>
              </a:ext>
            </a:extLst>
          </p:cNvPr>
          <p:cNvSpPr>
            <a:spLocks noGrp="1"/>
          </p:cNvSpPr>
          <p:nvPr/>
        </p:nvSpPr>
        <p:spPr>
          <a:xfrm>
            <a:off x="8858250" y="4105275"/>
            <a:ext cx="2571750" cy="933450"/>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project surplus at the minimum sales target</a:t>
            </a:r>
          </a:p>
        </p:txBody>
      </p:sp>
      <p:sp>
        <p:nvSpPr>
          <p:cNvPr id="8" name="Rectangle 7">
            <a:extLst>
              <a:ext uri="{FF2B5EF4-FFF2-40B4-BE49-F238E27FC236}">
                <a16:creationId xmlns:a16="http://schemas.microsoft.com/office/drawing/2014/main" id="{C590DA3C-2AF4-4255-93FE-7F8FC6F6ED34}"/>
              </a:ext>
            </a:extLst>
          </p:cNvPr>
          <p:cNvSpPr>
            <a:spLocks noGrp="1"/>
          </p:cNvSpPr>
          <p:nvPr/>
        </p:nvSpPr>
        <p:spPr>
          <a:xfrm>
            <a:off x="685800" y="5676900"/>
            <a:ext cx="10715625" cy="552450"/>
          </a:xfrm>
          <a:prstGeom prst="rect">
            <a:avLst/>
          </a:prstGeom>
          <a:noFill/>
          <a:ln w="0">
            <a:noFill/>
          </a:ln>
        </p:spPr>
        <p:txBody>
          <a:bodyPr wrap="square" lIns="0" tIns="0" rIns="0" bIns="0" anchor="t">
            <a:noAutofit/>
          </a:bodyPr>
          <a:lstStyle>
            <a:defPPr>
              <a:defRPr sz="1875" b="0">
                <a:solidFill>
                  <a:srgbClr val="16324F"/>
                </a:solidFill>
                <a:latin typeface="Arial"/>
                <a:ea typeface="Arial"/>
                <a:cs typeface="Arial"/>
              </a:defRPr>
            </a:defPPr>
            <a:lvl1pPr>
              <a:defRPr sz="1875" b="0">
                <a:solidFill>
                  <a:srgbClr val="16324F"/>
                </a:solidFill>
                <a:latin typeface="Arial"/>
                <a:ea typeface="Arial"/>
                <a:cs typeface="Arial"/>
              </a:defRPr>
            </a:lvl1pPr>
            <a:lvl2pPr>
              <a:defRPr sz="1875" b="0">
                <a:solidFill>
                  <a:srgbClr val="16324F"/>
                </a:solidFill>
                <a:latin typeface="Arial"/>
                <a:ea typeface="Arial"/>
                <a:cs typeface="Arial"/>
              </a:defRPr>
            </a:lvl2pPr>
            <a:lvl3pPr>
              <a:defRPr sz="1875" b="0">
                <a:solidFill>
                  <a:srgbClr val="16324F"/>
                </a:solidFill>
                <a:latin typeface="Arial"/>
                <a:ea typeface="Arial"/>
                <a:cs typeface="Arial"/>
              </a:defRPr>
            </a:lvl3pPr>
            <a:lvl4pPr>
              <a:defRPr sz="1875" b="0">
                <a:solidFill>
                  <a:srgbClr val="16324F"/>
                </a:solidFill>
                <a:latin typeface="Arial"/>
                <a:ea typeface="Arial"/>
                <a:cs typeface="Arial"/>
              </a:defRPr>
            </a:lvl4pPr>
            <a:lvl5pPr>
              <a:defRPr sz="1875" b="0">
                <a:solidFill>
                  <a:srgbClr val="16324F"/>
                </a:solidFill>
                <a:latin typeface="Arial"/>
                <a:ea typeface="Arial"/>
                <a:cs typeface="Arial"/>
              </a:defRPr>
            </a:lvl5pPr>
            <a:lvl6pPr>
              <a:defRPr sz="1875" b="0">
                <a:solidFill>
                  <a:srgbClr val="16324F"/>
                </a:solidFill>
                <a:latin typeface="Arial"/>
                <a:ea typeface="Arial"/>
                <a:cs typeface="Arial"/>
              </a:defRPr>
            </a:lvl6pPr>
            <a:lvl7pPr>
              <a:defRPr sz="1875" b="0">
                <a:solidFill>
                  <a:srgbClr val="16324F"/>
                </a:solidFill>
                <a:latin typeface="Arial"/>
                <a:ea typeface="Arial"/>
                <a:cs typeface="Arial"/>
              </a:defRPr>
            </a:lvl7pPr>
            <a:lvl8pPr>
              <a:defRPr sz="1875" b="0">
                <a:solidFill>
                  <a:srgbClr val="16324F"/>
                </a:solidFill>
                <a:latin typeface="Arial"/>
                <a:ea typeface="Arial"/>
                <a:cs typeface="Arial"/>
              </a:defRPr>
            </a:lvl8pPr>
            <a:lvl9pPr>
              <a:defRPr sz="1875" b="0">
                <a:solidFill>
                  <a:srgbClr val="16324F"/>
                </a:solidFill>
                <a:latin typeface="Arial"/>
                <a:ea typeface="Arial"/>
                <a:cs typeface="Arial"/>
              </a:defRPr>
            </a:lvl9pPr>
          </a:lstStyle>
          <a:p>
            <a:pPr>
              <a:defRPr sz="1875" b="0">
                <a:solidFill>
                  <a:srgbClr val="16324F"/>
                </a:solidFill>
                <a:latin typeface="Arial"/>
                <a:ea typeface="Arial"/>
                <a:cs typeface="Arial"/>
              </a:defRPr>
            </a:pPr>
            <a:r>
              <a:rPr sz="1875" b="0">
                <a:solidFill>
                  <a:srgbClr val="16324F"/>
                </a:solidFill>
                <a:latin typeface="Arial"/>
                <a:ea typeface="Arial"/>
                <a:cs typeface="Arial"/>
              </a:rPr>
              <a:t>About 21 items/day on average. The target includes August’s 30% traffic decline.</a:t>
            </a:r>
          </a:p>
        </p:txBody>
      </p:sp>
    </p:spTree>
    <p:extLst>
      <p:ext uri="{BB962C8B-B14F-4D97-AF65-F5344CB8AC3E}">
        <p14:creationId xmlns:p14="http://schemas.microsoft.com/office/powerpoint/2010/main" val="188843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5C7A55-7DDE-4905-AFC9-298ECFB2E357}"/>
              </a:ext>
            </a:extLst>
          </p:cNvPr>
          <p:cNvSpPr>
            <a:spLocks noGrp="1"/>
          </p:cNvSpPr>
          <p:nvPr/>
        </p:nvSpPr>
        <p:spPr>
          <a:xfrm>
            <a:off x="685800" y="457200"/>
            <a:ext cx="10820400" cy="876300"/>
          </a:xfrm>
          <a:prstGeom prst="rect">
            <a:avLst/>
          </a:prstGeom>
          <a:noFill/>
          <a:ln w="0">
            <a:noFill/>
          </a:ln>
        </p:spPr>
        <p:txBody>
          <a:bodyPr wrap="square" lIns="0" tIns="0" rIns="0" bIns="0" anchor="t">
            <a:noAutofit/>
          </a:bodyPr>
          <a:lstStyle>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a:pPr>
              <a:defRPr sz="3150" b="1">
                <a:solidFill>
                  <a:srgbClr val="16324F"/>
                </a:solidFill>
                <a:latin typeface="Arial"/>
                <a:ea typeface="Arial"/>
                <a:cs typeface="Arial"/>
              </a:defRPr>
            </a:pPr>
            <a:r>
              <a:rPr sz="3150" b="1">
                <a:solidFill>
                  <a:srgbClr val="16324F"/>
                </a:solidFill>
                <a:latin typeface="Arial"/>
                <a:ea typeface="Arial"/>
                <a:cs typeface="Arial"/>
              </a:rPr>
              <a:t>Operating risks and responses</a:t>
            </a:r>
          </a:p>
        </p:txBody>
      </p:sp>
      <p:sp>
        <p:nvSpPr>
          <p:cNvPr id="2" name="Rectangle 1">
            <a:extLst>
              <a:ext uri="{FF2B5EF4-FFF2-40B4-BE49-F238E27FC236}">
                <a16:creationId xmlns:a16="http://schemas.microsoft.com/office/drawing/2014/main" id="{DCD63B3C-778E-465C-A430-A990DEB48872}"/>
              </a:ext>
            </a:extLst>
          </p:cNvPr>
          <p:cNvSpPr>
            <a:spLocks noGrp="1"/>
          </p:cNvSpPr>
          <p:nvPr/>
        </p:nvSpPr>
        <p:spPr>
          <a:xfrm>
            <a:off x="11144250" y="6381750"/>
            <a:ext cx="381000" cy="228600"/>
          </a:xfrm>
          <a:prstGeom prst="rect">
            <a:avLst/>
          </a:prstGeom>
          <a:noFill/>
          <a:ln w="0">
            <a:noFill/>
          </a:ln>
        </p:spPr>
        <p:txBody>
          <a:bodyPr wrap="square" lIns="0" tIns="0" rIns="0" bIns="0" anchor="t">
            <a:noAutofit/>
          </a:bodyPr>
          <a:lstStyle>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a:pPr>
              <a:defRPr sz="1200" b="0">
                <a:solidFill>
                  <a:srgbClr val="526477"/>
                </a:solidFill>
                <a:latin typeface="Arial"/>
                <a:ea typeface="Arial"/>
                <a:cs typeface="Arial"/>
              </a:defRPr>
            </a:pPr>
            <a:r>
              <a:rPr sz="1200" b="0">
                <a:solidFill>
                  <a:srgbClr val="526477"/>
                </a:solidFill>
                <a:latin typeface="Arial"/>
                <a:ea typeface="Arial"/>
                <a:cs typeface="Arial"/>
              </a:rPr>
              <a:t>5</a:t>
            </a:r>
          </a:p>
        </p:txBody>
      </p:sp>
      <p:graphicFrame>
        <p:nvGraphicFramePr>
          <p:cNvPr id="3" name="Table 2">
            <a:extLst>
              <a:ext uri="{FF2B5EF4-FFF2-40B4-BE49-F238E27FC236}">
                <a16:creationId xmlns:a16="http://schemas.microsoft.com/office/drawing/2014/main" id="{6407FDBB-9865-462D-9A05-33F23ABEB1E2}"/>
              </a:ext>
            </a:extLst>
          </p:cNvPr>
          <p:cNvGraphicFramePr/>
          <p:nvPr/>
        </p:nvGraphicFramePr>
        <p:xfrm>
          <a:off x="685800" y="1638300"/>
          <a:ext cx="10820400" cy="3600450"/>
        </p:xfrm>
        <a:graphic>
          <a:graphicData uri="http://schemas.openxmlformats.org/drawingml/2006/table">
            <a:tbl>
              <a:tblPr/>
              <a:tblGrid>
                <a:gridCol w="257175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tblGrid>
              <a:tr h="900113">
                <a:tc>
                  <a:txBody>
                    <a:bodyPr/>
                    <a:lstStyle/>
                    <a:p>
                      <a:r>
                        <a:rPr sz="1725" b="1">
                          <a:solidFill>
                            <a:srgbClr val="FFFFFF"/>
                          </a:solidFill>
                          <a:latin typeface="Arial"/>
                          <a:ea typeface="Arial"/>
                          <a:cs typeface="Arial"/>
                        </a:rPr>
                        <a:t>Risk</a:t>
                      </a:r>
                    </a:p>
                  </a:txBody>
                  <a:tcPr marL="114300" marR="114300" marT="95250" marB="95250">
                    <a:lnL w="5715">
                      <a:solidFill>
                        <a:srgbClr val="D7E0E8"/>
                      </a:solidFill>
                      <a:prstDash val="soli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Response</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Owner</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extLst>
                  <a:ext uri="{0D108BD9-81ED-4DB2-BD59-A6C34878D82A}">
                    <a16:rowId xmlns:a16="http://schemas.microsoft.com/office/drawing/2014/main" val="10000"/>
                  </a:ext>
                </a:extLst>
              </a:tr>
              <a:tr h="900113">
                <a:tc>
                  <a:txBody>
                    <a:bodyPr/>
                    <a:lstStyle/>
                    <a:p>
                      <a:r>
                        <a:rPr sz="1725">
                          <a:solidFill>
                            <a:srgbClr val="16324F"/>
                          </a:solidFill>
                          <a:latin typeface="Arial"/>
                          <a:ea typeface="Arial"/>
                          <a:cs typeface="Arial"/>
                        </a:rPr>
                        <a:t>Cash runs short</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Review sales and upcoming rent weekly. Keep one staffed position with agency relief.</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Finance + Risk</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1"/>
                  </a:ext>
                </a:extLst>
              </a:tr>
              <a:tr h="900113">
                <a:tc>
                  <a:txBody>
                    <a:bodyPr/>
                    <a:lstStyle/>
                    <a:p>
                      <a:r>
                        <a:rPr sz="1725">
                          <a:solidFill>
                            <a:srgbClr val="16324F"/>
                          </a:solidFill>
                          <a:latin typeface="Arial"/>
                          <a:ea typeface="Arial"/>
                          <a:cs typeface="Arial"/>
                        </a:rPr>
                        <a:t>August visits fall 30%</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Prioritize June/July acquisition. Recheck forecast before the anchor closes July 31.</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Marketing</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2"/>
                  </a:ext>
                </a:extLst>
              </a:tr>
              <a:tr h="900113">
                <a:tc>
                  <a:txBody>
                    <a:bodyPr/>
                    <a:lstStyle/>
                    <a:p>
                      <a:r>
                        <a:rPr sz="1725">
                          <a:solidFill>
                            <a:srgbClr val="16324F"/>
                          </a:solidFill>
                          <a:latin typeface="Arial"/>
                          <a:ea typeface="Arial"/>
                          <a:cs typeface="Arial"/>
                        </a:rPr>
                        <a:t>Unpopular phone models tie up stock</a:t>
                      </a:r>
                    </a:p>
                  </a:txBody>
                  <a:tcPr marL="114300" marR="114300" marT="95250" marB="95250">
                    <a:lnL w="5715">
                      <a:solidFill>
                        <a:srgbClr val="D7E0E8"/>
                      </a:solidFill>
                      <a:prstDash val="soli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Start with 300 items. Record requests and reorder proven sellers weekly.</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Risk + Customer</a:t>
                      </a:r>
                    </a:p>
                  </a:txBody>
                  <a:tcPr marL="114300" marR="114300" marT="95250" marB="95250">
                    <a:lnL w="5715" cap="flat" cmpd="sng" algn="ctr">
                      <a:solidFill>
                        <a:srgbClr val="D7E0E8"/>
                      </a:solidFill>
                      <a:prstDash val="solid"/>
                      <a:round/>
                      <a:headEnd type="none" w="med" len="med"/>
                      <a:tailEnd type="none" w="med" len="med"/>
                    </a:lnL>
                    <a:lnR w="5715">
                      <a:solidFill>
                        <a:srgbClr val="D7E0E8"/>
                      </a:solidFill>
                      <a:prstDash val="solid"/>
                    </a:lnR>
                    <a:lnT w="5715" cap="flat" cmpd="sng" algn="ctr">
                      <a:solidFill>
                        <a:srgbClr val="D7E0E8"/>
                      </a:solidFill>
                      <a:prstDash val="solid"/>
                      <a:round/>
                      <a:headEnd type="none" w="med" len="med"/>
                      <a:tailEnd type="none" w="med" len="med"/>
                    </a:lnT>
                    <a:lnB w="5715">
                      <a:solidFill>
                        <a:srgbClr val="D7E0E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B2962F77-26A7-4FBF-9991-4E910C8A49BF}"/>
              </a:ext>
            </a:extLst>
          </p:cNvPr>
          <p:cNvSpPr>
            <a:spLocks noGrp="1"/>
          </p:cNvSpPr>
          <p:nvPr/>
        </p:nvSpPr>
        <p:spPr>
          <a:xfrm>
            <a:off x="685800" y="5638800"/>
            <a:ext cx="10763250" cy="552450"/>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Trading hours stay 10 AM–9 PM daily. Signs stay inside Unit 42 and need two business days for approval.</a:t>
            </a:r>
          </a:p>
        </p:txBody>
      </p:sp>
    </p:spTree>
    <p:extLst>
      <p:ext uri="{BB962C8B-B14F-4D97-AF65-F5344CB8AC3E}">
        <p14:creationId xmlns:p14="http://schemas.microsoft.com/office/powerpoint/2010/main" val="962746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C1AB3B-BFAB-498B-AF38-36A1A2161EFB}"/>
              </a:ext>
            </a:extLst>
          </p:cNvPr>
          <p:cNvSpPr>
            <a:spLocks noGrp="1"/>
          </p:cNvSpPr>
          <p:nvPr/>
        </p:nvSpPr>
        <p:spPr>
          <a:xfrm>
            <a:off x="685800" y="457200"/>
            <a:ext cx="10820400" cy="876300"/>
          </a:xfrm>
          <a:prstGeom prst="rect">
            <a:avLst/>
          </a:prstGeom>
          <a:noFill/>
          <a:ln w="0">
            <a:noFill/>
          </a:ln>
        </p:spPr>
        <p:txBody>
          <a:bodyPr wrap="square" lIns="0" tIns="0" rIns="0" bIns="0" anchor="t">
            <a:noAutofit/>
          </a:bodyPr>
          <a:lstStyle>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a:pPr>
              <a:defRPr sz="3150" b="1">
                <a:solidFill>
                  <a:srgbClr val="16324F"/>
                </a:solidFill>
                <a:latin typeface="Arial"/>
                <a:ea typeface="Arial"/>
                <a:cs typeface="Arial"/>
              </a:defRPr>
            </a:pPr>
            <a:r>
              <a:rPr sz="3150" b="1">
                <a:solidFill>
                  <a:srgbClr val="16324F"/>
                </a:solidFill>
                <a:latin typeface="Arial"/>
                <a:ea typeface="Arial"/>
                <a:cs typeface="Arial"/>
              </a:rPr>
              <a:t>June customer plan: 685 sales</a:t>
            </a:r>
          </a:p>
        </p:txBody>
      </p:sp>
      <p:sp>
        <p:nvSpPr>
          <p:cNvPr id="2" name="Rectangle 1">
            <a:extLst>
              <a:ext uri="{FF2B5EF4-FFF2-40B4-BE49-F238E27FC236}">
                <a16:creationId xmlns:a16="http://schemas.microsoft.com/office/drawing/2014/main" id="{BCCE06FE-034A-4916-B1FF-9795AE000DEE}"/>
              </a:ext>
            </a:extLst>
          </p:cNvPr>
          <p:cNvSpPr>
            <a:spLocks noGrp="1"/>
          </p:cNvSpPr>
          <p:nvPr/>
        </p:nvSpPr>
        <p:spPr>
          <a:xfrm>
            <a:off x="11144250" y="6381750"/>
            <a:ext cx="381000" cy="228600"/>
          </a:xfrm>
          <a:prstGeom prst="rect">
            <a:avLst/>
          </a:prstGeom>
          <a:noFill/>
          <a:ln w="0">
            <a:noFill/>
          </a:ln>
        </p:spPr>
        <p:txBody>
          <a:bodyPr wrap="square" lIns="0" tIns="0" rIns="0" bIns="0" anchor="t">
            <a:noAutofit/>
          </a:bodyPr>
          <a:lstStyle>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a:pPr>
              <a:defRPr sz="1200" b="0">
                <a:solidFill>
                  <a:srgbClr val="526477"/>
                </a:solidFill>
                <a:latin typeface="Arial"/>
                <a:ea typeface="Arial"/>
                <a:cs typeface="Arial"/>
              </a:defRPr>
            </a:pPr>
            <a:r>
              <a:rPr sz="1200" b="0">
                <a:solidFill>
                  <a:srgbClr val="526477"/>
                </a:solidFill>
                <a:latin typeface="Arial"/>
                <a:ea typeface="Arial"/>
                <a:cs typeface="Arial"/>
              </a:rPr>
              <a:t>6</a:t>
            </a:r>
          </a:p>
        </p:txBody>
      </p:sp>
      <p:graphicFrame>
        <p:nvGraphicFramePr>
          <p:cNvPr id="3" name="Chart">
            <a:extLst>
              <a:ext uri="{FF2B5EF4-FFF2-40B4-BE49-F238E27FC236}">
                <a16:creationId xmlns:a16="http://schemas.microsoft.com/office/drawing/2014/main" id="{597C16D6-033D-4501-9841-FAD627447366}"/>
              </a:ext>
            </a:extLst>
          </p:cNvPr>
          <p:cNvGraphicFramePr/>
          <p:nvPr/>
        </p:nvGraphicFramePr>
        <p:xfrm>
          <a:off x="685800" y="1581150"/>
          <a:ext cx="61912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8A6DFDF1-6523-4472-BE29-560739FF5ACA}"/>
              </a:ext>
            </a:extLst>
          </p:cNvPr>
          <p:cNvSpPr>
            <a:spLocks noGrp="1"/>
          </p:cNvSpPr>
          <p:nvPr/>
        </p:nvSpPr>
        <p:spPr>
          <a:xfrm>
            <a:off x="7334250" y="1638300"/>
            <a:ext cx="4048125" cy="428625"/>
          </a:xfrm>
          <a:prstGeom prst="rect">
            <a:avLst/>
          </a:prstGeom>
          <a:noFill/>
          <a:ln w="0">
            <a:noFill/>
          </a:ln>
        </p:spPr>
        <p:txBody>
          <a:bodyPr wrap="square" lIns="0" tIns="0" rIns="0" bIns="0" anchor="t">
            <a:noAutofit/>
          </a:bodyPr>
          <a:lstStyle>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a:pPr>
              <a:defRPr sz="2100" b="1">
                <a:solidFill>
                  <a:srgbClr val="16324F"/>
                </a:solidFill>
                <a:latin typeface="Arial"/>
                <a:ea typeface="Arial"/>
                <a:cs typeface="Arial"/>
              </a:defRPr>
            </a:pPr>
            <a:r>
              <a:rPr sz="2100" b="1">
                <a:solidFill>
                  <a:srgbClr val="16324F"/>
                </a:solidFill>
                <a:latin typeface="Arial"/>
                <a:ea typeface="Arial"/>
                <a:cs typeface="Arial"/>
              </a:rPr>
              <a:t>Audience and offer</a:t>
            </a:r>
          </a:p>
        </p:txBody>
      </p:sp>
      <p:sp>
        <p:nvSpPr>
          <p:cNvPr id="5" name="Rectangle 4">
            <a:extLst>
              <a:ext uri="{FF2B5EF4-FFF2-40B4-BE49-F238E27FC236}">
                <a16:creationId xmlns:a16="http://schemas.microsoft.com/office/drawing/2014/main" id="{1CD0FE5F-AD76-4AF1-BE58-DE93B904E7C2}"/>
              </a:ext>
            </a:extLst>
          </p:cNvPr>
          <p:cNvSpPr>
            <a:spLocks noGrp="1"/>
          </p:cNvSpPr>
          <p:nvPr/>
        </p:nvSpPr>
        <p:spPr>
          <a:xfrm>
            <a:off x="7334250" y="2190750"/>
            <a:ext cx="4048125" cy="1381125"/>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Phone owners needing cases, cables or grips. Test students as an audience. Display the $18 price and phone compatibility clearly.</a:t>
            </a:r>
          </a:p>
        </p:txBody>
      </p:sp>
      <p:sp>
        <p:nvSpPr>
          <p:cNvPr id="6" name="Rectangle 5">
            <a:extLst>
              <a:ext uri="{FF2B5EF4-FFF2-40B4-BE49-F238E27FC236}">
                <a16:creationId xmlns:a16="http://schemas.microsoft.com/office/drawing/2014/main" id="{9ECD7E4A-E03C-4339-A7CF-5BC6CF79FA1C}"/>
              </a:ext>
            </a:extLst>
          </p:cNvPr>
          <p:cNvSpPr>
            <a:spLocks noGrp="1"/>
          </p:cNvSpPr>
          <p:nvPr/>
        </p:nvSpPr>
        <p:spPr>
          <a:xfrm>
            <a:off x="7334250" y="3971925"/>
            <a:ext cx="4048125" cy="428625"/>
          </a:xfrm>
          <a:prstGeom prst="rect">
            <a:avLst/>
          </a:prstGeom>
          <a:noFill/>
          <a:ln w="0">
            <a:noFill/>
          </a:ln>
        </p:spPr>
        <p:txBody>
          <a:bodyPr wrap="square" lIns="0" tIns="0" rIns="0" bIns="0" anchor="t">
            <a:noAutofit/>
          </a:bodyPr>
          <a:lstStyle>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a:pPr>
              <a:defRPr sz="2100" b="1">
                <a:solidFill>
                  <a:srgbClr val="16324F"/>
                </a:solidFill>
                <a:latin typeface="Arial"/>
                <a:ea typeface="Arial"/>
                <a:cs typeface="Arial"/>
              </a:defRPr>
            </a:pPr>
            <a:r>
              <a:rPr sz="2100" b="1">
                <a:solidFill>
                  <a:srgbClr val="16324F"/>
                </a:solidFill>
                <a:latin typeface="Arial"/>
                <a:ea typeface="Arial"/>
                <a:cs typeface="Arial"/>
              </a:rPr>
              <a:t>Timing and coverage</a:t>
            </a:r>
          </a:p>
        </p:txBody>
      </p:sp>
      <p:sp>
        <p:nvSpPr>
          <p:cNvPr id="7" name="Rectangle 6">
            <a:extLst>
              <a:ext uri="{FF2B5EF4-FFF2-40B4-BE49-F238E27FC236}">
                <a16:creationId xmlns:a16="http://schemas.microsoft.com/office/drawing/2014/main" id="{F6E9C6DF-9D5C-47EF-B6FE-8DB9FF6FD0F8}"/>
              </a:ext>
            </a:extLst>
          </p:cNvPr>
          <p:cNvSpPr>
            <a:spLocks noGrp="1"/>
          </p:cNvSpPr>
          <p:nvPr/>
        </p:nvSpPr>
        <p:spPr>
          <a:xfrm>
            <a:off x="7334250" y="4524375"/>
            <a:ext cx="4048125" cy="1285875"/>
          </a:xfrm>
          <a:prstGeom prst="rect">
            <a:avLst/>
          </a:prstGeom>
          <a:noFill/>
          <a:ln w="0">
            <a:noFill/>
          </a:ln>
        </p:spPr>
        <p:txBody>
          <a:bodyPr wrap="square" lIns="0" tIns="0" rIns="0" bIns="0" anchor="t">
            <a:noAutofit/>
          </a:bodyPr>
          <a:lstStyle>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a:pPr>
              <a:defRPr sz="1875" b="0">
                <a:solidFill>
                  <a:srgbClr val="526477"/>
                </a:solidFill>
                <a:latin typeface="Arial"/>
                <a:ea typeface="Arial"/>
                <a:cs typeface="Arial"/>
              </a:defRPr>
            </a:pPr>
            <a:r>
              <a:rPr sz="1875" b="0">
                <a:solidFill>
                  <a:srgbClr val="526477"/>
                </a:solidFill>
                <a:latin typeface="Arial"/>
                <a:ea typeface="Arial"/>
                <a:cs typeface="Arial"/>
              </a:rPr>
              <a:t>Focus promotion on weekend afternoons and weekday evenings. Staff every opening hour.</a:t>
            </a:r>
          </a:p>
        </p:txBody>
      </p:sp>
      <p:sp>
        <p:nvSpPr>
          <p:cNvPr id="8" name="Rectangle 7">
            <a:extLst>
              <a:ext uri="{FF2B5EF4-FFF2-40B4-BE49-F238E27FC236}">
                <a16:creationId xmlns:a16="http://schemas.microsoft.com/office/drawing/2014/main" id="{099BB0CB-BDD9-48B9-BCB4-18D104C8F9F5}"/>
              </a:ext>
            </a:extLst>
          </p:cNvPr>
          <p:cNvSpPr>
            <a:spLocks noGrp="1"/>
          </p:cNvSpPr>
          <p:nvPr/>
        </p:nvSpPr>
        <p:spPr>
          <a:xfrm>
            <a:off x="685800" y="5553075"/>
            <a:ext cx="6191250" cy="723900"/>
          </a:xfrm>
          <a:prstGeom prst="rect">
            <a:avLst/>
          </a:prstGeom>
          <a:noFill/>
          <a:ln w="0">
            <a:noFill/>
          </a:ln>
        </p:spPr>
        <p:txBody>
          <a:bodyPr wrap="square" lIns="0" tIns="0" rIns="0" bIns="0" anchor="t">
            <a:noAutofit/>
          </a:bodyPr>
          <a:lstStyle>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a:pPr>
              <a:defRPr sz="2025" b="1">
                <a:solidFill>
                  <a:srgbClr val="16324F"/>
                </a:solidFill>
                <a:latin typeface="Arial"/>
                <a:ea typeface="Arial"/>
                <a:cs typeface="Arial"/>
              </a:defRPr>
            </a:pPr>
            <a:r>
              <a:rPr sz="2025" b="1">
                <a:solidFill>
                  <a:srgbClr val="16324F"/>
                </a:solidFill>
                <a:latin typeface="Arial"/>
                <a:ea typeface="Arial"/>
                <a:cs typeface="Arial"/>
              </a:rPr>
              <a:t>June target: $12,330 revenue from 23,122 passing visits.</a:t>
            </a:r>
          </a:p>
        </p:txBody>
      </p:sp>
    </p:spTree>
    <p:extLst>
      <p:ext uri="{BB962C8B-B14F-4D97-AF65-F5344CB8AC3E}">
        <p14:creationId xmlns:p14="http://schemas.microsoft.com/office/powerpoint/2010/main" val="58255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665CEF-27A6-417E-924B-748F0E07F05E}"/>
              </a:ext>
            </a:extLst>
          </p:cNvPr>
          <p:cNvSpPr>
            <a:spLocks noGrp="1"/>
          </p:cNvSpPr>
          <p:nvPr/>
        </p:nvSpPr>
        <p:spPr>
          <a:xfrm>
            <a:off x="685800" y="457200"/>
            <a:ext cx="10820400" cy="666750"/>
          </a:xfrm>
          <a:prstGeom prst="rect">
            <a:avLst/>
          </a:prstGeom>
          <a:noFill/>
          <a:ln w="0">
            <a:noFill/>
          </a:ln>
        </p:spPr>
        <p:txBody>
          <a:bodyPr wrap="square" lIns="0" tIns="0" rIns="0" bIns="0" anchor="t">
            <a:noAutofit/>
          </a:bodyPr>
          <a:lstStyle>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a:pPr>
              <a:defRPr sz="3150" b="1">
                <a:solidFill>
                  <a:srgbClr val="16324F"/>
                </a:solidFill>
                <a:latin typeface="Arial"/>
                <a:ea typeface="Arial"/>
                <a:cs typeface="Arial"/>
              </a:defRPr>
            </a:pPr>
            <a:r>
              <a:rPr sz="3150" b="1">
                <a:solidFill>
                  <a:srgbClr val="16324F"/>
                </a:solidFill>
                <a:latin typeface="Arial"/>
                <a:ea typeface="Arial"/>
                <a:cs typeface="Arial"/>
              </a:rPr>
              <a:t>First-month marketing plan</a:t>
            </a:r>
          </a:p>
        </p:txBody>
      </p:sp>
      <p:sp>
        <p:nvSpPr>
          <p:cNvPr id="2" name="Rectangle 1">
            <a:extLst>
              <a:ext uri="{FF2B5EF4-FFF2-40B4-BE49-F238E27FC236}">
                <a16:creationId xmlns:a16="http://schemas.microsoft.com/office/drawing/2014/main" id="{5CF8C557-A692-43AB-AB9C-CBFF077310D9}"/>
              </a:ext>
            </a:extLst>
          </p:cNvPr>
          <p:cNvSpPr>
            <a:spLocks noGrp="1"/>
          </p:cNvSpPr>
          <p:nvPr/>
        </p:nvSpPr>
        <p:spPr>
          <a:xfrm>
            <a:off x="685800" y="1390650"/>
            <a:ext cx="10820400" cy="381000"/>
          </a:xfrm>
          <a:prstGeom prst="rect">
            <a:avLst/>
          </a:prstGeom>
          <a:noFill/>
          <a:ln w="0">
            <a:noFill/>
          </a:ln>
        </p:spPr>
        <p:txBody>
          <a:bodyPr wrap="square" lIns="0" tIns="0" rIns="0" bIns="0" anchor="t">
            <a:noAutofit/>
          </a:bodyPr>
          <a:lstStyle>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a:pPr>
              <a:defRPr sz="2025" b="1">
                <a:solidFill>
                  <a:srgbClr val="16324F"/>
                </a:solidFill>
                <a:latin typeface="Arial"/>
                <a:ea typeface="Arial"/>
                <a:cs typeface="Arial"/>
              </a:defRPr>
            </a:pPr>
            <a:r>
              <a:rPr sz="2025" b="1">
                <a:solidFill>
                  <a:srgbClr val="16324F"/>
                </a:solidFill>
                <a:latin typeface="Arial"/>
                <a:ea typeface="Arial"/>
                <a:cs typeface="Arial"/>
              </a:rPr>
              <a:t>1. Launch Campaign: Referral Discounts &amp; Giveaways</a:t>
            </a:r>
          </a:p>
        </p:txBody>
      </p:sp>
      <p:sp>
        <p:nvSpPr>
          <p:cNvPr id="3" name="Rectangle 2">
            <a:extLst>
              <a:ext uri="{FF2B5EF4-FFF2-40B4-BE49-F238E27FC236}">
                <a16:creationId xmlns:a16="http://schemas.microsoft.com/office/drawing/2014/main" id="{240FDA44-4D5E-4F38-8598-9B193DDD1994}"/>
              </a:ext>
            </a:extLst>
          </p:cNvPr>
          <p:cNvSpPr>
            <a:spLocks noGrp="1"/>
          </p:cNvSpPr>
          <p:nvPr/>
        </p:nvSpPr>
        <p:spPr>
          <a:xfrm>
            <a:off x="685800" y="1809750"/>
            <a:ext cx="10820400" cy="1028700"/>
          </a:xfrm>
          <a:prstGeom prst="rect">
            <a:avLst/>
          </a:prstGeom>
          <a:noFill/>
          <a:ln w="0">
            <a:noFill/>
          </a:ln>
        </p:spPr>
        <p:txBody>
          <a:bodyPr wrap="square" lIns="0" tIns="0" rIns="0" bIns="0" anchor="t">
            <a:noAutofit/>
          </a:bodyPr>
          <a:lstStyle>
            <a:defPPr>
              <a:defRPr sz="1800" b="0">
                <a:solidFill>
                  <a:srgbClr val="526477"/>
                </a:solidFill>
                <a:latin typeface="Arial"/>
                <a:ea typeface="Arial"/>
                <a:cs typeface="Arial"/>
              </a:defRPr>
            </a:defPPr>
            <a:lvl1pPr>
              <a:defRPr sz="1800" b="0">
                <a:solidFill>
                  <a:srgbClr val="526477"/>
                </a:solidFill>
                <a:latin typeface="Arial"/>
                <a:ea typeface="Arial"/>
                <a:cs typeface="Arial"/>
              </a:defRPr>
            </a:lvl1pPr>
            <a:lvl2pPr>
              <a:defRPr sz="1800" b="0">
                <a:solidFill>
                  <a:srgbClr val="526477"/>
                </a:solidFill>
                <a:latin typeface="Arial"/>
                <a:ea typeface="Arial"/>
                <a:cs typeface="Arial"/>
              </a:defRPr>
            </a:lvl2pPr>
            <a:lvl3pPr>
              <a:defRPr sz="1800" b="0">
                <a:solidFill>
                  <a:srgbClr val="526477"/>
                </a:solidFill>
                <a:latin typeface="Arial"/>
                <a:ea typeface="Arial"/>
                <a:cs typeface="Arial"/>
              </a:defRPr>
            </a:lvl3pPr>
            <a:lvl4pPr>
              <a:defRPr sz="1800" b="0">
                <a:solidFill>
                  <a:srgbClr val="526477"/>
                </a:solidFill>
                <a:latin typeface="Arial"/>
                <a:ea typeface="Arial"/>
                <a:cs typeface="Arial"/>
              </a:defRPr>
            </a:lvl4pPr>
            <a:lvl5pPr>
              <a:defRPr sz="1800" b="0">
                <a:solidFill>
                  <a:srgbClr val="526477"/>
                </a:solidFill>
                <a:latin typeface="Arial"/>
                <a:ea typeface="Arial"/>
                <a:cs typeface="Arial"/>
              </a:defRPr>
            </a:lvl5pPr>
            <a:lvl6pPr>
              <a:defRPr sz="1800" b="0">
                <a:solidFill>
                  <a:srgbClr val="526477"/>
                </a:solidFill>
                <a:latin typeface="Arial"/>
                <a:ea typeface="Arial"/>
                <a:cs typeface="Arial"/>
              </a:defRPr>
            </a:lvl6pPr>
            <a:lvl7pPr>
              <a:defRPr sz="1800" b="0">
                <a:solidFill>
                  <a:srgbClr val="526477"/>
                </a:solidFill>
                <a:latin typeface="Arial"/>
                <a:ea typeface="Arial"/>
                <a:cs typeface="Arial"/>
              </a:defRPr>
            </a:lvl7pPr>
            <a:lvl8pPr>
              <a:defRPr sz="1800" b="0">
                <a:solidFill>
                  <a:srgbClr val="526477"/>
                </a:solidFill>
                <a:latin typeface="Arial"/>
                <a:ea typeface="Arial"/>
                <a:cs typeface="Arial"/>
              </a:defRPr>
            </a:lvl8pPr>
            <a:lvl9pPr>
              <a:defRPr sz="1800" b="0">
                <a:solidFill>
                  <a:srgbClr val="526477"/>
                </a:solidFill>
                <a:latin typeface="Arial"/>
                <a:ea typeface="Arial"/>
                <a:cs typeface="Arial"/>
              </a:defRPr>
            </a:lvl9pPr>
          </a:lstStyle>
          <a:p>
            <a:pPr>
              <a:defRPr sz="1800" b="0">
                <a:solidFill>
                  <a:srgbClr val="526477"/>
                </a:solidFill>
                <a:latin typeface="Arial"/>
                <a:ea typeface="Arial"/>
                <a:cs typeface="Arial"/>
              </a:defRPr>
            </a:pPr>
            <a:r>
              <a:rPr sz="1800" b="0">
                <a:solidFill>
                  <a:srgbClr val="526477"/>
                </a:solidFill>
                <a:latin typeface="Arial"/>
                <a:ea typeface="Arial"/>
                <a:cs typeface="Arial"/>
              </a:rPr>
              <a:t>Launch the pop-up with a promotional contest and a referral-based discount. Customers who make a purchase receive a 20% discount coupon to give to a friend or use on their next visit, encouraging word-of-mouth marketing, repeat purchases, and new customer acquisition.</a:t>
            </a:r>
          </a:p>
        </p:txBody>
      </p:sp>
      <p:sp>
        <p:nvSpPr>
          <p:cNvPr id="4" name="Rectangle 3">
            <a:extLst>
              <a:ext uri="{FF2B5EF4-FFF2-40B4-BE49-F238E27FC236}">
                <a16:creationId xmlns:a16="http://schemas.microsoft.com/office/drawing/2014/main" id="{33805A48-DED3-4BFC-9933-75BB4E871152}"/>
              </a:ext>
            </a:extLst>
          </p:cNvPr>
          <p:cNvSpPr>
            <a:spLocks noGrp="1"/>
          </p:cNvSpPr>
          <p:nvPr/>
        </p:nvSpPr>
        <p:spPr>
          <a:xfrm>
            <a:off x="685800" y="2962275"/>
            <a:ext cx="10820400" cy="381000"/>
          </a:xfrm>
          <a:prstGeom prst="rect">
            <a:avLst/>
          </a:prstGeom>
          <a:noFill/>
          <a:ln w="0">
            <a:noFill/>
          </a:ln>
        </p:spPr>
        <p:txBody>
          <a:bodyPr wrap="square" lIns="0" tIns="0" rIns="0" bIns="0" anchor="t">
            <a:noAutofit/>
          </a:bodyPr>
          <a:lstStyle>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a:pPr>
              <a:defRPr sz="2025" b="1">
                <a:solidFill>
                  <a:srgbClr val="16324F"/>
                </a:solidFill>
                <a:latin typeface="Arial"/>
                <a:ea typeface="Arial"/>
                <a:cs typeface="Arial"/>
              </a:defRPr>
            </a:pPr>
            <a:r>
              <a:rPr sz="2025" b="1">
                <a:solidFill>
                  <a:srgbClr val="16324F"/>
                </a:solidFill>
                <a:latin typeface="Arial"/>
                <a:ea typeface="Arial"/>
                <a:cs typeface="Arial"/>
              </a:rPr>
              <a:t>2. High-Impact, Minimalist Outdoor Advertising</a:t>
            </a:r>
          </a:p>
        </p:txBody>
      </p:sp>
      <p:sp>
        <p:nvSpPr>
          <p:cNvPr id="5" name="Rectangle 4">
            <a:extLst>
              <a:ext uri="{FF2B5EF4-FFF2-40B4-BE49-F238E27FC236}">
                <a16:creationId xmlns:a16="http://schemas.microsoft.com/office/drawing/2014/main" id="{3C7B6DCF-9AED-4772-BCA3-83BC087904DC}"/>
              </a:ext>
            </a:extLst>
          </p:cNvPr>
          <p:cNvSpPr>
            <a:spLocks noGrp="1"/>
          </p:cNvSpPr>
          <p:nvPr/>
        </p:nvSpPr>
        <p:spPr>
          <a:xfrm>
            <a:off x="685800" y="3381375"/>
            <a:ext cx="10820400" cy="1028700"/>
          </a:xfrm>
          <a:prstGeom prst="rect">
            <a:avLst/>
          </a:prstGeom>
          <a:noFill/>
          <a:ln w="0">
            <a:noFill/>
          </a:ln>
        </p:spPr>
        <p:txBody>
          <a:bodyPr wrap="square" lIns="0" tIns="0" rIns="0" bIns="0" anchor="t">
            <a:noAutofit/>
          </a:bodyPr>
          <a:lstStyle>
            <a:defPPr>
              <a:defRPr sz="1800" b="0">
                <a:solidFill>
                  <a:srgbClr val="526477"/>
                </a:solidFill>
                <a:latin typeface="Arial"/>
                <a:ea typeface="Arial"/>
                <a:cs typeface="Arial"/>
              </a:defRPr>
            </a:defPPr>
            <a:lvl1pPr>
              <a:defRPr sz="1800" b="0">
                <a:solidFill>
                  <a:srgbClr val="526477"/>
                </a:solidFill>
                <a:latin typeface="Arial"/>
                <a:ea typeface="Arial"/>
                <a:cs typeface="Arial"/>
              </a:defRPr>
            </a:lvl1pPr>
            <a:lvl2pPr>
              <a:defRPr sz="1800" b="0">
                <a:solidFill>
                  <a:srgbClr val="526477"/>
                </a:solidFill>
                <a:latin typeface="Arial"/>
                <a:ea typeface="Arial"/>
                <a:cs typeface="Arial"/>
              </a:defRPr>
            </a:lvl2pPr>
            <a:lvl3pPr>
              <a:defRPr sz="1800" b="0">
                <a:solidFill>
                  <a:srgbClr val="526477"/>
                </a:solidFill>
                <a:latin typeface="Arial"/>
                <a:ea typeface="Arial"/>
                <a:cs typeface="Arial"/>
              </a:defRPr>
            </a:lvl3pPr>
            <a:lvl4pPr>
              <a:defRPr sz="1800" b="0">
                <a:solidFill>
                  <a:srgbClr val="526477"/>
                </a:solidFill>
                <a:latin typeface="Arial"/>
                <a:ea typeface="Arial"/>
                <a:cs typeface="Arial"/>
              </a:defRPr>
            </a:lvl4pPr>
            <a:lvl5pPr>
              <a:defRPr sz="1800" b="0">
                <a:solidFill>
                  <a:srgbClr val="526477"/>
                </a:solidFill>
                <a:latin typeface="Arial"/>
                <a:ea typeface="Arial"/>
                <a:cs typeface="Arial"/>
              </a:defRPr>
            </a:lvl5pPr>
            <a:lvl6pPr>
              <a:defRPr sz="1800" b="0">
                <a:solidFill>
                  <a:srgbClr val="526477"/>
                </a:solidFill>
                <a:latin typeface="Arial"/>
                <a:ea typeface="Arial"/>
                <a:cs typeface="Arial"/>
              </a:defRPr>
            </a:lvl6pPr>
            <a:lvl7pPr>
              <a:defRPr sz="1800" b="0">
                <a:solidFill>
                  <a:srgbClr val="526477"/>
                </a:solidFill>
                <a:latin typeface="Arial"/>
                <a:ea typeface="Arial"/>
                <a:cs typeface="Arial"/>
              </a:defRPr>
            </a:lvl7pPr>
            <a:lvl8pPr>
              <a:defRPr sz="1800" b="0">
                <a:solidFill>
                  <a:srgbClr val="526477"/>
                </a:solidFill>
                <a:latin typeface="Arial"/>
                <a:ea typeface="Arial"/>
                <a:cs typeface="Arial"/>
              </a:defRPr>
            </a:lvl8pPr>
            <a:lvl9pPr>
              <a:defRPr sz="1800" b="0">
                <a:solidFill>
                  <a:srgbClr val="526477"/>
                </a:solidFill>
                <a:latin typeface="Arial"/>
                <a:ea typeface="Arial"/>
                <a:cs typeface="Arial"/>
              </a:defRPr>
            </a:lvl9pPr>
          </a:lstStyle>
          <a:p>
            <a:pPr>
              <a:defRPr sz="1800" b="0">
                <a:solidFill>
                  <a:srgbClr val="526477"/>
                </a:solidFill>
                <a:latin typeface="Arial"/>
                <a:ea typeface="Arial"/>
                <a:cs typeface="Arial"/>
              </a:defRPr>
            </a:pPr>
            <a:r>
              <a:rPr sz="1800" b="0">
                <a:solidFill>
                  <a:srgbClr val="526477"/>
                </a:solidFill>
                <a:latin typeface="Arial"/>
                <a:ea typeface="Arial"/>
                <a:cs typeface="Arial"/>
              </a:rPr>
              <a:t>Place eye-catching, minimalist posters in strategic, high-traffic locations around town, such as major entry and exit routes, near high schools and universities, and in business districts. The goal is to create curiosity and build awareness before customers encounter the pop-up.</a:t>
            </a:r>
          </a:p>
        </p:txBody>
      </p:sp>
      <p:sp>
        <p:nvSpPr>
          <p:cNvPr id="6" name="Rectangle 5">
            <a:extLst>
              <a:ext uri="{FF2B5EF4-FFF2-40B4-BE49-F238E27FC236}">
                <a16:creationId xmlns:a16="http://schemas.microsoft.com/office/drawing/2014/main" id="{B7A9490E-0D1B-499D-86C0-3F337A1352B7}"/>
              </a:ext>
            </a:extLst>
          </p:cNvPr>
          <p:cNvSpPr>
            <a:spLocks noGrp="1"/>
          </p:cNvSpPr>
          <p:nvPr/>
        </p:nvSpPr>
        <p:spPr>
          <a:xfrm>
            <a:off x="685800" y="4533900"/>
            <a:ext cx="10820400" cy="381000"/>
          </a:xfrm>
          <a:prstGeom prst="rect">
            <a:avLst/>
          </a:prstGeom>
          <a:noFill/>
          <a:ln w="0">
            <a:noFill/>
          </a:ln>
        </p:spPr>
        <p:txBody>
          <a:bodyPr wrap="square" lIns="0" tIns="0" rIns="0" bIns="0" anchor="t">
            <a:noAutofit/>
          </a:bodyPr>
          <a:lstStyle>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a:pPr>
              <a:defRPr sz="2025" b="1">
                <a:solidFill>
                  <a:srgbClr val="16324F"/>
                </a:solidFill>
                <a:latin typeface="Arial"/>
                <a:ea typeface="Arial"/>
                <a:cs typeface="Arial"/>
              </a:defRPr>
            </a:pPr>
            <a:r>
              <a:rPr sz="2025" b="1">
                <a:solidFill>
                  <a:srgbClr val="16324F"/>
                </a:solidFill>
                <a:latin typeface="Arial"/>
                <a:ea typeface="Arial"/>
                <a:cs typeface="Arial"/>
              </a:rPr>
              <a:t>3. Viral Social Media Marketing</a:t>
            </a:r>
          </a:p>
        </p:txBody>
      </p:sp>
      <p:sp>
        <p:nvSpPr>
          <p:cNvPr id="7" name="Rectangle 6">
            <a:extLst>
              <a:ext uri="{FF2B5EF4-FFF2-40B4-BE49-F238E27FC236}">
                <a16:creationId xmlns:a16="http://schemas.microsoft.com/office/drawing/2014/main" id="{5488AD10-E2E9-4A3B-847A-AB257A13F21B}"/>
              </a:ext>
            </a:extLst>
          </p:cNvPr>
          <p:cNvSpPr>
            <a:spLocks noGrp="1"/>
          </p:cNvSpPr>
          <p:nvPr/>
        </p:nvSpPr>
        <p:spPr>
          <a:xfrm>
            <a:off x="685800" y="4953000"/>
            <a:ext cx="10820400" cy="1028700"/>
          </a:xfrm>
          <a:prstGeom prst="rect">
            <a:avLst/>
          </a:prstGeom>
          <a:noFill/>
          <a:ln w="0">
            <a:noFill/>
          </a:ln>
        </p:spPr>
        <p:txBody>
          <a:bodyPr wrap="square" lIns="0" tIns="0" rIns="0" bIns="0" anchor="t">
            <a:noAutofit/>
          </a:bodyPr>
          <a:lstStyle>
            <a:defPPr>
              <a:defRPr sz="1800" b="0">
                <a:solidFill>
                  <a:srgbClr val="526477"/>
                </a:solidFill>
                <a:latin typeface="Arial"/>
                <a:ea typeface="Arial"/>
                <a:cs typeface="Arial"/>
              </a:defRPr>
            </a:defPPr>
            <a:lvl1pPr>
              <a:defRPr sz="1800" b="0">
                <a:solidFill>
                  <a:srgbClr val="526477"/>
                </a:solidFill>
                <a:latin typeface="Arial"/>
                <a:ea typeface="Arial"/>
                <a:cs typeface="Arial"/>
              </a:defRPr>
            </a:lvl1pPr>
            <a:lvl2pPr>
              <a:defRPr sz="1800" b="0">
                <a:solidFill>
                  <a:srgbClr val="526477"/>
                </a:solidFill>
                <a:latin typeface="Arial"/>
                <a:ea typeface="Arial"/>
                <a:cs typeface="Arial"/>
              </a:defRPr>
            </a:lvl2pPr>
            <a:lvl3pPr>
              <a:defRPr sz="1800" b="0">
                <a:solidFill>
                  <a:srgbClr val="526477"/>
                </a:solidFill>
                <a:latin typeface="Arial"/>
                <a:ea typeface="Arial"/>
                <a:cs typeface="Arial"/>
              </a:defRPr>
            </a:lvl3pPr>
            <a:lvl4pPr>
              <a:defRPr sz="1800" b="0">
                <a:solidFill>
                  <a:srgbClr val="526477"/>
                </a:solidFill>
                <a:latin typeface="Arial"/>
                <a:ea typeface="Arial"/>
                <a:cs typeface="Arial"/>
              </a:defRPr>
            </a:lvl4pPr>
            <a:lvl5pPr>
              <a:defRPr sz="1800" b="0">
                <a:solidFill>
                  <a:srgbClr val="526477"/>
                </a:solidFill>
                <a:latin typeface="Arial"/>
                <a:ea typeface="Arial"/>
                <a:cs typeface="Arial"/>
              </a:defRPr>
            </a:lvl5pPr>
            <a:lvl6pPr>
              <a:defRPr sz="1800" b="0">
                <a:solidFill>
                  <a:srgbClr val="526477"/>
                </a:solidFill>
                <a:latin typeface="Arial"/>
                <a:ea typeface="Arial"/>
                <a:cs typeface="Arial"/>
              </a:defRPr>
            </a:lvl6pPr>
            <a:lvl7pPr>
              <a:defRPr sz="1800" b="0">
                <a:solidFill>
                  <a:srgbClr val="526477"/>
                </a:solidFill>
                <a:latin typeface="Arial"/>
                <a:ea typeface="Arial"/>
                <a:cs typeface="Arial"/>
              </a:defRPr>
            </a:lvl7pPr>
            <a:lvl8pPr>
              <a:defRPr sz="1800" b="0">
                <a:solidFill>
                  <a:srgbClr val="526477"/>
                </a:solidFill>
                <a:latin typeface="Arial"/>
                <a:ea typeface="Arial"/>
                <a:cs typeface="Arial"/>
              </a:defRPr>
            </a:lvl8pPr>
            <a:lvl9pPr>
              <a:defRPr sz="1800" b="0">
                <a:solidFill>
                  <a:srgbClr val="526477"/>
                </a:solidFill>
                <a:latin typeface="Arial"/>
                <a:ea typeface="Arial"/>
                <a:cs typeface="Arial"/>
              </a:defRPr>
            </a:lvl9pPr>
          </a:lstStyle>
          <a:p>
            <a:pPr>
              <a:defRPr sz="1800" b="0">
                <a:solidFill>
                  <a:srgbClr val="526477"/>
                </a:solidFill>
                <a:latin typeface="Arial"/>
                <a:ea typeface="Arial"/>
                <a:cs typeface="Arial"/>
              </a:defRPr>
            </a:pPr>
            <a:r>
              <a:rPr sz="1800" b="0">
                <a:solidFill>
                  <a:srgbClr val="526477"/>
                </a:solidFill>
                <a:latin typeface="Arial"/>
                <a:ea typeface="Arial"/>
                <a:cs typeface="Arial"/>
              </a:rPr>
              <a:t>Create humorous, relatable, and highly shareable social media content designed to generate organic reach. Integrate the product or brand naturally into entertaining videos and posts, making the promotion feel like part of the content rather than a traditional advertisement.</a:t>
            </a:r>
          </a:p>
        </p:txBody>
      </p:sp>
      <p:sp>
        <p:nvSpPr>
          <p:cNvPr id="8" name="Rectangle 7">
            <a:extLst>
              <a:ext uri="{FF2B5EF4-FFF2-40B4-BE49-F238E27FC236}">
                <a16:creationId xmlns:a16="http://schemas.microsoft.com/office/drawing/2014/main" id="{4146B2CA-B2A5-419C-9023-54DC8543B78A}"/>
              </a:ext>
            </a:extLst>
          </p:cNvPr>
          <p:cNvSpPr>
            <a:spLocks noGrp="1"/>
          </p:cNvSpPr>
          <p:nvPr/>
        </p:nvSpPr>
        <p:spPr>
          <a:xfrm>
            <a:off x="685800" y="6191250"/>
            <a:ext cx="10287000" cy="400050"/>
          </a:xfrm>
          <a:prstGeom prst="rect">
            <a:avLst/>
          </a:prstGeom>
          <a:noFill/>
          <a:ln w="0">
            <a:noFill/>
          </a:ln>
        </p:spPr>
        <p:txBody>
          <a:bodyPr wrap="square" lIns="0" tIns="0" rIns="0" bIns="0" anchor="t">
            <a:noAutofit/>
          </a:bodyPr>
          <a:lstStyle>
            <a:defPPr>
              <a:defRPr sz="1350" b="0">
                <a:solidFill>
                  <a:srgbClr val="B45309"/>
                </a:solidFill>
                <a:latin typeface="Arial"/>
                <a:ea typeface="Arial"/>
                <a:cs typeface="Arial"/>
              </a:defRPr>
            </a:defPPr>
            <a:lvl1pPr>
              <a:defRPr sz="1350" b="0">
                <a:solidFill>
                  <a:srgbClr val="B45309"/>
                </a:solidFill>
                <a:latin typeface="Arial"/>
                <a:ea typeface="Arial"/>
                <a:cs typeface="Arial"/>
              </a:defRPr>
            </a:lvl1pPr>
            <a:lvl2pPr>
              <a:defRPr sz="1350" b="0">
                <a:solidFill>
                  <a:srgbClr val="B45309"/>
                </a:solidFill>
                <a:latin typeface="Arial"/>
                <a:ea typeface="Arial"/>
                <a:cs typeface="Arial"/>
              </a:defRPr>
            </a:lvl2pPr>
            <a:lvl3pPr>
              <a:defRPr sz="1350" b="0">
                <a:solidFill>
                  <a:srgbClr val="B45309"/>
                </a:solidFill>
                <a:latin typeface="Arial"/>
                <a:ea typeface="Arial"/>
                <a:cs typeface="Arial"/>
              </a:defRPr>
            </a:lvl3pPr>
            <a:lvl4pPr>
              <a:defRPr sz="1350" b="0">
                <a:solidFill>
                  <a:srgbClr val="B45309"/>
                </a:solidFill>
                <a:latin typeface="Arial"/>
                <a:ea typeface="Arial"/>
                <a:cs typeface="Arial"/>
              </a:defRPr>
            </a:lvl4pPr>
            <a:lvl5pPr>
              <a:defRPr sz="1350" b="0">
                <a:solidFill>
                  <a:srgbClr val="B45309"/>
                </a:solidFill>
                <a:latin typeface="Arial"/>
                <a:ea typeface="Arial"/>
                <a:cs typeface="Arial"/>
              </a:defRPr>
            </a:lvl5pPr>
            <a:lvl6pPr>
              <a:defRPr sz="1350" b="0">
                <a:solidFill>
                  <a:srgbClr val="B45309"/>
                </a:solidFill>
                <a:latin typeface="Arial"/>
                <a:ea typeface="Arial"/>
                <a:cs typeface="Arial"/>
              </a:defRPr>
            </a:lvl6pPr>
            <a:lvl7pPr>
              <a:defRPr sz="1350" b="0">
                <a:solidFill>
                  <a:srgbClr val="B45309"/>
                </a:solidFill>
                <a:latin typeface="Arial"/>
                <a:ea typeface="Arial"/>
                <a:cs typeface="Arial"/>
              </a:defRPr>
            </a:lvl7pPr>
            <a:lvl8pPr>
              <a:defRPr sz="1350" b="0">
                <a:solidFill>
                  <a:srgbClr val="B45309"/>
                </a:solidFill>
                <a:latin typeface="Arial"/>
                <a:ea typeface="Arial"/>
                <a:cs typeface="Arial"/>
              </a:defRPr>
            </a:lvl8pPr>
            <a:lvl9pPr>
              <a:defRPr sz="1350" b="0">
                <a:solidFill>
                  <a:srgbClr val="B45309"/>
                </a:solidFill>
                <a:latin typeface="Arial"/>
                <a:ea typeface="Arial"/>
                <a:cs typeface="Arial"/>
              </a:defRPr>
            </a:lvl9pPr>
          </a:lstStyle>
          <a:p>
            <a:pPr>
              <a:defRPr sz="1350" b="0">
                <a:solidFill>
                  <a:srgbClr val="B45309"/>
                </a:solidFill>
                <a:latin typeface="Arial"/>
                <a:ea typeface="Arial"/>
                <a:cs typeface="Arial"/>
              </a:defRPr>
            </a:pPr>
            <a:r>
              <a:rPr sz="1350" b="0">
                <a:solidFill>
                  <a:srgbClr val="B45309"/>
                </a:solidFill>
                <a:latin typeface="Arial"/>
                <a:ea typeface="Arial"/>
                <a:cs typeface="Arial"/>
              </a:rPr>
              <a:t>Campaign proposal. Discounts, giveaways and poster costs require a revised financial forecast.</a:t>
            </a:r>
          </a:p>
        </p:txBody>
      </p:sp>
      <p:sp>
        <p:nvSpPr>
          <p:cNvPr id="9" name="Rectangle 8">
            <a:extLst>
              <a:ext uri="{FF2B5EF4-FFF2-40B4-BE49-F238E27FC236}">
                <a16:creationId xmlns:a16="http://schemas.microsoft.com/office/drawing/2014/main" id="{E3477B8B-590D-49FC-87F1-A2C6920DD9E6}"/>
              </a:ext>
            </a:extLst>
          </p:cNvPr>
          <p:cNvSpPr>
            <a:spLocks noGrp="1"/>
          </p:cNvSpPr>
          <p:nvPr/>
        </p:nvSpPr>
        <p:spPr>
          <a:xfrm>
            <a:off x="11144250" y="6381750"/>
            <a:ext cx="381000" cy="228600"/>
          </a:xfrm>
          <a:prstGeom prst="rect">
            <a:avLst/>
          </a:prstGeom>
          <a:noFill/>
          <a:ln w="0">
            <a:noFill/>
          </a:ln>
        </p:spPr>
        <p:txBody>
          <a:bodyPr wrap="square" lIns="0" tIns="0" rIns="0" bIns="0" anchor="t">
            <a:noAutofit/>
          </a:bodyPr>
          <a:lstStyle>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a:pPr>
              <a:defRPr sz="1200" b="0">
                <a:solidFill>
                  <a:srgbClr val="526477"/>
                </a:solidFill>
                <a:latin typeface="Arial"/>
                <a:ea typeface="Arial"/>
                <a:cs typeface="Arial"/>
              </a:defRPr>
            </a:pPr>
            <a:r>
              <a:rPr sz="1200" b="0">
                <a:solidFill>
                  <a:srgbClr val="526477"/>
                </a:solidFill>
                <a:latin typeface="Arial"/>
                <a:ea typeface="Arial"/>
                <a:cs typeface="Arial"/>
              </a:rPr>
              <a:t>7</a:t>
            </a:r>
          </a:p>
        </p:txBody>
      </p:sp>
    </p:spTree>
    <p:extLst>
      <p:ext uri="{BB962C8B-B14F-4D97-AF65-F5344CB8AC3E}">
        <p14:creationId xmlns:p14="http://schemas.microsoft.com/office/powerpoint/2010/main" val="16663359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1708</Words>
  <Application>Microsoft Office PowerPoint</Application>
  <DocSecurity>0</DocSecurity>
  <PresentationFormat>Widescreen</PresentationFormat>
  <Paragraphs>91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Nicolas Delfau</cp:lastModifiedBy>
  <cp:revision>1</cp:revision>
  <dcterms:created xsi:type="dcterms:W3CDTF">2026-10-22T23:39:47Z</dcterms:created>
  <dcterms:modified xsi:type="dcterms:W3CDTF">2026-10-23T00:07:55Z</dcterms:modified>
</cp:coreProperties>
</file>